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18"/>
    </p:embeddedFont>
    <p:embeddedFont>
      <p:font typeface="Calibri (MS)" charset="1" panose="020F0502020204030204"/>
      <p:regular r:id="rId19"/>
    </p:embeddedFont>
    <p:embeddedFont>
      <p:font typeface="Calibri (MS) Bold" charset="1" panose="020F0702030404030204"/>
      <p:regular r:id="rId20"/>
    </p:embeddedFont>
    <p:embeddedFont>
      <p:font typeface="Calibri (MS) Italics" charset="1" panose="020F05020202040A0204"/>
      <p:regular r:id="rId21"/>
    </p:embeddedFont>
    <p:embeddedFont>
      <p:font typeface="Arial Italics" charset="1" panose="020B060402020209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10140696"/>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FF5757"/>
            </a:solidFill>
          </p:spPr>
        </p:sp>
      </p:grpSp>
      <p:grpSp>
        <p:nvGrpSpPr>
          <p:cNvPr name="Group 4" id="4"/>
          <p:cNvGrpSpPr/>
          <p:nvPr/>
        </p:nvGrpSpPr>
        <p:grpSpPr>
          <a:xfrm rot="0">
            <a:off x="15544800" y="0"/>
            <a:ext cx="2743200" cy="2743200"/>
            <a:chOff x="0" y="0"/>
            <a:chExt cx="3657600" cy="3657600"/>
          </a:xfrm>
        </p:grpSpPr>
        <p:sp>
          <p:nvSpPr>
            <p:cNvPr name="Freeform 5" id="5"/>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solidFill>
              <a:srgbClr val="000000"/>
            </a:solidFill>
          </p:spPr>
        </p:sp>
      </p:grpSp>
      <p:grpSp>
        <p:nvGrpSpPr>
          <p:cNvPr name="Group 6" id="6"/>
          <p:cNvGrpSpPr/>
          <p:nvPr/>
        </p:nvGrpSpPr>
        <p:grpSpPr>
          <a:xfrm rot="0">
            <a:off x="0" y="3520440"/>
            <a:ext cx="4116600" cy="6766560"/>
            <a:chOff x="0" y="0"/>
            <a:chExt cx="5488800" cy="9022080"/>
          </a:xfrm>
        </p:grpSpPr>
        <p:sp>
          <p:nvSpPr>
            <p:cNvPr name="Freeform 7" id="7" descr="books_left.png"/>
            <p:cNvSpPr/>
            <p:nvPr/>
          </p:nvSpPr>
          <p:spPr>
            <a:xfrm flipH="false" flipV="false" rot="0">
              <a:off x="0" y="0"/>
              <a:ext cx="5488813" cy="9022080"/>
            </a:xfrm>
            <a:custGeom>
              <a:avLst/>
              <a:gdLst/>
              <a:ahLst/>
              <a:cxnLst/>
              <a:rect r="r" b="b" t="t" l="l"/>
              <a:pathLst>
                <a:path h="9022080" w="5488813">
                  <a:moveTo>
                    <a:pt x="0" y="0"/>
                  </a:moveTo>
                  <a:lnTo>
                    <a:pt x="5488813" y="0"/>
                  </a:lnTo>
                  <a:lnTo>
                    <a:pt x="5488813" y="9022080"/>
                  </a:lnTo>
                  <a:lnTo>
                    <a:pt x="0" y="9022080"/>
                  </a:lnTo>
                  <a:lnTo>
                    <a:pt x="0" y="0"/>
                  </a:lnTo>
                  <a:close/>
                </a:path>
              </a:pathLst>
            </a:custGeom>
            <a:blipFill>
              <a:blip r:embed="rId2"/>
              <a:stretch>
                <a:fillRect l="0" t="0" r="0" b="0"/>
              </a:stretch>
            </a:blipFill>
          </p:spPr>
        </p:sp>
      </p:grpSp>
      <p:grpSp>
        <p:nvGrpSpPr>
          <p:cNvPr name="Group 8" id="8"/>
          <p:cNvGrpSpPr/>
          <p:nvPr/>
        </p:nvGrpSpPr>
        <p:grpSpPr>
          <a:xfrm rot="0">
            <a:off x="14254734" y="3520440"/>
            <a:ext cx="4033266" cy="6766560"/>
            <a:chOff x="0" y="0"/>
            <a:chExt cx="5377688" cy="9022080"/>
          </a:xfrm>
        </p:grpSpPr>
        <p:sp>
          <p:nvSpPr>
            <p:cNvPr name="Freeform 9" id="9" descr="books_right.png"/>
            <p:cNvSpPr/>
            <p:nvPr/>
          </p:nvSpPr>
          <p:spPr>
            <a:xfrm flipH="false" flipV="false" rot="0">
              <a:off x="0" y="0"/>
              <a:ext cx="5377688" cy="9022080"/>
            </a:xfrm>
            <a:custGeom>
              <a:avLst/>
              <a:gdLst/>
              <a:ahLst/>
              <a:cxnLst/>
              <a:rect r="r" b="b" t="t" l="l"/>
              <a:pathLst>
                <a:path h="9022080" w="5377688">
                  <a:moveTo>
                    <a:pt x="0" y="0"/>
                  </a:moveTo>
                  <a:lnTo>
                    <a:pt x="5377688" y="0"/>
                  </a:lnTo>
                  <a:lnTo>
                    <a:pt x="5377688" y="9022080"/>
                  </a:lnTo>
                  <a:lnTo>
                    <a:pt x="0" y="9022080"/>
                  </a:lnTo>
                  <a:lnTo>
                    <a:pt x="0" y="0"/>
                  </a:lnTo>
                  <a:close/>
                </a:path>
              </a:pathLst>
            </a:custGeom>
            <a:blipFill>
              <a:blip r:embed="rId3"/>
              <a:stretch>
                <a:fillRect l="0" t="0" r="0" b="0"/>
              </a:stretch>
            </a:blipFill>
          </p:spPr>
        </p:sp>
      </p:grpSp>
      <p:grpSp>
        <p:nvGrpSpPr>
          <p:cNvPr name="Group 10" id="10"/>
          <p:cNvGrpSpPr/>
          <p:nvPr/>
        </p:nvGrpSpPr>
        <p:grpSpPr>
          <a:xfrm rot="0">
            <a:off x="8046720" y="457200"/>
            <a:ext cx="2194560" cy="2194560"/>
            <a:chOff x="0" y="0"/>
            <a:chExt cx="2926080" cy="2926080"/>
          </a:xfrm>
        </p:grpSpPr>
        <p:sp>
          <p:nvSpPr>
            <p:cNvPr name="Freeform 11" id="11" descr="logo.png"/>
            <p:cNvSpPr/>
            <p:nvPr/>
          </p:nvSpPr>
          <p:spPr>
            <a:xfrm flipH="false" flipV="false" rot="0">
              <a:off x="0" y="0"/>
              <a:ext cx="2926080" cy="2926080"/>
            </a:xfrm>
            <a:custGeom>
              <a:avLst/>
              <a:gdLst/>
              <a:ahLst/>
              <a:cxnLst/>
              <a:rect r="r" b="b" t="t" l="l"/>
              <a:pathLst>
                <a:path h="2926080" w="2926080">
                  <a:moveTo>
                    <a:pt x="0" y="0"/>
                  </a:moveTo>
                  <a:lnTo>
                    <a:pt x="2926080" y="0"/>
                  </a:lnTo>
                  <a:lnTo>
                    <a:pt x="2926080" y="2926080"/>
                  </a:lnTo>
                  <a:lnTo>
                    <a:pt x="0" y="2926080"/>
                  </a:lnTo>
                  <a:lnTo>
                    <a:pt x="0" y="0"/>
                  </a:lnTo>
                  <a:close/>
                </a:path>
              </a:pathLst>
            </a:custGeom>
            <a:blipFill>
              <a:blip r:embed="rId4"/>
              <a:stretch>
                <a:fillRect l="0" t="0" r="0" b="0"/>
              </a:stretch>
            </a:blipFill>
          </p:spPr>
        </p:sp>
      </p:grpSp>
      <p:sp>
        <p:nvSpPr>
          <p:cNvPr name="TextBox 12" id="12"/>
          <p:cNvSpPr txBox="true"/>
          <p:nvPr/>
        </p:nvSpPr>
        <p:spPr>
          <a:xfrm rot="0">
            <a:off x="4389120" y="2825115"/>
            <a:ext cx="9509760" cy="558165"/>
          </a:xfrm>
          <a:prstGeom prst="rect">
            <a:avLst/>
          </a:prstGeom>
        </p:spPr>
        <p:txBody>
          <a:bodyPr anchor="t" rtlCol="false" tIns="0" lIns="0" bIns="0" rIns="0">
            <a:spAutoFit/>
          </a:bodyPr>
          <a:lstStyle/>
          <a:p>
            <a:pPr algn="ctr">
              <a:lnSpc>
                <a:spcPts val="2879"/>
              </a:lnSpc>
            </a:pPr>
            <a:r>
              <a:rPr lang="en-US" b="true" sz="2400" spc="400">
                <a:solidFill>
                  <a:srgbClr val="FF5757"/>
                </a:solidFill>
                <a:latin typeface="Arial Bold"/>
                <a:ea typeface="Arial Bold"/>
                <a:cs typeface="Arial Bold"/>
                <a:sym typeface="Arial Bold"/>
              </a:rPr>
              <a:t>MINOR PROJECT PRESENTATION</a:t>
            </a:r>
          </a:p>
        </p:txBody>
      </p:sp>
      <p:grpSp>
        <p:nvGrpSpPr>
          <p:cNvPr name="Group 13" id="13"/>
          <p:cNvGrpSpPr/>
          <p:nvPr/>
        </p:nvGrpSpPr>
        <p:grpSpPr>
          <a:xfrm rot="0">
            <a:off x="4389120" y="3291840"/>
            <a:ext cx="9509760" cy="2194560"/>
            <a:chOff x="0" y="0"/>
            <a:chExt cx="12679680" cy="2926080"/>
          </a:xfrm>
        </p:grpSpPr>
        <p:sp>
          <p:nvSpPr>
            <p:cNvPr name="Freeform 14" id="14"/>
            <p:cNvSpPr/>
            <p:nvPr/>
          </p:nvSpPr>
          <p:spPr>
            <a:xfrm flipH="false" flipV="false" rot="0">
              <a:off x="0" y="0"/>
              <a:ext cx="12679680" cy="2926080"/>
            </a:xfrm>
            <a:custGeom>
              <a:avLst/>
              <a:gdLst/>
              <a:ahLst/>
              <a:cxnLst/>
              <a:rect r="r" b="b" t="t" l="l"/>
              <a:pathLst>
                <a:path h="2926080" w="12679680">
                  <a:moveTo>
                    <a:pt x="0" y="0"/>
                  </a:moveTo>
                  <a:lnTo>
                    <a:pt x="12679680" y="0"/>
                  </a:lnTo>
                  <a:lnTo>
                    <a:pt x="12679680" y="2926080"/>
                  </a:lnTo>
                  <a:lnTo>
                    <a:pt x="0" y="2926080"/>
                  </a:lnTo>
                  <a:close/>
                </a:path>
              </a:pathLst>
            </a:custGeom>
            <a:blipFill>
              <a:blip r:embed="rId5">
                <a:alphaModFix amt="0"/>
              </a:blip>
              <a:stretch>
                <a:fillRect l="0" t="-34435" r="0" b="-34435"/>
              </a:stretch>
            </a:blipFill>
          </p:spPr>
        </p:sp>
        <p:sp>
          <p:nvSpPr>
            <p:cNvPr name="TextBox 15" id="15"/>
            <p:cNvSpPr txBox="true"/>
            <p:nvPr/>
          </p:nvSpPr>
          <p:spPr>
            <a:xfrm>
              <a:off x="0" y="-57150"/>
              <a:ext cx="12679680" cy="2983230"/>
            </a:xfrm>
            <a:prstGeom prst="rect">
              <a:avLst/>
            </a:prstGeom>
          </p:spPr>
          <p:txBody>
            <a:bodyPr anchor="ctr" rtlCol="false" tIns="0" lIns="0" bIns="0" rIns="0"/>
            <a:lstStyle/>
            <a:p>
              <a:pPr algn="ctr">
                <a:lnSpc>
                  <a:spcPts val="19199"/>
                </a:lnSpc>
              </a:pPr>
              <a:r>
                <a:rPr lang="en-US" sz="15999" b="true">
                  <a:solidFill>
                    <a:srgbClr val="FF5757"/>
                  </a:solidFill>
                  <a:latin typeface="Arial Bold"/>
                  <a:ea typeface="Arial Bold"/>
                  <a:cs typeface="Arial Bold"/>
                  <a:sym typeface="Arial Bold"/>
                </a:rPr>
                <a:t>LITMIND</a:t>
              </a:r>
            </a:p>
          </p:txBody>
        </p:sp>
      </p:grpSp>
      <p:sp>
        <p:nvSpPr>
          <p:cNvPr name="TextBox 16" id="16"/>
          <p:cNvSpPr txBox="true"/>
          <p:nvPr/>
        </p:nvSpPr>
        <p:spPr>
          <a:xfrm rot="0">
            <a:off x="4389120" y="5484876"/>
            <a:ext cx="9509760" cy="586740"/>
          </a:xfrm>
          <a:prstGeom prst="rect">
            <a:avLst/>
          </a:prstGeom>
        </p:spPr>
        <p:txBody>
          <a:bodyPr anchor="t" rtlCol="false" tIns="0" lIns="0" bIns="0" rIns="0">
            <a:spAutoFit/>
          </a:bodyPr>
          <a:lstStyle/>
          <a:p>
            <a:pPr algn="ctr">
              <a:lnSpc>
                <a:spcPts val="2879"/>
              </a:lnSpc>
            </a:pPr>
            <a:r>
              <a:rPr lang="en-US" sz="2400">
                <a:solidFill>
                  <a:srgbClr val="FFFFFF"/>
                </a:solidFill>
                <a:latin typeface="Calibri (MS)"/>
                <a:ea typeface="Calibri (MS)"/>
                <a:cs typeface="Calibri (MS)"/>
                <a:sym typeface="Calibri (MS)"/>
              </a:rPr>
              <a:t>An AI-powered literary analysis and character mapping platform</a:t>
            </a:r>
          </a:p>
        </p:txBody>
      </p:sp>
      <p:sp>
        <p:nvSpPr>
          <p:cNvPr name="TextBox 17" id="17"/>
          <p:cNvSpPr txBox="true"/>
          <p:nvPr/>
        </p:nvSpPr>
        <p:spPr>
          <a:xfrm rot="0">
            <a:off x="4389120" y="6151245"/>
            <a:ext cx="9509760" cy="533400"/>
          </a:xfrm>
          <a:prstGeom prst="rect">
            <a:avLst/>
          </a:prstGeom>
        </p:spPr>
        <p:txBody>
          <a:bodyPr anchor="t" rtlCol="false" tIns="0" lIns="0" bIns="0" rIns="0">
            <a:spAutoFit/>
          </a:bodyPr>
          <a:lstStyle/>
          <a:p>
            <a:pPr algn="ctr">
              <a:lnSpc>
                <a:spcPts val="3719"/>
              </a:lnSpc>
            </a:pPr>
            <a:r>
              <a:rPr lang="en-US" sz="3099" b="true">
                <a:solidFill>
                  <a:srgbClr val="FFFFFF"/>
                </a:solidFill>
                <a:latin typeface="Calibri (MS) Bold"/>
                <a:ea typeface="Calibri (MS) Bold"/>
                <a:cs typeface="Calibri (MS) Bold"/>
                <a:sym typeface="Calibri (MS) Bold"/>
              </a:rPr>
              <a:t>Department of Computer Science and Engineering</a:t>
            </a:r>
          </a:p>
        </p:txBody>
      </p:sp>
      <p:sp>
        <p:nvSpPr>
          <p:cNvPr name="TextBox 18" id="18"/>
          <p:cNvSpPr txBox="true"/>
          <p:nvPr/>
        </p:nvSpPr>
        <p:spPr>
          <a:xfrm rot="0">
            <a:off x="4480560" y="7214235"/>
            <a:ext cx="3840480" cy="2021205"/>
          </a:xfrm>
          <a:prstGeom prst="rect">
            <a:avLst/>
          </a:prstGeom>
        </p:spPr>
        <p:txBody>
          <a:bodyPr anchor="t" rtlCol="false" tIns="0" lIns="0" bIns="0" rIns="0">
            <a:spAutoFit/>
          </a:bodyPr>
          <a:lstStyle/>
          <a:p>
            <a:pPr algn="l">
              <a:lnSpc>
                <a:spcPts val="2400"/>
              </a:lnSpc>
            </a:pPr>
            <a:r>
              <a:rPr lang="en-US" b="true" sz="2000" spc="300">
                <a:solidFill>
                  <a:srgbClr val="FF5757"/>
                </a:solidFill>
                <a:latin typeface="Arial Bold"/>
                <a:ea typeface="Arial Bold"/>
                <a:cs typeface="Arial Bold"/>
                <a:sym typeface="Arial Bold"/>
              </a:rPr>
              <a:t>SUPERVISOR</a:t>
            </a:r>
          </a:p>
          <a:p>
            <a:pPr algn="l">
              <a:lnSpc>
                <a:spcPts val="3120"/>
              </a:lnSpc>
            </a:pPr>
            <a:r>
              <a:rPr lang="en-US" sz="2600" spc="390">
                <a:solidFill>
                  <a:srgbClr val="FFFFFF"/>
                </a:solidFill>
                <a:latin typeface="Calibri (MS)"/>
                <a:ea typeface="Calibri (MS)"/>
                <a:cs typeface="Calibri (MS)"/>
                <a:sym typeface="Calibri (MS)"/>
              </a:rPr>
              <a:t>Dr. Sreemoyee Biswas</a:t>
            </a:r>
          </a:p>
        </p:txBody>
      </p:sp>
      <p:sp>
        <p:nvSpPr>
          <p:cNvPr name="TextBox 19" id="19"/>
          <p:cNvSpPr txBox="true"/>
          <p:nvPr/>
        </p:nvSpPr>
        <p:spPr>
          <a:xfrm rot="0">
            <a:off x="8046720" y="7214235"/>
            <a:ext cx="6056322" cy="1485900"/>
          </a:xfrm>
          <a:prstGeom prst="rect">
            <a:avLst/>
          </a:prstGeom>
        </p:spPr>
        <p:txBody>
          <a:bodyPr anchor="t" rtlCol="false" tIns="0" lIns="0" bIns="0" rIns="0">
            <a:spAutoFit/>
          </a:bodyPr>
          <a:lstStyle/>
          <a:p>
            <a:pPr algn="l">
              <a:lnSpc>
                <a:spcPts val="2400"/>
              </a:lnSpc>
            </a:pPr>
            <a:r>
              <a:rPr lang="en-US" b="true" sz="2000" spc="300">
                <a:solidFill>
                  <a:srgbClr val="FF5757"/>
                </a:solidFill>
                <a:latin typeface="Arial Bold"/>
                <a:ea typeface="Arial Bold"/>
                <a:cs typeface="Arial Bold"/>
                <a:sym typeface="Arial Bold"/>
              </a:rPr>
              <a:t>SUBMITTED BY</a:t>
            </a:r>
          </a:p>
          <a:p>
            <a:pPr algn="l">
              <a:lnSpc>
                <a:spcPts val="3120"/>
              </a:lnSpc>
            </a:pPr>
            <a:r>
              <a:rPr lang="en-US" sz="2600" spc="390">
                <a:solidFill>
                  <a:srgbClr val="FFFFFF"/>
                </a:solidFill>
                <a:latin typeface="Calibri (MS)"/>
                <a:ea typeface="Calibri (MS)"/>
                <a:cs typeface="Calibri (MS)"/>
                <a:sym typeface="Calibri (MS)"/>
              </a:rPr>
              <a:t>Sanchit Agrawal (24U020101)</a:t>
            </a:r>
          </a:p>
          <a:p>
            <a:pPr algn="l">
              <a:lnSpc>
                <a:spcPts val="3120"/>
              </a:lnSpc>
            </a:pPr>
            <a:r>
              <a:rPr lang="en-US" sz="2600" spc="390">
                <a:solidFill>
                  <a:srgbClr val="FFFFFF"/>
                </a:solidFill>
                <a:latin typeface="Calibri (MS)"/>
                <a:ea typeface="Calibri (MS)"/>
                <a:cs typeface="Calibri (MS)"/>
                <a:sym typeface="Calibri (MS)"/>
              </a:rPr>
              <a:t>Amrit Kumar Yadav (24U020119)</a:t>
            </a:r>
          </a:p>
          <a:p>
            <a:pPr algn="l">
              <a:lnSpc>
                <a:spcPts val="31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Problem Statement &amp; Motivation</a:t>
              </a:r>
            </a:p>
          </p:txBody>
        </p:sp>
      </p:grpSp>
      <p:grpSp>
        <p:nvGrpSpPr>
          <p:cNvPr name="Group 14" id="14"/>
          <p:cNvGrpSpPr/>
          <p:nvPr/>
        </p:nvGrpSpPr>
        <p:grpSpPr>
          <a:xfrm rot="0">
            <a:off x="389639" y="1779527"/>
            <a:ext cx="8255003" cy="665483"/>
            <a:chOff x="0" y="0"/>
            <a:chExt cx="11006671" cy="887311"/>
          </a:xfrm>
        </p:grpSpPr>
        <p:sp>
          <p:nvSpPr>
            <p:cNvPr name="Freeform 15" id="15"/>
            <p:cNvSpPr/>
            <p:nvPr/>
          </p:nvSpPr>
          <p:spPr>
            <a:xfrm flipH="false" flipV="false" rot="0">
              <a:off x="0" y="0"/>
              <a:ext cx="11006709" cy="887349"/>
            </a:xfrm>
            <a:custGeom>
              <a:avLst/>
              <a:gdLst/>
              <a:ahLst/>
              <a:cxnLst/>
              <a:rect r="r" b="b" t="t" l="l"/>
              <a:pathLst>
                <a:path h="887349" w="11006709">
                  <a:moveTo>
                    <a:pt x="0" y="0"/>
                  </a:moveTo>
                  <a:lnTo>
                    <a:pt x="11006709" y="0"/>
                  </a:lnTo>
                  <a:lnTo>
                    <a:pt x="11006709" y="887349"/>
                  </a:lnTo>
                  <a:lnTo>
                    <a:pt x="0" y="887349"/>
                  </a:lnTo>
                  <a:close/>
                </a:path>
              </a:pathLst>
            </a:custGeom>
            <a:solidFill>
              <a:srgbClr val="2B2B30"/>
            </a:solidFill>
            <a:ln w="25400" cap="sq">
              <a:solidFill>
                <a:srgbClr val="2B2B30"/>
              </a:solidFill>
              <a:prstDash val="solid"/>
              <a:miter/>
            </a:ln>
          </p:spPr>
        </p:sp>
      </p:grpSp>
      <p:grpSp>
        <p:nvGrpSpPr>
          <p:cNvPr name="Group 16" id="16"/>
          <p:cNvGrpSpPr/>
          <p:nvPr/>
        </p:nvGrpSpPr>
        <p:grpSpPr>
          <a:xfrm rot="0">
            <a:off x="402336" y="1792224"/>
            <a:ext cx="8229600" cy="640080"/>
            <a:chOff x="0" y="0"/>
            <a:chExt cx="10972800" cy="853440"/>
          </a:xfrm>
        </p:grpSpPr>
        <p:sp>
          <p:nvSpPr>
            <p:cNvPr name="Freeform 17" id="17"/>
            <p:cNvSpPr/>
            <p:nvPr/>
          </p:nvSpPr>
          <p:spPr>
            <a:xfrm flipH="false" flipV="false" rot="0">
              <a:off x="0" y="0"/>
              <a:ext cx="10972800" cy="853440"/>
            </a:xfrm>
            <a:custGeom>
              <a:avLst/>
              <a:gdLst/>
              <a:ahLst/>
              <a:cxnLst/>
              <a:rect r="r" b="b" t="t" l="l"/>
              <a:pathLst>
                <a:path h="853440" w="10972800">
                  <a:moveTo>
                    <a:pt x="0" y="0"/>
                  </a:moveTo>
                  <a:lnTo>
                    <a:pt x="10972800" y="0"/>
                  </a:lnTo>
                  <a:lnTo>
                    <a:pt x="10972800" y="853440"/>
                  </a:lnTo>
                  <a:lnTo>
                    <a:pt x="0" y="853440"/>
                  </a:lnTo>
                  <a:close/>
                </a:path>
              </a:pathLst>
            </a:custGeom>
            <a:blipFill>
              <a:blip r:embed="rId2">
                <a:alphaModFix amt="0"/>
              </a:blip>
              <a:stretch>
                <a:fillRect l="0" t="-200521" r="0" b="-200521"/>
              </a:stretch>
            </a:blipFill>
          </p:spPr>
        </p:sp>
        <p:sp>
          <p:nvSpPr>
            <p:cNvPr name="TextBox 18" id="18"/>
            <p:cNvSpPr txBox="true"/>
            <p:nvPr/>
          </p:nvSpPr>
          <p:spPr>
            <a:xfrm>
              <a:off x="0" y="-9525"/>
              <a:ext cx="109728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The Problem</a:t>
              </a:r>
            </a:p>
          </p:txBody>
        </p:sp>
      </p:grpSp>
      <p:grpSp>
        <p:nvGrpSpPr>
          <p:cNvPr name="Group 19" id="19"/>
          <p:cNvGrpSpPr/>
          <p:nvPr/>
        </p:nvGrpSpPr>
        <p:grpSpPr>
          <a:xfrm rot="0">
            <a:off x="499367" y="2584199"/>
            <a:ext cx="537467" cy="537467"/>
            <a:chOff x="0" y="0"/>
            <a:chExt cx="716623" cy="716623"/>
          </a:xfrm>
        </p:grpSpPr>
        <p:sp>
          <p:nvSpPr>
            <p:cNvPr name="Freeform 20" id="20"/>
            <p:cNvSpPr/>
            <p:nvPr/>
          </p:nvSpPr>
          <p:spPr>
            <a:xfrm flipH="false" flipV="false" rot="0">
              <a:off x="0" y="0"/>
              <a:ext cx="716661" cy="716661"/>
            </a:xfrm>
            <a:custGeom>
              <a:avLst/>
              <a:gdLst/>
              <a:ahLst/>
              <a:cxnLst/>
              <a:rect r="r" b="b" t="t" l="l"/>
              <a:pathLst>
                <a:path h="716661" w="716661">
                  <a:moveTo>
                    <a:pt x="0" y="358267"/>
                  </a:moveTo>
                  <a:cubicBezTo>
                    <a:pt x="0" y="160401"/>
                    <a:pt x="160401" y="0"/>
                    <a:pt x="358267" y="0"/>
                  </a:cubicBezTo>
                  <a:cubicBezTo>
                    <a:pt x="556133" y="0"/>
                    <a:pt x="716661" y="160401"/>
                    <a:pt x="716661" y="358267"/>
                  </a:cubicBezTo>
                  <a:cubicBezTo>
                    <a:pt x="716661" y="556133"/>
                    <a:pt x="556260" y="716661"/>
                    <a:pt x="358267" y="716661"/>
                  </a:cubicBezTo>
                  <a:cubicBezTo>
                    <a:pt x="160274" y="716661"/>
                    <a:pt x="0" y="556260"/>
                    <a:pt x="0" y="358267"/>
                  </a:cubicBezTo>
                  <a:close/>
                </a:path>
              </a:pathLst>
            </a:custGeom>
            <a:solidFill>
              <a:srgbClr val="D63C3C"/>
            </a:solidFill>
            <a:ln w="25400" cap="sq">
              <a:solidFill>
                <a:srgbClr val="FF5757"/>
              </a:solidFill>
              <a:prstDash val="solid"/>
              <a:miter/>
            </a:ln>
          </p:spPr>
        </p:sp>
      </p:grpSp>
      <p:grpSp>
        <p:nvGrpSpPr>
          <p:cNvPr name="Group 21" id="21"/>
          <p:cNvGrpSpPr/>
          <p:nvPr/>
        </p:nvGrpSpPr>
        <p:grpSpPr>
          <a:xfrm rot="0">
            <a:off x="512064" y="2596896"/>
            <a:ext cx="512064" cy="512064"/>
            <a:chOff x="0" y="0"/>
            <a:chExt cx="682752" cy="682752"/>
          </a:xfrm>
        </p:grpSpPr>
        <p:sp>
          <p:nvSpPr>
            <p:cNvPr name="Freeform 22" id="22"/>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close/>
                </a:path>
              </a:pathLst>
            </a:custGeom>
            <a:blipFill>
              <a:blip r:embed="rId2">
                <a:alphaModFix amt="0"/>
              </a:blip>
              <a:stretch>
                <a:fillRect l="-78303" t="0" r="-78303" b="0"/>
              </a:stretch>
            </a:blipFill>
          </p:spPr>
        </p:sp>
        <p:sp>
          <p:nvSpPr>
            <p:cNvPr name="TextBox 23" id="23"/>
            <p:cNvSpPr txBox="true"/>
            <p:nvPr/>
          </p:nvSpPr>
          <p:spPr>
            <a:xfrm>
              <a:off x="0" y="-38100"/>
              <a:ext cx="682752" cy="72085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grpSp>
        <p:nvGrpSpPr>
          <p:cNvPr name="Group 24" id="24"/>
          <p:cNvGrpSpPr/>
          <p:nvPr/>
        </p:nvGrpSpPr>
        <p:grpSpPr>
          <a:xfrm rot="0">
            <a:off x="1170432" y="2560320"/>
            <a:ext cx="7315200" cy="1316736"/>
            <a:chOff x="0" y="0"/>
            <a:chExt cx="9753600" cy="1755648"/>
          </a:xfrm>
        </p:grpSpPr>
        <p:sp>
          <p:nvSpPr>
            <p:cNvPr name="Freeform 25" id="25"/>
            <p:cNvSpPr/>
            <p:nvPr/>
          </p:nvSpPr>
          <p:spPr>
            <a:xfrm flipH="false" flipV="false" rot="0">
              <a:off x="0" y="0"/>
              <a:ext cx="9753600" cy="1755648"/>
            </a:xfrm>
            <a:custGeom>
              <a:avLst/>
              <a:gdLst/>
              <a:ahLst/>
              <a:cxnLst/>
              <a:rect r="r" b="b" t="t" l="l"/>
              <a:pathLst>
                <a:path h="1755648" w="9753600">
                  <a:moveTo>
                    <a:pt x="0" y="0"/>
                  </a:moveTo>
                  <a:lnTo>
                    <a:pt x="9753600" y="0"/>
                  </a:lnTo>
                  <a:lnTo>
                    <a:pt x="9753600" y="1755648"/>
                  </a:lnTo>
                  <a:lnTo>
                    <a:pt x="0" y="1755648"/>
                  </a:lnTo>
                  <a:close/>
                </a:path>
              </a:pathLst>
            </a:custGeom>
            <a:blipFill>
              <a:blip r:embed="rId2">
                <a:alphaModFix amt="0"/>
              </a:blip>
              <a:stretch>
                <a:fillRect l="0" t="-58250" r="0" b="-58250"/>
              </a:stretch>
            </a:blipFill>
          </p:spPr>
        </p:sp>
        <p:sp>
          <p:nvSpPr>
            <p:cNvPr name="TextBox 26" id="26"/>
            <p:cNvSpPr txBox="true"/>
            <p:nvPr/>
          </p:nvSpPr>
          <p:spPr>
            <a:xfrm>
              <a:off x="0" y="-47625"/>
              <a:ext cx="975360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Reading a novel cover-to-cover just to remember character names and relationships is something most students find genuinely tedious.</a:t>
              </a:r>
            </a:p>
          </p:txBody>
        </p:sp>
      </p:grpSp>
      <p:grpSp>
        <p:nvGrpSpPr>
          <p:cNvPr name="Group 27" id="27"/>
          <p:cNvGrpSpPr/>
          <p:nvPr/>
        </p:nvGrpSpPr>
        <p:grpSpPr>
          <a:xfrm rot="0">
            <a:off x="499367" y="4083815"/>
            <a:ext cx="537467" cy="537467"/>
            <a:chOff x="0" y="0"/>
            <a:chExt cx="716623" cy="716623"/>
          </a:xfrm>
        </p:grpSpPr>
        <p:sp>
          <p:nvSpPr>
            <p:cNvPr name="Freeform 28" id="28"/>
            <p:cNvSpPr/>
            <p:nvPr/>
          </p:nvSpPr>
          <p:spPr>
            <a:xfrm flipH="false" flipV="false" rot="0">
              <a:off x="0" y="0"/>
              <a:ext cx="716661" cy="716661"/>
            </a:xfrm>
            <a:custGeom>
              <a:avLst/>
              <a:gdLst/>
              <a:ahLst/>
              <a:cxnLst/>
              <a:rect r="r" b="b" t="t" l="l"/>
              <a:pathLst>
                <a:path h="716661" w="716661">
                  <a:moveTo>
                    <a:pt x="0" y="358267"/>
                  </a:moveTo>
                  <a:cubicBezTo>
                    <a:pt x="0" y="160401"/>
                    <a:pt x="160401" y="0"/>
                    <a:pt x="358267" y="0"/>
                  </a:cubicBezTo>
                  <a:cubicBezTo>
                    <a:pt x="556133" y="0"/>
                    <a:pt x="716661" y="160401"/>
                    <a:pt x="716661" y="358267"/>
                  </a:cubicBezTo>
                  <a:cubicBezTo>
                    <a:pt x="716661" y="556133"/>
                    <a:pt x="556260" y="716661"/>
                    <a:pt x="358267" y="716661"/>
                  </a:cubicBezTo>
                  <a:cubicBezTo>
                    <a:pt x="160274" y="716661"/>
                    <a:pt x="0" y="556260"/>
                    <a:pt x="0" y="358267"/>
                  </a:cubicBezTo>
                  <a:close/>
                </a:path>
              </a:pathLst>
            </a:custGeom>
            <a:solidFill>
              <a:srgbClr val="D63C3C"/>
            </a:solidFill>
            <a:ln w="25400" cap="sq">
              <a:solidFill>
                <a:srgbClr val="FF5757"/>
              </a:solidFill>
              <a:prstDash val="solid"/>
              <a:miter/>
            </a:ln>
          </p:spPr>
        </p:sp>
      </p:grpSp>
      <p:grpSp>
        <p:nvGrpSpPr>
          <p:cNvPr name="Group 29" id="29"/>
          <p:cNvGrpSpPr/>
          <p:nvPr/>
        </p:nvGrpSpPr>
        <p:grpSpPr>
          <a:xfrm rot="0">
            <a:off x="512064" y="4096512"/>
            <a:ext cx="512064" cy="512064"/>
            <a:chOff x="0" y="0"/>
            <a:chExt cx="682752" cy="682752"/>
          </a:xfrm>
        </p:grpSpPr>
        <p:sp>
          <p:nvSpPr>
            <p:cNvPr name="Freeform 30" id="30"/>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close/>
                </a:path>
              </a:pathLst>
            </a:custGeom>
            <a:blipFill>
              <a:blip r:embed="rId2">
                <a:alphaModFix amt="0"/>
              </a:blip>
              <a:stretch>
                <a:fillRect l="-78303" t="0" r="-78303" b="0"/>
              </a:stretch>
            </a:blipFill>
          </p:spPr>
        </p:sp>
        <p:sp>
          <p:nvSpPr>
            <p:cNvPr name="TextBox 31" id="31"/>
            <p:cNvSpPr txBox="true"/>
            <p:nvPr/>
          </p:nvSpPr>
          <p:spPr>
            <a:xfrm>
              <a:off x="0" y="-38100"/>
              <a:ext cx="682752" cy="72085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grpSp>
        <p:nvGrpSpPr>
          <p:cNvPr name="Group 32" id="32"/>
          <p:cNvGrpSpPr/>
          <p:nvPr/>
        </p:nvGrpSpPr>
        <p:grpSpPr>
          <a:xfrm rot="0">
            <a:off x="1170432" y="4059936"/>
            <a:ext cx="7315200" cy="1316736"/>
            <a:chOff x="0" y="0"/>
            <a:chExt cx="9753600" cy="1755648"/>
          </a:xfrm>
        </p:grpSpPr>
        <p:sp>
          <p:nvSpPr>
            <p:cNvPr name="Freeform 33" id="33"/>
            <p:cNvSpPr/>
            <p:nvPr/>
          </p:nvSpPr>
          <p:spPr>
            <a:xfrm flipH="false" flipV="false" rot="0">
              <a:off x="0" y="0"/>
              <a:ext cx="9753600" cy="1755648"/>
            </a:xfrm>
            <a:custGeom>
              <a:avLst/>
              <a:gdLst/>
              <a:ahLst/>
              <a:cxnLst/>
              <a:rect r="r" b="b" t="t" l="l"/>
              <a:pathLst>
                <a:path h="1755648" w="9753600">
                  <a:moveTo>
                    <a:pt x="0" y="0"/>
                  </a:moveTo>
                  <a:lnTo>
                    <a:pt x="9753600" y="0"/>
                  </a:lnTo>
                  <a:lnTo>
                    <a:pt x="9753600" y="1755648"/>
                  </a:lnTo>
                  <a:lnTo>
                    <a:pt x="0" y="1755648"/>
                  </a:lnTo>
                  <a:close/>
                </a:path>
              </a:pathLst>
            </a:custGeom>
            <a:blipFill>
              <a:blip r:embed="rId2">
                <a:alphaModFix amt="0"/>
              </a:blip>
              <a:stretch>
                <a:fillRect l="0" t="-58250" r="0" b="-58250"/>
              </a:stretch>
            </a:blipFill>
          </p:spPr>
        </p:sp>
        <p:sp>
          <p:nvSpPr>
            <p:cNvPr name="TextBox 34" id="34"/>
            <p:cNvSpPr txBox="true"/>
            <p:nvPr/>
          </p:nvSpPr>
          <p:spPr>
            <a:xfrm>
              <a:off x="0" y="-47625"/>
              <a:ext cx="975360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There's no easy way to get a quick summary or genre classification without relying on Wikipedia — which doesn't always have what you need.</a:t>
              </a:r>
            </a:p>
          </p:txBody>
        </p:sp>
      </p:grpSp>
      <p:grpSp>
        <p:nvGrpSpPr>
          <p:cNvPr name="Group 35" id="35"/>
          <p:cNvGrpSpPr/>
          <p:nvPr/>
        </p:nvGrpSpPr>
        <p:grpSpPr>
          <a:xfrm rot="0">
            <a:off x="499367" y="5583431"/>
            <a:ext cx="537467" cy="537467"/>
            <a:chOff x="0" y="0"/>
            <a:chExt cx="716623" cy="716623"/>
          </a:xfrm>
        </p:grpSpPr>
        <p:sp>
          <p:nvSpPr>
            <p:cNvPr name="Freeform 36" id="36"/>
            <p:cNvSpPr/>
            <p:nvPr/>
          </p:nvSpPr>
          <p:spPr>
            <a:xfrm flipH="false" flipV="false" rot="0">
              <a:off x="0" y="0"/>
              <a:ext cx="716661" cy="716661"/>
            </a:xfrm>
            <a:custGeom>
              <a:avLst/>
              <a:gdLst/>
              <a:ahLst/>
              <a:cxnLst/>
              <a:rect r="r" b="b" t="t" l="l"/>
              <a:pathLst>
                <a:path h="716661" w="716661">
                  <a:moveTo>
                    <a:pt x="0" y="358267"/>
                  </a:moveTo>
                  <a:cubicBezTo>
                    <a:pt x="0" y="160401"/>
                    <a:pt x="160401" y="0"/>
                    <a:pt x="358267" y="0"/>
                  </a:cubicBezTo>
                  <a:cubicBezTo>
                    <a:pt x="556133" y="0"/>
                    <a:pt x="716661" y="160401"/>
                    <a:pt x="716661" y="358267"/>
                  </a:cubicBezTo>
                  <a:cubicBezTo>
                    <a:pt x="716661" y="556133"/>
                    <a:pt x="556260" y="716661"/>
                    <a:pt x="358267" y="716661"/>
                  </a:cubicBezTo>
                  <a:cubicBezTo>
                    <a:pt x="160274" y="716661"/>
                    <a:pt x="0" y="556260"/>
                    <a:pt x="0" y="358267"/>
                  </a:cubicBezTo>
                  <a:close/>
                </a:path>
              </a:pathLst>
            </a:custGeom>
            <a:solidFill>
              <a:srgbClr val="D63C3C"/>
            </a:solidFill>
            <a:ln w="25400" cap="sq">
              <a:solidFill>
                <a:srgbClr val="FF5757"/>
              </a:solidFill>
              <a:prstDash val="solid"/>
              <a:miter/>
            </a:ln>
          </p:spPr>
        </p:sp>
      </p:grpSp>
      <p:grpSp>
        <p:nvGrpSpPr>
          <p:cNvPr name="Group 37" id="37"/>
          <p:cNvGrpSpPr/>
          <p:nvPr/>
        </p:nvGrpSpPr>
        <p:grpSpPr>
          <a:xfrm rot="0">
            <a:off x="512064" y="5596128"/>
            <a:ext cx="512064" cy="512064"/>
            <a:chOff x="0" y="0"/>
            <a:chExt cx="682752" cy="682752"/>
          </a:xfrm>
        </p:grpSpPr>
        <p:sp>
          <p:nvSpPr>
            <p:cNvPr name="Freeform 38" id="38"/>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close/>
                </a:path>
              </a:pathLst>
            </a:custGeom>
            <a:blipFill>
              <a:blip r:embed="rId2">
                <a:alphaModFix amt="0"/>
              </a:blip>
              <a:stretch>
                <a:fillRect l="-78303" t="0" r="-78303" b="0"/>
              </a:stretch>
            </a:blipFill>
          </p:spPr>
        </p:sp>
        <p:sp>
          <p:nvSpPr>
            <p:cNvPr name="TextBox 39" id="39"/>
            <p:cNvSpPr txBox="true"/>
            <p:nvPr/>
          </p:nvSpPr>
          <p:spPr>
            <a:xfrm>
              <a:off x="0" y="-38100"/>
              <a:ext cx="682752" cy="72085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grpSp>
        <p:nvGrpSpPr>
          <p:cNvPr name="Group 40" id="40"/>
          <p:cNvGrpSpPr/>
          <p:nvPr/>
        </p:nvGrpSpPr>
        <p:grpSpPr>
          <a:xfrm rot="0">
            <a:off x="1170432" y="5559552"/>
            <a:ext cx="7315200" cy="1316736"/>
            <a:chOff x="0" y="0"/>
            <a:chExt cx="9753600" cy="1755648"/>
          </a:xfrm>
        </p:grpSpPr>
        <p:sp>
          <p:nvSpPr>
            <p:cNvPr name="Freeform 41" id="41"/>
            <p:cNvSpPr/>
            <p:nvPr/>
          </p:nvSpPr>
          <p:spPr>
            <a:xfrm flipH="false" flipV="false" rot="0">
              <a:off x="0" y="0"/>
              <a:ext cx="9753600" cy="1755648"/>
            </a:xfrm>
            <a:custGeom>
              <a:avLst/>
              <a:gdLst/>
              <a:ahLst/>
              <a:cxnLst/>
              <a:rect r="r" b="b" t="t" l="l"/>
              <a:pathLst>
                <a:path h="1755648" w="9753600">
                  <a:moveTo>
                    <a:pt x="0" y="0"/>
                  </a:moveTo>
                  <a:lnTo>
                    <a:pt x="9753600" y="0"/>
                  </a:lnTo>
                  <a:lnTo>
                    <a:pt x="9753600" y="1755648"/>
                  </a:lnTo>
                  <a:lnTo>
                    <a:pt x="0" y="1755648"/>
                  </a:lnTo>
                  <a:close/>
                </a:path>
              </a:pathLst>
            </a:custGeom>
            <a:blipFill>
              <a:blip r:embed="rId2">
                <a:alphaModFix amt="0"/>
              </a:blip>
              <a:stretch>
                <a:fillRect l="0" t="-58250" r="0" b="-58250"/>
              </a:stretch>
            </a:blipFill>
          </p:spPr>
        </p:sp>
        <p:sp>
          <p:nvSpPr>
            <p:cNvPr name="TextBox 42" id="42"/>
            <p:cNvSpPr txBox="true"/>
            <p:nvPr/>
          </p:nvSpPr>
          <p:spPr>
            <a:xfrm>
              <a:off x="0" y="-47625"/>
              <a:ext cx="975360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Existing tools like Goodreads or Google Books don't do any actual text analysis — they're just catalogues.</a:t>
              </a:r>
            </a:p>
          </p:txBody>
        </p:sp>
      </p:grpSp>
      <p:grpSp>
        <p:nvGrpSpPr>
          <p:cNvPr name="Group 43" id="43"/>
          <p:cNvGrpSpPr/>
          <p:nvPr/>
        </p:nvGrpSpPr>
        <p:grpSpPr>
          <a:xfrm rot="0">
            <a:off x="499367" y="7083047"/>
            <a:ext cx="537467" cy="537467"/>
            <a:chOff x="0" y="0"/>
            <a:chExt cx="716623" cy="716623"/>
          </a:xfrm>
        </p:grpSpPr>
        <p:sp>
          <p:nvSpPr>
            <p:cNvPr name="Freeform 44" id="44"/>
            <p:cNvSpPr/>
            <p:nvPr/>
          </p:nvSpPr>
          <p:spPr>
            <a:xfrm flipH="false" flipV="false" rot="0">
              <a:off x="0" y="0"/>
              <a:ext cx="716661" cy="716661"/>
            </a:xfrm>
            <a:custGeom>
              <a:avLst/>
              <a:gdLst/>
              <a:ahLst/>
              <a:cxnLst/>
              <a:rect r="r" b="b" t="t" l="l"/>
              <a:pathLst>
                <a:path h="716661" w="716661">
                  <a:moveTo>
                    <a:pt x="0" y="358267"/>
                  </a:moveTo>
                  <a:cubicBezTo>
                    <a:pt x="0" y="160401"/>
                    <a:pt x="160401" y="0"/>
                    <a:pt x="358267" y="0"/>
                  </a:cubicBezTo>
                  <a:cubicBezTo>
                    <a:pt x="556133" y="0"/>
                    <a:pt x="716661" y="160401"/>
                    <a:pt x="716661" y="358267"/>
                  </a:cubicBezTo>
                  <a:cubicBezTo>
                    <a:pt x="716661" y="556133"/>
                    <a:pt x="556260" y="716661"/>
                    <a:pt x="358267" y="716661"/>
                  </a:cubicBezTo>
                  <a:cubicBezTo>
                    <a:pt x="160274" y="716661"/>
                    <a:pt x="0" y="556260"/>
                    <a:pt x="0" y="358267"/>
                  </a:cubicBezTo>
                  <a:close/>
                </a:path>
              </a:pathLst>
            </a:custGeom>
            <a:solidFill>
              <a:srgbClr val="D63C3C"/>
            </a:solidFill>
            <a:ln w="25400" cap="sq">
              <a:solidFill>
                <a:srgbClr val="FF5757"/>
              </a:solidFill>
              <a:prstDash val="solid"/>
              <a:miter/>
            </a:ln>
          </p:spPr>
        </p:sp>
      </p:grpSp>
      <p:grpSp>
        <p:nvGrpSpPr>
          <p:cNvPr name="Group 45" id="45"/>
          <p:cNvGrpSpPr/>
          <p:nvPr/>
        </p:nvGrpSpPr>
        <p:grpSpPr>
          <a:xfrm rot="0">
            <a:off x="512064" y="7095744"/>
            <a:ext cx="512064" cy="512064"/>
            <a:chOff x="0" y="0"/>
            <a:chExt cx="682752" cy="682752"/>
          </a:xfrm>
        </p:grpSpPr>
        <p:sp>
          <p:nvSpPr>
            <p:cNvPr name="Freeform 46" id="46"/>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close/>
                </a:path>
              </a:pathLst>
            </a:custGeom>
            <a:blipFill>
              <a:blip r:embed="rId2">
                <a:alphaModFix amt="0"/>
              </a:blip>
              <a:stretch>
                <a:fillRect l="-78303" t="0" r="-78303" b="0"/>
              </a:stretch>
            </a:blipFill>
          </p:spPr>
        </p:sp>
        <p:sp>
          <p:nvSpPr>
            <p:cNvPr name="TextBox 47" id="47"/>
            <p:cNvSpPr txBox="true"/>
            <p:nvPr/>
          </p:nvSpPr>
          <p:spPr>
            <a:xfrm>
              <a:off x="0" y="-38100"/>
              <a:ext cx="682752" cy="72085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grpSp>
        <p:nvGrpSpPr>
          <p:cNvPr name="Group 48" id="48"/>
          <p:cNvGrpSpPr/>
          <p:nvPr/>
        </p:nvGrpSpPr>
        <p:grpSpPr>
          <a:xfrm rot="0">
            <a:off x="1170432" y="7059168"/>
            <a:ext cx="7315200" cy="1316736"/>
            <a:chOff x="0" y="0"/>
            <a:chExt cx="9753600" cy="1755648"/>
          </a:xfrm>
        </p:grpSpPr>
        <p:sp>
          <p:nvSpPr>
            <p:cNvPr name="Freeform 49" id="49"/>
            <p:cNvSpPr/>
            <p:nvPr/>
          </p:nvSpPr>
          <p:spPr>
            <a:xfrm flipH="false" flipV="false" rot="0">
              <a:off x="0" y="0"/>
              <a:ext cx="9753600" cy="1755648"/>
            </a:xfrm>
            <a:custGeom>
              <a:avLst/>
              <a:gdLst/>
              <a:ahLst/>
              <a:cxnLst/>
              <a:rect r="r" b="b" t="t" l="l"/>
              <a:pathLst>
                <a:path h="1755648" w="9753600">
                  <a:moveTo>
                    <a:pt x="0" y="0"/>
                  </a:moveTo>
                  <a:lnTo>
                    <a:pt x="9753600" y="0"/>
                  </a:lnTo>
                  <a:lnTo>
                    <a:pt x="9753600" y="1755648"/>
                  </a:lnTo>
                  <a:lnTo>
                    <a:pt x="0" y="1755648"/>
                  </a:lnTo>
                  <a:close/>
                </a:path>
              </a:pathLst>
            </a:custGeom>
            <a:blipFill>
              <a:blip r:embed="rId2">
                <a:alphaModFix amt="0"/>
              </a:blip>
              <a:stretch>
                <a:fillRect l="0" t="-58250" r="0" b="-58250"/>
              </a:stretch>
            </a:blipFill>
          </p:spPr>
        </p:sp>
        <p:sp>
          <p:nvSpPr>
            <p:cNvPr name="TextBox 50" id="50"/>
            <p:cNvSpPr txBox="true"/>
            <p:nvPr/>
          </p:nvSpPr>
          <p:spPr>
            <a:xfrm>
              <a:off x="0" y="-47625"/>
              <a:ext cx="975360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Manual literary analysis is time-consuming and often inconsistent, especially when comparing multiple works.</a:t>
              </a:r>
            </a:p>
          </p:txBody>
        </p:sp>
      </p:grpSp>
      <p:grpSp>
        <p:nvGrpSpPr>
          <p:cNvPr name="Group 51" id="51"/>
          <p:cNvGrpSpPr/>
          <p:nvPr/>
        </p:nvGrpSpPr>
        <p:grpSpPr>
          <a:xfrm rot="0">
            <a:off x="9131303" y="1779527"/>
            <a:ext cx="8657339" cy="665483"/>
            <a:chOff x="0" y="0"/>
            <a:chExt cx="11543119" cy="887311"/>
          </a:xfrm>
        </p:grpSpPr>
        <p:sp>
          <p:nvSpPr>
            <p:cNvPr name="Freeform 52" id="52"/>
            <p:cNvSpPr/>
            <p:nvPr/>
          </p:nvSpPr>
          <p:spPr>
            <a:xfrm flipH="false" flipV="false" rot="0">
              <a:off x="0" y="0"/>
              <a:ext cx="11543157" cy="887349"/>
            </a:xfrm>
            <a:custGeom>
              <a:avLst/>
              <a:gdLst/>
              <a:ahLst/>
              <a:cxnLst/>
              <a:rect r="r" b="b" t="t" l="l"/>
              <a:pathLst>
                <a:path h="887349" w="11543157">
                  <a:moveTo>
                    <a:pt x="0" y="0"/>
                  </a:moveTo>
                  <a:lnTo>
                    <a:pt x="11543157" y="0"/>
                  </a:lnTo>
                  <a:lnTo>
                    <a:pt x="11543157" y="887349"/>
                  </a:lnTo>
                  <a:lnTo>
                    <a:pt x="0" y="887349"/>
                  </a:lnTo>
                  <a:close/>
                </a:path>
              </a:pathLst>
            </a:custGeom>
            <a:solidFill>
              <a:srgbClr val="B83232"/>
            </a:solidFill>
            <a:ln w="25400" cap="sq">
              <a:solidFill>
                <a:srgbClr val="C94545"/>
              </a:solidFill>
              <a:prstDash val="solid"/>
              <a:miter/>
            </a:ln>
          </p:spPr>
        </p:sp>
      </p:grpSp>
      <p:grpSp>
        <p:nvGrpSpPr>
          <p:cNvPr name="Group 53" id="53"/>
          <p:cNvGrpSpPr/>
          <p:nvPr/>
        </p:nvGrpSpPr>
        <p:grpSpPr>
          <a:xfrm rot="0">
            <a:off x="9144000" y="1792224"/>
            <a:ext cx="8631936" cy="640080"/>
            <a:chOff x="0" y="0"/>
            <a:chExt cx="11509248" cy="853440"/>
          </a:xfrm>
        </p:grpSpPr>
        <p:sp>
          <p:nvSpPr>
            <p:cNvPr name="Freeform 54" id="54"/>
            <p:cNvSpPr/>
            <p:nvPr/>
          </p:nvSpPr>
          <p:spPr>
            <a:xfrm flipH="false" flipV="false" rot="0">
              <a:off x="0" y="0"/>
              <a:ext cx="11509248" cy="853440"/>
            </a:xfrm>
            <a:custGeom>
              <a:avLst/>
              <a:gdLst/>
              <a:ahLst/>
              <a:cxnLst/>
              <a:rect r="r" b="b" t="t" l="l"/>
              <a:pathLst>
                <a:path h="853440" w="11509248">
                  <a:moveTo>
                    <a:pt x="0" y="0"/>
                  </a:moveTo>
                  <a:lnTo>
                    <a:pt x="11509248" y="0"/>
                  </a:lnTo>
                  <a:lnTo>
                    <a:pt x="11509248" y="853440"/>
                  </a:lnTo>
                  <a:lnTo>
                    <a:pt x="0" y="853440"/>
                  </a:lnTo>
                  <a:close/>
                </a:path>
              </a:pathLst>
            </a:custGeom>
            <a:blipFill>
              <a:blip r:embed="rId2">
                <a:alphaModFix amt="0"/>
              </a:blip>
              <a:stretch>
                <a:fillRect l="0" t="-212769" r="0" b="-212769"/>
              </a:stretch>
            </a:blipFill>
          </p:spPr>
        </p:sp>
        <p:sp>
          <p:nvSpPr>
            <p:cNvPr name="TextBox 55" id="55"/>
            <p:cNvSpPr txBox="true"/>
            <p:nvPr/>
          </p:nvSpPr>
          <p:spPr>
            <a:xfrm>
              <a:off x="0" y="-9525"/>
              <a:ext cx="11509248"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Why We Built LitMind</a:t>
              </a:r>
            </a:p>
          </p:txBody>
        </p:sp>
      </p:grpSp>
      <p:grpSp>
        <p:nvGrpSpPr>
          <p:cNvPr name="Group 56" id="56"/>
          <p:cNvGrpSpPr/>
          <p:nvPr/>
        </p:nvGrpSpPr>
        <p:grpSpPr>
          <a:xfrm rot="0">
            <a:off x="9235440" y="2633472"/>
            <a:ext cx="640080" cy="640080"/>
            <a:chOff x="0" y="0"/>
            <a:chExt cx="853440" cy="853440"/>
          </a:xfrm>
        </p:grpSpPr>
        <p:sp>
          <p:nvSpPr>
            <p:cNvPr name="Freeform 57" id="57"/>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2">
                <a:alphaModFix amt="0"/>
              </a:blip>
              <a:stretch>
                <a:fillRect l="-78303" t="0" r="-78303" b="0"/>
              </a:stretch>
            </a:blipFill>
          </p:spPr>
        </p:sp>
        <p:sp>
          <p:nvSpPr>
            <p:cNvPr name="TextBox 58" id="58"/>
            <p:cNvSpPr txBox="true"/>
            <p:nvPr/>
          </p:nvSpPr>
          <p:spPr>
            <a:xfrm>
              <a:off x="0" y="-57150"/>
              <a:ext cx="853440" cy="9105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59" id="59"/>
          <p:cNvGrpSpPr/>
          <p:nvPr/>
        </p:nvGrpSpPr>
        <p:grpSpPr>
          <a:xfrm rot="0">
            <a:off x="9948672" y="2560320"/>
            <a:ext cx="7498080" cy="1316736"/>
            <a:chOff x="0" y="0"/>
            <a:chExt cx="9997440" cy="1755648"/>
          </a:xfrm>
        </p:grpSpPr>
        <p:sp>
          <p:nvSpPr>
            <p:cNvPr name="Freeform 60" id="60"/>
            <p:cNvSpPr/>
            <p:nvPr/>
          </p:nvSpPr>
          <p:spPr>
            <a:xfrm flipH="false" flipV="false" rot="0">
              <a:off x="0" y="0"/>
              <a:ext cx="9997440" cy="1755648"/>
            </a:xfrm>
            <a:custGeom>
              <a:avLst/>
              <a:gdLst/>
              <a:ahLst/>
              <a:cxnLst/>
              <a:rect r="r" b="b" t="t" l="l"/>
              <a:pathLst>
                <a:path h="1755648" w="9997440">
                  <a:moveTo>
                    <a:pt x="0" y="0"/>
                  </a:moveTo>
                  <a:lnTo>
                    <a:pt x="9997440" y="0"/>
                  </a:lnTo>
                  <a:lnTo>
                    <a:pt x="9997440" y="1755648"/>
                  </a:lnTo>
                  <a:lnTo>
                    <a:pt x="0" y="1755648"/>
                  </a:lnTo>
                  <a:close/>
                </a:path>
              </a:pathLst>
            </a:custGeom>
            <a:blipFill>
              <a:blip r:embed="rId2">
                <a:alphaModFix amt="0"/>
              </a:blip>
              <a:stretch>
                <a:fillRect l="0" t="-60956" r="0" b="-60956"/>
              </a:stretch>
            </a:blipFill>
          </p:spPr>
        </p:sp>
        <p:sp>
          <p:nvSpPr>
            <p:cNvPr name="TextBox 61" id="61"/>
            <p:cNvSpPr txBox="true"/>
            <p:nvPr/>
          </p:nvSpPr>
          <p:spPr>
            <a:xfrm>
              <a:off x="0" y="-47625"/>
              <a:ext cx="999744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Make literary analysis accessible to everyone — not just literature scholars</a:t>
              </a:r>
            </a:p>
          </p:txBody>
        </p:sp>
      </p:grpSp>
      <p:grpSp>
        <p:nvGrpSpPr>
          <p:cNvPr name="Group 62" id="62"/>
          <p:cNvGrpSpPr/>
          <p:nvPr/>
        </p:nvGrpSpPr>
        <p:grpSpPr>
          <a:xfrm rot="0">
            <a:off x="9235440" y="4133088"/>
            <a:ext cx="640080" cy="640080"/>
            <a:chOff x="0" y="0"/>
            <a:chExt cx="853440" cy="853440"/>
          </a:xfrm>
        </p:grpSpPr>
        <p:sp>
          <p:nvSpPr>
            <p:cNvPr name="Freeform 63" id="63"/>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2">
                <a:alphaModFix amt="0"/>
              </a:blip>
              <a:stretch>
                <a:fillRect l="-78303" t="0" r="-78303" b="0"/>
              </a:stretch>
            </a:blipFill>
          </p:spPr>
        </p:sp>
        <p:sp>
          <p:nvSpPr>
            <p:cNvPr name="TextBox 64" id="64"/>
            <p:cNvSpPr txBox="true"/>
            <p:nvPr/>
          </p:nvSpPr>
          <p:spPr>
            <a:xfrm>
              <a:off x="0" y="-57150"/>
              <a:ext cx="853440" cy="9105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65" id="65"/>
          <p:cNvGrpSpPr/>
          <p:nvPr/>
        </p:nvGrpSpPr>
        <p:grpSpPr>
          <a:xfrm rot="0">
            <a:off x="9948672" y="4059936"/>
            <a:ext cx="7498080" cy="1316736"/>
            <a:chOff x="0" y="0"/>
            <a:chExt cx="9997440" cy="1755648"/>
          </a:xfrm>
        </p:grpSpPr>
        <p:sp>
          <p:nvSpPr>
            <p:cNvPr name="Freeform 66" id="66"/>
            <p:cNvSpPr/>
            <p:nvPr/>
          </p:nvSpPr>
          <p:spPr>
            <a:xfrm flipH="false" flipV="false" rot="0">
              <a:off x="0" y="0"/>
              <a:ext cx="9997440" cy="1755648"/>
            </a:xfrm>
            <a:custGeom>
              <a:avLst/>
              <a:gdLst/>
              <a:ahLst/>
              <a:cxnLst/>
              <a:rect r="r" b="b" t="t" l="l"/>
              <a:pathLst>
                <a:path h="1755648" w="9997440">
                  <a:moveTo>
                    <a:pt x="0" y="0"/>
                  </a:moveTo>
                  <a:lnTo>
                    <a:pt x="9997440" y="0"/>
                  </a:lnTo>
                  <a:lnTo>
                    <a:pt x="9997440" y="1755648"/>
                  </a:lnTo>
                  <a:lnTo>
                    <a:pt x="0" y="1755648"/>
                  </a:lnTo>
                  <a:close/>
                </a:path>
              </a:pathLst>
            </a:custGeom>
            <a:blipFill>
              <a:blip r:embed="rId2">
                <a:alphaModFix amt="0"/>
              </a:blip>
              <a:stretch>
                <a:fillRect l="0" t="-60956" r="0" b="-60956"/>
              </a:stretch>
            </a:blipFill>
          </p:spPr>
        </p:sp>
        <p:sp>
          <p:nvSpPr>
            <p:cNvPr name="TextBox 67" id="67"/>
            <p:cNvSpPr txBox="true"/>
            <p:nvPr/>
          </p:nvSpPr>
          <p:spPr>
            <a:xfrm>
              <a:off x="0" y="-47625"/>
              <a:ext cx="999744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Automate the boring parts: character lists, relationships, summaries</a:t>
              </a:r>
            </a:p>
          </p:txBody>
        </p:sp>
      </p:grpSp>
      <p:grpSp>
        <p:nvGrpSpPr>
          <p:cNvPr name="Group 68" id="68"/>
          <p:cNvGrpSpPr/>
          <p:nvPr/>
        </p:nvGrpSpPr>
        <p:grpSpPr>
          <a:xfrm rot="0">
            <a:off x="9235440" y="5632704"/>
            <a:ext cx="640080" cy="640080"/>
            <a:chOff x="0" y="0"/>
            <a:chExt cx="853440" cy="853440"/>
          </a:xfrm>
        </p:grpSpPr>
        <p:sp>
          <p:nvSpPr>
            <p:cNvPr name="Freeform 69" id="69"/>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2">
                <a:alphaModFix amt="0"/>
              </a:blip>
              <a:stretch>
                <a:fillRect l="-78303" t="0" r="-78303" b="0"/>
              </a:stretch>
            </a:blipFill>
          </p:spPr>
        </p:sp>
        <p:sp>
          <p:nvSpPr>
            <p:cNvPr name="TextBox 70" id="70"/>
            <p:cNvSpPr txBox="true"/>
            <p:nvPr/>
          </p:nvSpPr>
          <p:spPr>
            <a:xfrm>
              <a:off x="0" y="-57150"/>
              <a:ext cx="853440" cy="9105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71" id="71"/>
          <p:cNvGrpSpPr/>
          <p:nvPr/>
        </p:nvGrpSpPr>
        <p:grpSpPr>
          <a:xfrm rot="0">
            <a:off x="9948672" y="5559552"/>
            <a:ext cx="7498080" cy="1316736"/>
            <a:chOff x="0" y="0"/>
            <a:chExt cx="9997440" cy="1755648"/>
          </a:xfrm>
        </p:grpSpPr>
        <p:sp>
          <p:nvSpPr>
            <p:cNvPr name="Freeform 72" id="72"/>
            <p:cNvSpPr/>
            <p:nvPr/>
          </p:nvSpPr>
          <p:spPr>
            <a:xfrm flipH="false" flipV="false" rot="0">
              <a:off x="0" y="0"/>
              <a:ext cx="9997440" cy="1755648"/>
            </a:xfrm>
            <a:custGeom>
              <a:avLst/>
              <a:gdLst/>
              <a:ahLst/>
              <a:cxnLst/>
              <a:rect r="r" b="b" t="t" l="l"/>
              <a:pathLst>
                <a:path h="1755648" w="9997440">
                  <a:moveTo>
                    <a:pt x="0" y="0"/>
                  </a:moveTo>
                  <a:lnTo>
                    <a:pt x="9997440" y="0"/>
                  </a:lnTo>
                  <a:lnTo>
                    <a:pt x="9997440" y="1755648"/>
                  </a:lnTo>
                  <a:lnTo>
                    <a:pt x="0" y="1755648"/>
                  </a:lnTo>
                  <a:close/>
                </a:path>
              </a:pathLst>
            </a:custGeom>
            <a:blipFill>
              <a:blip r:embed="rId2">
                <a:alphaModFix amt="0"/>
              </a:blip>
              <a:stretch>
                <a:fillRect l="0" t="-60956" r="0" b="-60956"/>
              </a:stretch>
            </a:blipFill>
          </p:spPr>
        </p:sp>
        <p:sp>
          <p:nvSpPr>
            <p:cNvPr name="TextBox 73" id="73"/>
            <p:cNvSpPr txBox="true"/>
            <p:nvPr/>
          </p:nvSpPr>
          <p:spPr>
            <a:xfrm>
              <a:off x="0" y="-47625"/>
              <a:ext cx="999744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Combine classical NLP (spaCy, CoreNLP) with modern LLMs (Gemini API) for better accuracy</a:t>
              </a:r>
            </a:p>
          </p:txBody>
        </p:sp>
      </p:grpSp>
      <p:grpSp>
        <p:nvGrpSpPr>
          <p:cNvPr name="Group 74" id="74"/>
          <p:cNvGrpSpPr/>
          <p:nvPr/>
        </p:nvGrpSpPr>
        <p:grpSpPr>
          <a:xfrm rot="0">
            <a:off x="9235440" y="7132320"/>
            <a:ext cx="640080" cy="640080"/>
            <a:chOff x="0" y="0"/>
            <a:chExt cx="853440" cy="853440"/>
          </a:xfrm>
        </p:grpSpPr>
        <p:sp>
          <p:nvSpPr>
            <p:cNvPr name="Freeform 75" id="75"/>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2">
                <a:alphaModFix amt="0"/>
              </a:blip>
              <a:stretch>
                <a:fillRect l="-78303" t="0" r="-78303" b="0"/>
              </a:stretch>
            </a:blipFill>
          </p:spPr>
        </p:sp>
        <p:sp>
          <p:nvSpPr>
            <p:cNvPr name="TextBox 76" id="76"/>
            <p:cNvSpPr txBox="true"/>
            <p:nvPr/>
          </p:nvSpPr>
          <p:spPr>
            <a:xfrm>
              <a:off x="0" y="-57150"/>
              <a:ext cx="853440" cy="9105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77" id="77"/>
          <p:cNvGrpSpPr/>
          <p:nvPr/>
        </p:nvGrpSpPr>
        <p:grpSpPr>
          <a:xfrm rot="0">
            <a:off x="9948672" y="7059168"/>
            <a:ext cx="7498080" cy="1316736"/>
            <a:chOff x="0" y="0"/>
            <a:chExt cx="9997440" cy="1755648"/>
          </a:xfrm>
        </p:grpSpPr>
        <p:sp>
          <p:nvSpPr>
            <p:cNvPr name="Freeform 78" id="78"/>
            <p:cNvSpPr/>
            <p:nvPr/>
          </p:nvSpPr>
          <p:spPr>
            <a:xfrm flipH="false" flipV="false" rot="0">
              <a:off x="0" y="0"/>
              <a:ext cx="9997440" cy="1755648"/>
            </a:xfrm>
            <a:custGeom>
              <a:avLst/>
              <a:gdLst/>
              <a:ahLst/>
              <a:cxnLst/>
              <a:rect r="r" b="b" t="t" l="l"/>
              <a:pathLst>
                <a:path h="1755648" w="9997440">
                  <a:moveTo>
                    <a:pt x="0" y="0"/>
                  </a:moveTo>
                  <a:lnTo>
                    <a:pt x="9997440" y="0"/>
                  </a:lnTo>
                  <a:lnTo>
                    <a:pt x="9997440" y="1755648"/>
                  </a:lnTo>
                  <a:lnTo>
                    <a:pt x="0" y="1755648"/>
                  </a:lnTo>
                  <a:close/>
                </a:path>
              </a:pathLst>
            </a:custGeom>
            <a:blipFill>
              <a:blip r:embed="rId2">
                <a:alphaModFix amt="0"/>
              </a:blip>
              <a:stretch>
                <a:fillRect l="0" t="-60956" r="0" b="-60956"/>
              </a:stretch>
            </a:blipFill>
          </p:spPr>
        </p:sp>
        <p:sp>
          <p:nvSpPr>
            <p:cNvPr name="TextBox 79" id="79"/>
            <p:cNvSpPr txBox="true"/>
            <p:nvPr/>
          </p:nvSpPr>
          <p:spPr>
            <a:xfrm>
              <a:off x="0" y="-47625"/>
              <a:ext cx="9997440" cy="1803273"/>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Help readers discover their next book based on what they've already read and enjoyed</a:t>
              </a:r>
            </a:p>
          </p:txBody>
        </p:sp>
      </p:grpSp>
      <p:sp>
        <p:nvSpPr>
          <p:cNvPr name="TextBox 80" id="80"/>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What Does LitMind Do?</a:t>
              </a:r>
            </a:p>
          </p:txBody>
        </p:sp>
      </p:grpSp>
      <p:grpSp>
        <p:nvGrpSpPr>
          <p:cNvPr name="Group 14" id="14"/>
          <p:cNvGrpSpPr/>
          <p:nvPr/>
        </p:nvGrpSpPr>
        <p:grpSpPr>
          <a:xfrm rot="0">
            <a:off x="389639" y="1816103"/>
            <a:ext cx="8529323" cy="2311403"/>
            <a:chOff x="0" y="0"/>
            <a:chExt cx="11372431" cy="3081871"/>
          </a:xfrm>
        </p:grpSpPr>
        <p:sp>
          <p:nvSpPr>
            <p:cNvPr name="Freeform 15" id="15"/>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6161A"/>
            </a:solidFill>
            <a:ln w="25400" cap="sq">
              <a:solidFill>
                <a:srgbClr val="2E2E34"/>
              </a:solidFill>
              <a:prstDash val="solid"/>
              <a:miter/>
            </a:ln>
          </p:spPr>
        </p:sp>
      </p:grpSp>
      <p:grpSp>
        <p:nvGrpSpPr>
          <p:cNvPr name="Group 16" id="16"/>
          <p:cNvGrpSpPr/>
          <p:nvPr/>
        </p:nvGrpSpPr>
        <p:grpSpPr>
          <a:xfrm rot="0">
            <a:off x="572519" y="1998983"/>
            <a:ext cx="1031243" cy="1031243"/>
            <a:chOff x="0" y="0"/>
            <a:chExt cx="1374991" cy="1374991"/>
          </a:xfrm>
        </p:grpSpPr>
        <p:sp>
          <p:nvSpPr>
            <p:cNvPr name="Freeform 17" id="17"/>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18" id="18"/>
          <p:cNvGrpSpPr/>
          <p:nvPr/>
        </p:nvGrpSpPr>
        <p:grpSpPr>
          <a:xfrm rot="0">
            <a:off x="585216" y="2011680"/>
            <a:ext cx="1005840" cy="1005840"/>
            <a:chOff x="0" y="0"/>
            <a:chExt cx="1341120" cy="1341120"/>
          </a:xfrm>
        </p:grpSpPr>
        <p:sp>
          <p:nvSpPr>
            <p:cNvPr name="Freeform 19" id="19"/>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20" id="20"/>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21" id="21"/>
          <p:cNvGrpSpPr/>
          <p:nvPr/>
        </p:nvGrpSpPr>
        <p:grpSpPr>
          <a:xfrm rot="0">
            <a:off x="1719072" y="1975104"/>
            <a:ext cx="7004304" cy="548640"/>
            <a:chOff x="0" y="0"/>
            <a:chExt cx="9339072" cy="731520"/>
          </a:xfrm>
        </p:grpSpPr>
        <p:sp>
          <p:nvSpPr>
            <p:cNvPr name="Freeform 22" id="22"/>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23" id="23"/>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Character Analysis</a:t>
              </a:r>
            </a:p>
          </p:txBody>
        </p:sp>
      </p:grpSp>
      <p:grpSp>
        <p:nvGrpSpPr>
          <p:cNvPr name="Group 24" id="24"/>
          <p:cNvGrpSpPr/>
          <p:nvPr/>
        </p:nvGrpSpPr>
        <p:grpSpPr>
          <a:xfrm rot="0">
            <a:off x="1719072" y="2523744"/>
            <a:ext cx="7004304" cy="1426464"/>
            <a:chOff x="0" y="0"/>
            <a:chExt cx="9339072" cy="1901952"/>
          </a:xfrm>
        </p:grpSpPr>
        <p:sp>
          <p:nvSpPr>
            <p:cNvPr name="Freeform 25" id="25"/>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26" id="26"/>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Identifies all major and minor characters using NER, builds frequency profiles and tracks their appearances</a:t>
              </a:r>
            </a:p>
          </p:txBody>
        </p:sp>
      </p:grpSp>
      <p:grpSp>
        <p:nvGrpSpPr>
          <p:cNvPr name="Group 27" id="27"/>
          <p:cNvGrpSpPr/>
          <p:nvPr/>
        </p:nvGrpSpPr>
        <p:grpSpPr>
          <a:xfrm rot="0">
            <a:off x="9222743" y="1816103"/>
            <a:ext cx="8529323" cy="2311403"/>
            <a:chOff x="0" y="0"/>
            <a:chExt cx="11372431" cy="3081871"/>
          </a:xfrm>
        </p:grpSpPr>
        <p:sp>
          <p:nvSpPr>
            <p:cNvPr name="Freeform 28" id="28"/>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A1A1E"/>
            </a:solidFill>
            <a:ln w="25400" cap="sq">
              <a:solidFill>
                <a:srgbClr val="2E2E34"/>
              </a:solidFill>
              <a:prstDash val="solid"/>
              <a:miter/>
            </a:ln>
          </p:spPr>
        </p:sp>
      </p:grpSp>
      <p:grpSp>
        <p:nvGrpSpPr>
          <p:cNvPr name="Group 29" id="29"/>
          <p:cNvGrpSpPr/>
          <p:nvPr/>
        </p:nvGrpSpPr>
        <p:grpSpPr>
          <a:xfrm rot="0">
            <a:off x="9405623" y="1998983"/>
            <a:ext cx="1031243" cy="1031243"/>
            <a:chOff x="0" y="0"/>
            <a:chExt cx="1374991" cy="1374991"/>
          </a:xfrm>
        </p:grpSpPr>
        <p:sp>
          <p:nvSpPr>
            <p:cNvPr name="Freeform 30" id="30"/>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31" id="31"/>
          <p:cNvGrpSpPr/>
          <p:nvPr/>
        </p:nvGrpSpPr>
        <p:grpSpPr>
          <a:xfrm rot="0">
            <a:off x="9418320" y="2011680"/>
            <a:ext cx="1005840" cy="1005840"/>
            <a:chOff x="0" y="0"/>
            <a:chExt cx="1341120" cy="1341120"/>
          </a:xfrm>
        </p:grpSpPr>
        <p:sp>
          <p:nvSpPr>
            <p:cNvPr name="Freeform 32" id="3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33" id="33"/>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34" id="34"/>
          <p:cNvGrpSpPr/>
          <p:nvPr/>
        </p:nvGrpSpPr>
        <p:grpSpPr>
          <a:xfrm rot="0">
            <a:off x="10552176" y="1975104"/>
            <a:ext cx="7004304" cy="548640"/>
            <a:chOff x="0" y="0"/>
            <a:chExt cx="9339072" cy="731520"/>
          </a:xfrm>
        </p:grpSpPr>
        <p:sp>
          <p:nvSpPr>
            <p:cNvPr name="Freeform 35" id="35"/>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36" id="36"/>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Relationship Mapping</a:t>
              </a:r>
            </a:p>
          </p:txBody>
        </p:sp>
      </p:grpSp>
      <p:grpSp>
        <p:nvGrpSpPr>
          <p:cNvPr name="Group 37" id="37"/>
          <p:cNvGrpSpPr/>
          <p:nvPr/>
        </p:nvGrpSpPr>
        <p:grpSpPr>
          <a:xfrm rot="0">
            <a:off x="10552176" y="2523744"/>
            <a:ext cx="7004304" cy="1426464"/>
            <a:chOff x="0" y="0"/>
            <a:chExt cx="9339072" cy="1901952"/>
          </a:xfrm>
        </p:grpSpPr>
        <p:sp>
          <p:nvSpPr>
            <p:cNvPr name="Freeform 38" id="38"/>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39" id="39"/>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Detects co-occurrence patterns to map how characters interact — visualized as a network graph</a:t>
              </a:r>
            </a:p>
          </p:txBody>
        </p:sp>
      </p:grpSp>
      <p:grpSp>
        <p:nvGrpSpPr>
          <p:cNvPr name="Group 40" id="40"/>
          <p:cNvGrpSpPr/>
          <p:nvPr/>
        </p:nvGrpSpPr>
        <p:grpSpPr>
          <a:xfrm rot="0">
            <a:off x="389639" y="4467863"/>
            <a:ext cx="8529323" cy="2311403"/>
            <a:chOff x="0" y="0"/>
            <a:chExt cx="11372431" cy="3081871"/>
          </a:xfrm>
        </p:grpSpPr>
        <p:sp>
          <p:nvSpPr>
            <p:cNvPr name="Freeform 41" id="41"/>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6161A"/>
            </a:solidFill>
            <a:ln w="25400" cap="sq">
              <a:solidFill>
                <a:srgbClr val="2E2E34"/>
              </a:solidFill>
              <a:prstDash val="solid"/>
              <a:miter/>
            </a:ln>
          </p:spPr>
        </p:sp>
      </p:grpSp>
      <p:grpSp>
        <p:nvGrpSpPr>
          <p:cNvPr name="Group 42" id="42"/>
          <p:cNvGrpSpPr/>
          <p:nvPr/>
        </p:nvGrpSpPr>
        <p:grpSpPr>
          <a:xfrm rot="0">
            <a:off x="572519" y="4650743"/>
            <a:ext cx="1031243" cy="1031243"/>
            <a:chOff x="0" y="0"/>
            <a:chExt cx="1374991" cy="1374991"/>
          </a:xfrm>
        </p:grpSpPr>
        <p:sp>
          <p:nvSpPr>
            <p:cNvPr name="Freeform 43" id="43"/>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44" id="44"/>
          <p:cNvGrpSpPr/>
          <p:nvPr/>
        </p:nvGrpSpPr>
        <p:grpSpPr>
          <a:xfrm rot="0">
            <a:off x="585216" y="4663440"/>
            <a:ext cx="1005840" cy="1005840"/>
            <a:chOff x="0" y="0"/>
            <a:chExt cx="1341120" cy="1341120"/>
          </a:xfrm>
        </p:grpSpPr>
        <p:sp>
          <p:nvSpPr>
            <p:cNvPr name="Freeform 45" id="4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46" id="4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47" id="47"/>
          <p:cNvGrpSpPr/>
          <p:nvPr/>
        </p:nvGrpSpPr>
        <p:grpSpPr>
          <a:xfrm rot="0">
            <a:off x="1719072" y="4626864"/>
            <a:ext cx="7004304" cy="548640"/>
            <a:chOff x="0" y="0"/>
            <a:chExt cx="9339072" cy="731520"/>
          </a:xfrm>
        </p:grpSpPr>
        <p:sp>
          <p:nvSpPr>
            <p:cNvPr name="Freeform 48" id="48"/>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49" id="49"/>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Protagonist Detection</a:t>
              </a:r>
            </a:p>
          </p:txBody>
        </p:sp>
      </p:grpSp>
      <p:grpSp>
        <p:nvGrpSpPr>
          <p:cNvPr name="Group 50" id="50"/>
          <p:cNvGrpSpPr/>
          <p:nvPr/>
        </p:nvGrpSpPr>
        <p:grpSpPr>
          <a:xfrm rot="0">
            <a:off x="1719072" y="5175504"/>
            <a:ext cx="7004304" cy="1426464"/>
            <a:chOff x="0" y="0"/>
            <a:chExt cx="9339072" cy="1901952"/>
          </a:xfrm>
        </p:grpSpPr>
        <p:sp>
          <p:nvSpPr>
            <p:cNvPr name="Freeform 51" id="51"/>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52" id="52"/>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Automatically figures out who the story revolves around using our WAB (Weighted Appearance-Based) scoring formula</a:t>
              </a:r>
            </a:p>
          </p:txBody>
        </p:sp>
      </p:grpSp>
      <p:grpSp>
        <p:nvGrpSpPr>
          <p:cNvPr name="Group 53" id="53"/>
          <p:cNvGrpSpPr/>
          <p:nvPr/>
        </p:nvGrpSpPr>
        <p:grpSpPr>
          <a:xfrm rot="0">
            <a:off x="9222743" y="4467863"/>
            <a:ext cx="8529323" cy="2311403"/>
            <a:chOff x="0" y="0"/>
            <a:chExt cx="11372431" cy="3081871"/>
          </a:xfrm>
        </p:grpSpPr>
        <p:sp>
          <p:nvSpPr>
            <p:cNvPr name="Freeform 54" id="54"/>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A1A1E"/>
            </a:solidFill>
            <a:ln w="25400" cap="sq">
              <a:solidFill>
                <a:srgbClr val="2E2E34"/>
              </a:solidFill>
              <a:prstDash val="solid"/>
              <a:miter/>
            </a:ln>
          </p:spPr>
        </p:sp>
      </p:grpSp>
      <p:grpSp>
        <p:nvGrpSpPr>
          <p:cNvPr name="Group 55" id="55"/>
          <p:cNvGrpSpPr/>
          <p:nvPr/>
        </p:nvGrpSpPr>
        <p:grpSpPr>
          <a:xfrm rot="0">
            <a:off x="9405623" y="4650743"/>
            <a:ext cx="1031243" cy="1031243"/>
            <a:chOff x="0" y="0"/>
            <a:chExt cx="1374991" cy="1374991"/>
          </a:xfrm>
        </p:grpSpPr>
        <p:sp>
          <p:nvSpPr>
            <p:cNvPr name="Freeform 56" id="56"/>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57" id="57"/>
          <p:cNvGrpSpPr/>
          <p:nvPr/>
        </p:nvGrpSpPr>
        <p:grpSpPr>
          <a:xfrm rot="0">
            <a:off x="9418320" y="4663440"/>
            <a:ext cx="1005840" cy="1005840"/>
            <a:chOff x="0" y="0"/>
            <a:chExt cx="1341120" cy="1341120"/>
          </a:xfrm>
        </p:grpSpPr>
        <p:sp>
          <p:nvSpPr>
            <p:cNvPr name="Freeform 58" id="5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59" id="5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60" id="60"/>
          <p:cNvGrpSpPr/>
          <p:nvPr/>
        </p:nvGrpSpPr>
        <p:grpSpPr>
          <a:xfrm rot="0">
            <a:off x="10552176" y="4626864"/>
            <a:ext cx="7004304" cy="548640"/>
            <a:chOff x="0" y="0"/>
            <a:chExt cx="9339072" cy="731520"/>
          </a:xfrm>
        </p:grpSpPr>
        <p:sp>
          <p:nvSpPr>
            <p:cNvPr name="Freeform 61" id="61"/>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62" id="62"/>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Summary &amp; Genre</a:t>
              </a:r>
            </a:p>
          </p:txBody>
        </p:sp>
      </p:grpSp>
      <p:grpSp>
        <p:nvGrpSpPr>
          <p:cNvPr name="Group 63" id="63"/>
          <p:cNvGrpSpPr/>
          <p:nvPr/>
        </p:nvGrpSpPr>
        <p:grpSpPr>
          <a:xfrm rot="0">
            <a:off x="10552176" y="5175504"/>
            <a:ext cx="7004304" cy="1426464"/>
            <a:chOff x="0" y="0"/>
            <a:chExt cx="9339072" cy="1901952"/>
          </a:xfrm>
        </p:grpSpPr>
        <p:sp>
          <p:nvSpPr>
            <p:cNvPr name="Freeform 64" id="64"/>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65" id="65"/>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Generates a concise chapter-level or full-book summary and classifies the genre using Gemini API</a:t>
              </a:r>
            </a:p>
          </p:txBody>
        </p:sp>
      </p:grpSp>
      <p:grpSp>
        <p:nvGrpSpPr>
          <p:cNvPr name="Group 66" id="66"/>
          <p:cNvGrpSpPr/>
          <p:nvPr/>
        </p:nvGrpSpPr>
        <p:grpSpPr>
          <a:xfrm rot="0">
            <a:off x="389639" y="7119623"/>
            <a:ext cx="8529323" cy="2311403"/>
            <a:chOff x="0" y="0"/>
            <a:chExt cx="11372431" cy="3081871"/>
          </a:xfrm>
        </p:grpSpPr>
        <p:sp>
          <p:nvSpPr>
            <p:cNvPr name="Freeform 67" id="67"/>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6161A"/>
            </a:solidFill>
            <a:ln w="25400" cap="sq">
              <a:solidFill>
                <a:srgbClr val="2E2E34"/>
              </a:solidFill>
              <a:prstDash val="solid"/>
              <a:miter/>
            </a:ln>
          </p:spPr>
        </p:sp>
      </p:grpSp>
      <p:grpSp>
        <p:nvGrpSpPr>
          <p:cNvPr name="Group 68" id="68"/>
          <p:cNvGrpSpPr/>
          <p:nvPr/>
        </p:nvGrpSpPr>
        <p:grpSpPr>
          <a:xfrm rot="0">
            <a:off x="572519" y="7302503"/>
            <a:ext cx="1031243" cy="1031243"/>
            <a:chOff x="0" y="0"/>
            <a:chExt cx="1374991" cy="1374991"/>
          </a:xfrm>
        </p:grpSpPr>
        <p:sp>
          <p:nvSpPr>
            <p:cNvPr name="Freeform 69" id="69"/>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70" id="70"/>
          <p:cNvGrpSpPr/>
          <p:nvPr/>
        </p:nvGrpSpPr>
        <p:grpSpPr>
          <a:xfrm rot="0">
            <a:off x="585216" y="7315200"/>
            <a:ext cx="1005840" cy="1005840"/>
            <a:chOff x="0" y="0"/>
            <a:chExt cx="1341120" cy="1341120"/>
          </a:xfrm>
        </p:grpSpPr>
        <p:sp>
          <p:nvSpPr>
            <p:cNvPr name="Freeform 71" id="71"/>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72" id="72"/>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73" id="73"/>
          <p:cNvGrpSpPr/>
          <p:nvPr/>
        </p:nvGrpSpPr>
        <p:grpSpPr>
          <a:xfrm rot="0">
            <a:off x="1719072" y="7278624"/>
            <a:ext cx="7004304" cy="548640"/>
            <a:chOff x="0" y="0"/>
            <a:chExt cx="9339072" cy="731520"/>
          </a:xfrm>
        </p:grpSpPr>
        <p:sp>
          <p:nvSpPr>
            <p:cNvPr name="Freeform 74" id="74"/>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75" id="75"/>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Corpus Evaluation</a:t>
              </a:r>
            </a:p>
          </p:txBody>
        </p:sp>
      </p:grpSp>
      <p:grpSp>
        <p:nvGrpSpPr>
          <p:cNvPr name="Group 76" id="76"/>
          <p:cNvGrpSpPr/>
          <p:nvPr/>
        </p:nvGrpSpPr>
        <p:grpSpPr>
          <a:xfrm rot="0">
            <a:off x="1719072" y="7827264"/>
            <a:ext cx="7004304" cy="1426464"/>
            <a:chOff x="0" y="0"/>
            <a:chExt cx="9339072" cy="1901952"/>
          </a:xfrm>
        </p:grpSpPr>
        <p:sp>
          <p:nvSpPr>
            <p:cNvPr name="Freeform 77" id="77"/>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78" id="78"/>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Analyzes writing style metrics — sentence length, vocabulary richness, readability scores</a:t>
              </a:r>
            </a:p>
          </p:txBody>
        </p:sp>
      </p:grpSp>
      <p:grpSp>
        <p:nvGrpSpPr>
          <p:cNvPr name="Group 79" id="79"/>
          <p:cNvGrpSpPr/>
          <p:nvPr/>
        </p:nvGrpSpPr>
        <p:grpSpPr>
          <a:xfrm rot="0">
            <a:off x="9222743" y="7119623"/>
            <a:ext cx="8529323" cy="2311403"/>
            <a:chOff x="0" y="0"/>
            <a:chExt cx="11372431" cy="3081871"/>
          </a:xfrm>
        </p:grpSpPr>
        <p:sp>
          <p:nvSpPr>
            <p:cNvPr name="Freeform 80" id="80"/>
            <p:cNvSpPr/>
            <p:nvPr/>
          </p:nvSpPr>
          <p:spPr>
            <a:xfrm flipH="false" flipV="false" rot="0">
              <a:off x="0" y="0"/>
              <a:ext cx="11372469" cy="3081909"/>
            </a:xfrm>
            <a:custGeom>
              <a:avLst/>
              <a:gdLst/>
              <a:ahLst/>
              <a:cxnLst/>
              <a:rect r="r" b="b" t="t" l="l"/>
              <a:pathLst>
                <a:path h="3081909" w="11372469">
                  <a:moveTo>
                    <a:pt x="0" y="0"/>
                  </a:moveTo>
                  <a:lnTo>
                    <a:pt x="11372469" y="0"/>
                  </a:lnTo>
                  <a:lnTo>
                    <a:pt x="11372469" y="3081909"/>
                  </a:lnTo>
                  <a:lnTo>
                    <a:pt x="0" y="3081909"/>
                  </a:lnTo>
                  <a:close/>
                </a:path>
              </a:pathLst>
            </a:custGeom>
            <a:solidFill>
              <a:srgbClr val="1A1A1E"/>
            </a:solidFill>
            <a:ln w="25400" cap="sq">
              <a:solidFill>
                <a:srgbClr val="2E2E34"/>
              </a:solidFill>
              <a:prstDash val="solid"/>
              <a:miter/>
            </a:ln>
          </p:spPr>
        </p:sp>
      </p:grpSp>
      <p:grpSp>
        <p:nvGrpSpPr>
          <p:cNvPr name="Group 81" id="81"/>
          <p:cNvGrpSpPr/>
          <p:nvPr/>
        </p:nvGrpSpPr>
        <p:grpSpPr>
          <a:xfrm rot="0">
            <a:off x="9405623" y="7302503"/>
            <a:ext cx="1031243" cy="1031243"/>
            <a:chOff x="0" y="0"/>
            <a:chExt cx="1374991" cy="1374991"/>
          </a:xfrm>
        </p:grpSpPr>
        <p:sp>
          <p:nvSpPr>
            <p:cNvPr name="Freeform 82" id="82"/>
            <p:cNvSpPr/>
            <p:nvPr/>
          </p:nvSpPr>
          <p:spPr>
            <a:xfrm flipH="false" flipV="false" rot="0">
              <a:off x="0" y="0"/>
              <a:ext cx="1374902" cy="1374902"/>
            </a:xfrm>
            <a:custGeom>
              <a:avLst/>
              <a:gdLst/>
              <a:ahLst/>
              <a:cxnLst/>
              <a:rect r="r" b="b" t="t" l="l"/>
              <a:pathLst>
                <a:path h="1374902" w="1374902">
                  <a:moveTo>
                    <a:pt x="0" y="687451"/>
                  </a:moveTo>
                  <a:cubicBezTo>
                    <a:pt x="0" y="307848"/>
                    <a:pt x="307848" y="0"/>
                    <a:pt x="687451" y="0"/>
                  </a:cubicBezTo>
                  <a:cubicBezTo>
                    <a:pt x="1067054" y="0"/>
                    <a:pt x="1374902" y="307848"/>
                    <a:pt x="1374902" y="687451"/>
                  </a:cubicBezTo>
                  <a:cubicBezTo>
                    <a:pt x="1374902" y="1067054"/>
                    <a:pt x="1067054" y="1374902"/>
                    <a:pt x="687451" y="1374902"/>
                  </a:cubicBezTo>
                  <a:cubicBezTo>
                    <a:pt x="307848" y="1374902"/>
                    <a:pt x="0" y="1067181"/>
                    <a:pt x="0" y="687451"/>
                  </a:cubicBezTo>
                  <a:close/>
                </a:path>
              </a:pathLst>
            </a:custGeom>
            <a:solidFill>
              <a:srgbClr val="2B2B30"/>
            </a:solidFill>
            <a:ln w="25400" cap="sq">
              <a:solidFill>
                <a:srgbClr val="2B2B30"/>
              </a:solidFill>
              <a:prstDash val="solid"/>
              <a:miter/>
            </a:ln>
          </p:spPr>
        </p:sp>
      </p:grpSp>
      <p:grpSp>
        <p:nvGrpSpPr>
          <p:cNvPr name="Group 83" id="83"/>
          <p:cNvGrpSpPr/>
          <p:nvPr/>
        </p:nvGrpSpPr>
        <p:grpSpPr>
          <a:xfrm rot="0">
            <a:off x="9418320" y="7315200"/>
            <a:ext cx="1005840" cy="1005840"/>
            <a:chOff x="0" y="0"/>
            <a:chExt cx="1341120" cy="1341120"/>
          </a:xfrm>
        </p:grpSpPr>
        <p:sp>
          <p:nvSpPr>
            <p:cNvPr name="Freeform 84" id="84"/>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2">
                <a:alphaModFix amt="0"/>
              </a:blip>
              <a:stretch>
                <a:fillRect l="-78303" t="0" r="-78303" b="0"/>
              </a:stretch>
            </a:blipFill>
          </p:spPr>
        </p:sp>
        <p:sp>
          <p:nvSpPr>
            <p:cNvPr name="TextBox 85" id="85"/>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a:solidFill>
                    <a:srgbClr val="FFFFFF"/>
                  </a:solidFill>
                  <a:latin typeface="Calibri (MS)"/>
                  <a:ea typeface="Calibri (MS)"/>
                  <a:cs typeface="Calibri (MS)"/>
                  <a:sym typeface="Calibri (MS)"/>
                </a:rPr>
                <a:t>🎯</a:t>
              </a:r>
            </a:p>
          </p:txBody>
        </p:sp>
      </p:grpSp>
      <p:grpSp>
        <p:nvGrpSpPr>
          <p:cNvPr name="Group 86" id="86"/>
          <p:cNvGrpSpPr/>
          <p:nvPr/>
        </p:nvGrpSpPr>
        <p:grpSpPr>
          <a:xfrm rot="0">
            <a:off x="10552176" y="7278624"/>
            <a:ext cx="7004304" cy="548640"/>
            <a:chOff x="0" y="0"/>
            <a:chExt cx="9339072" cy="731520"/>
          </a:xfrm>
        </p:grpSpPr>
        <p:sp>
          <p:nvSpPr>
            <p:cNvPr name="Freeform 87" id="87"/>
            <p:cNvSpPr/>
            <p:nvPr/>
          </p:nvSpPr>
          <p:spPr>
            <a:xfrm flipH="false" flipV="false" rot="0">
              <a:off x="0" y="0"/>
              <a:ext cx="9339072" cy="731520"/>
            </a:xfrm>
            <a:custGeom>
              <a:avLst/>
              <a:gdLst/>
              <a:ahLst/>
              <a:cxnLst/>
              <a:rect r="r" b="b" t="t" l="l"/>
              <a:pathLst>
                <a:path h="731520" w="9339072">
                  <a:moveTo>
                    <a:pt x="0" y="0"/>
                  </a:moveTo>
                  <a:lnTo>
                    <a:pt x="9339072" y="0"/>
                  </a:lnTo>
                  <a:lnTo>
                    <a:pt x="9339072" y="731520"/>
                  </a:lnTo>
                  <a:lnTo>
                    <a:pt x="0" y="731520"/>
                  </a:lnTo>
                  <a:close/>
                </a:path>
              </a:pathLst>
            </a:custGeom>
            <a:blipFill>
              <a:blip r:embed="rId2">
                <a:alphaModFix amt="0"/>
              </a:blip>
              <a:stretch>
                <a:fillRect l="0" t="-198758" r="0" b="-198758"/>
              </a:stretch>
            </a:blipFill>
          </p:spPr>
        </p:sp>
        <p:sp>
          <p:nvSpPr>
            <p:cNvPr name="TextBox 88" id="88"/>
            <p:cNvSpPr txBox="true"/>
            <p:nvPr/>
          </p:nvSpPr>
          <p:spPr>
            <a:xfrm>
              <a:off x="0" y="-9525"/>
              <a:ext cx="9339072" cy="74104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Reading Recommendations</a:t>
              </a:r>
            </a:p>
          </p:txBody>
        </p:sp>
      </p:grpSp>
      <p:grpSp>
        <p:nvGrpSpPr>
          <p:cNvPr name="Group 89" id="89"/>
          <p:cNvGrpSpPr/>
          <p:nvPr/>
        </p:nvGrpSpPr>
        <p:grpSpPr>
          <a:xfrm rot="0">
            <a:off x="10552176" y="7827264"/>
            <a:ext cx="7004304" cy="1426464"/>
            <a:chOff x="0" y="0"/>
            <a:chExt cx="9339072" cy="1901952"/>
          </a:xfrm>
        </p:grpSpPr>
        <p:sp>
          <p:nvSpPr>
            <p:cNvPr name="Freeform 90" id="90"/>
            <p:cNvSpPr/>
            <p:nvPr/>
          </p:nvSpPr>
          <p:spPr>
            <a:xfrm flipH="false" flipV="false" rot="0">
              <a:off x="0" y="0"/>
              <a:ext cx="9339072" cy="1901952"/>
            </a:xfrm>
            <a:custGeom>
              <a:avLst/>
              <a:gdLst/>
              <a:ahLst/>
              <a:cxnLst/>
              <a:rect r="r" b="b" t="t" l="l"/>
              <a:pathLst>
                <a:path h="1901952" w="9339072">
                  <a:moveTo>
                    <a:pt x="0" y="0"/>
                  </a:moveTo>
                  <a:lnTo>
                    <a:pt x="9339072" y="0"/>
                  </a:lnTo>
                  <a:lnTo>
                    <a:pt x="9339072" y="1901952"/>
                  </a:lnTo>
                  <a:lnTo>
                    <a:pt x="0" y="1901952"/>
                  </a:lnTo>
                  <a:close/>
                </a:path>
              </a:pathLst>
            </a:custGeom>
            <a:blipFill>
              <a:blip r:embed="rId2">
                <a:alphaModFix amt="0"/>
              </a:blip>
              <a:stretch>
                <a:fillRect l="0" t="-45676" r="0" b="-45676"/>
              </a:stretch>
            </a:blipFill>
          </p:spPr>
        </p:sp>
        <p:sp>
          <p:nvSpPr>
            <p:cNvPr name="TextBox 91" id="91"/>
            <p:cNvSpPr txBox="true"/>
            <p:nvPr/>
          </p:nvSpPr>
          <p:spPr>
            <a:xfrm>
              <a:off x="0" y="-47625"/>
              <a:ext cx="9339072" cy="1949577"/>
            </a:xfrm>
            <a:prstGeom prst="rect">
              <a:avLst/>
            </a:prstGeom>
          </p:spPr>
          <p:txBody>
            <a:bodyPr anchor="ctr" rtlCol="false" tIns="0" lIns="0" bIns="0" rIns="0"/>
            <a:lstStyle/>
            <a:p>
              <a:pPr algn="l">
                <a:lnSpc>
                  <a:spcPts val="2520"/>
                </a:lnSpc>
              </a:pPr>
              <a:r>
                <a:rPr lang="en-US" sz="2100">
                  <a:solidFill>
                    <a:srgbClr val="D9D9D9"/>
                  </a:solidFill>
                  <a:latin typeface="Calibri (MS)"/>
                  <a:ea typeface="Calibri (MS)"/>
                  <a:cs typeface="Calibri (MS)"/>
                  <a:sym typeface="Calibri (MS)"/>
                </a:rPr>
                <a:t>Suggests similar books using a content-based filtering model trained on the user's reading history</a:t>
              </a:r>
            </a:p>
          </p:txBody>
        </p:sp>
      </p:grpSp>
      <p:sp>
        <p:nvSpPr>
          <p:cNvPr name="TextBox 92" id="92"/>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System Architecture</a:t>
              </a:r>
            </a:p>
          </p:txBody>
        </p:sp>
      </p:grpSp>
      <p:grpSp>
        <p:nvGrpSpPr>
          <p:cNvPr name="Group 14" id="14"/>
          <p:cNvGrpSpPr/>
          <p:nvPr/>
        </p:nvGrpSpPr>
        <p:grpSpPr>
          <a:xfrm rot="0">
            <a:off x="535943" y="1779527"/>
            <a:ext cx="17033243" cy="1305563"/>
            <a:chOff x="0" y="0"/>
            <a:chExt cx="22710991" cy="1740751"/>
          </a:xfrm>
        </p:grpSpPr>
        <p:sp>
          <p:nvSpPr>
            <p:cNvPr name="Freeform 15" id="15"/>
            <p:cNvSpPr/>
            <p:nvPr/>
          </p:nvSpPr>
          <p:spPr>
            <a:xfrm flipH="false" flipV="false" rot="0">
              <a:off x="0" y="0"/>
              <a:ext cx="22711029" cy="1740789"/>
            </a:xfrm>
            <a:custGeom>
              <a:avLst/>
              <a:gdLst/>
              <a:ahLst/>
              <a:cxnLst/>
              <a:rect r="r" b="b" t="t" l="l"/>
              <a:pathLst>
                <a:path h="1740789" w="22711029">
                  <a:moveTo>
                    <a:pt x="0" y="0"/>
                  </a:moveTo>
                  <a:lnTo>
                    <a:pt x="22711029" y="0"/>
                  </a:lnTo>
                  <a:lnTo>
                    <a:pt x="22711029" y="1740789"/>
                  </a:lnTo>
                  <a:lnTo>
                    <a:pt x="0" y="1740789"/>
                  </a:lnTo>
                  <a:close/>
                </a:path>
              </a:pathLst>
            </a:custGeom>
            <a:solidFill>
              <a:srgbClr val="D63C3C"/>
            </a:solidFill>
            <a:ln w="25400" cap="sq">
              <a:solidFill>
                <a:srgbClr val="FF5757"/>
              </a:solidFill>
              <a:prstDash val="solid"/>
              <a:miter/>
            </a:ln>
          </p:spPr>
        </p:sp>
      </p:grpSp>
      <p:grpSp>
        <p:nvGrpSpPr>
          <p:cNvPr name="Group 16" id="16"/>
          <p:cNvGrpSpPr/>
          <p:nvPr/>
        </p:nvGrpSpPr>
        <p:grpSpPr>
          <a:xfrm rot="0">
            <a:off x="694944" y="1865376"/>
            <a:ext cx="5486400" cy="640080"/>
            <a:chOff x="0" y="0"/>
            <a:chExt cx="7315200" cy="853440"/>
          </a:xfrm>
        </p:grpSpPr>
        <p:sp>
          <p:nvSpPr>
            <p:cNvPr name="Freeform 17" id="17"/>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7014" r="0" b="-117014"/>
              </a:stretch>
            </a:blipFill>
          </p:spPr>
        </p:sp>
        <p:sp>
          <p:nvSpPr>
            <p:cNvPr name="TextBox 18" id="18"/>
            <p:cNvSpPr txBox="true"/>
            <p:nvPr/>
          </p:nvSpPr>
          <p:spPr>
            <a:xfrm>
              <a:off x="0" y="-9525"/>
              <a:ext cx="73152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User Interface Layer</a:t>
              </a:r>
            </a:p>
          </p:txBody>
        </p:sp>
      </p:grpSp>
      <p:grpSp>
        <p:nvGrpSpPr>
          <p:cNvPr name="Group 19" id="19"/>
          <p:cNvGrpSpPr/>
          <p:nvPr/>
        </p:nvGrpSpPr>
        <p:grpSpPr>
          <a:xfrm rot="0">
            <a:off x="6309360" y="2011680"/>
            <a:ext cx="73152" cy="841248"/>
            <a:chOff x="0" y="0"/>
            <a:chExt cx="97536" cy="1121664"/>
          </a:xfrm>
        </p:grpSpPr>
        <p:sp>
          <p:nvSpPr>
            <p:cNvPr name="Freeform 20" id="20"/>
            <p:cNvSpPr/>
            <p:nvPr/>
          </p:nvSpPr>
          <p:spPr>
            <a:xfrm flipH="false" flipV="false" rot="0">
              <a:off x="0" y="0"/>
              <a:ext cx="97536" cy="1121664"/>
            </a:xfrm>
            <a:custGeom>
              <a:avLst/>
              <a:gdLst/>
              <a:ahLst/>
              <a:cxnLst/>
              <a:rect r="r" b="b" t="t" l="l"/>
              <a:pathLst>
                <a:path h="1121664" w="97536">
                  <a:moveTo>
                    <a:pt x="0" y="0"/>
                  </a:moveTo>
                  <a:lnTo>
                    <a:pt x="97536" y="0"/>
                  </a:lnTo>
                  <a:lnTo>
                    <a:pt x="97536" y="1121664"/>
                  </a:lnTo>
                  <a:lnTo>
                    <a:pt x="0" y="1121664"/>
                  </a:lnTo>
                  <a:close/>
                </a:path>
              </a:pathLst>
            </a:custGeom>
            <a:solidFill>
              <a:srgbClr val="2A2A2E"/>
            </a:solidFill>
          </p:spPr>
        </p:sp>
      </p:grpSp>
      <p:grpSp>
        <p:nvGrpSpPr>
          <p:cNvPr name="Group 21" id="21"/>
          <p:cNvGrpSpPr/>
          <p:nvPr/>
        </p:nvGrpSpPr>
        <p:grpSpPr>
          <a:xfrm rot="0">
            <a:off x="6583680" y="1975104"/>
            <a:ext cx="10698480" cy="914400"/>
            <a:chOff x="0" y="0"/>
            <a:chExt cx="14264640" cy="1219200"/>
          </a:xfrm>
        </p:grpSpPr>
        <p:sp>
          <p:nvSpPr>
            <p:cNvPr name="Freeform 22" id="22"/>
            <p:cNvSpPr/>
            <p:nvPr/>
          </p:nvSpPr>
          <p:spPr>
            <a:xfrm flipH="false" flipV="false" rot="0">
              <a:off x="0" y="0"/>
              <a:ext cx="14264639" cy="1219200"/>
            </a:xfrm>
            <a:custGeom>
              <a:avLst/>
              <a:gdLst/>
              <a:ahLst/>
              <a:cxnLst/>
              <a:rect r="r" b="b" t="t" l="l"/>
              <a:pathLst>
                <a:path h="1219200" w="14264639">
                  <a:moveTo>
                    <a:pt x="0" y="0"/>
                  </a:moveTo>
                  <a:lnTo>
                    <a:pt x="14264639" y="0"/>
                  </a:lnTo>
                  <a:lnTo>
                    <a:pt x="14264639" y="1219200"/>
                  </a:lnTo>
                  <a:lnTo>
                    <a:pt x="0" y="1219200"/>
                  </a:lnTo>
                  <a:close/>
                </a:path>
              </a:pathLst>
            </a:custGeom>
            <a:blipFill>
              <a:blip r:embed="rId2">
                <a:alphaModFix amt="0"/>
              </a:blip>
              <a:stretch>
                <a:fillRect l="0" t="-177974" r="0" b="-177974"/>
              </a:stretch>
            </a:blipFill>
          </p:spPr>
        </p:sp>
        <p:sp>
          <p:nvSpPr>
            <p:cNvPr name="TextBox 23" id="23"/>
            <p:cNvSpPr txBox="true"/>
            <p:nvPr/>
          </p:nvSpPr>
          <p:spPr>
            <a:xfrm>
              <a:off x="0" y="-47625"/>
              <a:ext cx="14264640" cy="1266825"/>
            </a:xfrm>
            <a:prstGeom prst="rect">
              <a:avLst/>
            </a:prstGeom>
          </p:spPr>
          <p:txBody>
            <a:bodyPr anchor="ctr" rtlCol="false" tIns="0" lIns="0" bIns="0" rIns="0"/>
            <a:lstStyle/>
            <a:p>
              <a:pPr algn="l">
                <a:lnSpc>
                  <a:spcPts val="2639"/>
                </a:lnSpc>
              </a:pPr>
              <a:r>
                <a:rPr lang="en-US" sz="2199">
                  <a:solidFill>
                    <a:srgbClr val="EEEEEE"/>
                  </a:solidFill>
                  <a:latin typeface="Calibri (MS)"/>
                  <a:ea typeface="Calibri (MS)"/>
                  <a:cs typeface="Calibri (MS)"/>
                  <a:sym typeface="Calibri (MS)"/>
                </a:rPr>
                <a:t>Streamlit Web App  |  File Upload  |  Interactive Charts</a:t>
              </a:r>
            </a:p>
          </p:txBody>
        </p:sp>
      </p:grpSp>
      <p:grpSp>
        <p:nvGrpSpPr>
          <p:cNvPr name="Group 24" id="24"/>
          <p:cNvGrpSpPr/>
          <p:nvPr/>
        </p:nvGrpSpPr>
        <p:grpSpPr>
          <a:xfrm rot="0">
            <a:off x="8686800" y="3108960"/>
            <a:ext cx="914400" cy="201168"/>
            <a:chOff x="0" y="0"/>
            <a:chExt cx="1219200" cy="268224"/>
          </a:xfrm>
        </p:grpSpPr>
        <p:sp>
          <p:nvSpPr>
            <p:cNvPr name="Freeform 25" id="25"/>
            <p:cNvSpPr/>
            <p:nvPr/>
          </p:nvSpPr>
          <p:spPr>
            <a:xfrm flipH="false" flipV="false" rot="0">
              <a:off x="0" y="0"/>
              <a:ext cx="1219200" cy="268224"/>
            </a:xfrm>
            <a:custGeom>
              <a:avLst/>
              <a:gdLst/>
              <a:ahLst/>
              <a:cxnLst/>
              <a:rect r="r" b="b" t="t" l="l"/>
              <a:pathLst>
                <a:path h="268224" w="1219200">
                  <a:moveTo>
                    <a:pt x="0" y="0"/>
                  </a:moveTo>
                  <a:lnTo>
                    <a:pt x="1219200" y="0"/>
                  </a:lnTo>
                  <a:lnTo>
                    <a:pt x="1219200" y="268224"/>
                  </a:lnTo>
                  <a:lnTo>
                    <a:pt x="0" y="268224"/>
                  </a:lnTo>
                  <a:close/>
                </a:path>
              </a:pathLst>
            </a:custGeom>
            <a:solidFill>
              <a:srgbClr val="55555A"/>
            </a:solidFill>
          </p:spPr>
        </p:sp>
      </p:grpSp>
      <p:grpSp>
        <p:nvGrpSpPr>
          <p:cNvPr name="Group 26" id="26"/>
          <p:cNvGrpSpPr/>
          <p:nvPr/>
        </p:nvGrpSpPr>
        <p:grpSpPr>
          <a:xfrm rot="0">
            <a:off x="535943" y="3334007"/>
            <a:ext cx="17033243" cy="1305563"/>
            <a:chOff x="0" y="0"/>
            <a:chExt cx="22710991" cy="1740751"/>
          </a:xfrm>
        </p:grpSpPr>
        <p:sp>
          <p:nvSpPr>
            <p:cNvPr name="Freeform 27" id="27"/>
            <p:cNvSpPr/>
            <p:nvPr/>
          </p:nvSpPr>
          <p:spPr>
            <a:xfrm flipH="false" flipV="false" rot="0">
              <a:off x="0" y="0"/>
              <a:ext cx="22711029" cy="1740789"/>
            </a:xfrm>
            <a:custGeom>
              <a:avLst/>
              <a:gdLst/>
              <a:ahLst/>
              <a:cxnLst/>
              <a:rect r="r" b="b" t="t" l="l"/>
              <a:pathLst>
                <a:path h="1740789" w="22711029">
                  <a:moveTo>
                    <a:pt x="0" y="0"/>
                  </a:moveTo>
                  <a:lnTo>
                    <a:pt x="22711029" y="0"/>
                  </a:lnTo>
                  <a:lnTo>
                    <a:pt x="22711029" y="1740789"/>
                  </a:lnTo>
                  <a:lnTo>
                    <a:pt x="0" y="1740789"/>
                  </a:lnTo>
                  <a:close/>
                </a:path>
              </a:pathLst>
            </a:custGeom>
            <a:solidFill>
              <a:srgbClr val="B83232"/>
            </a:solidFill>
            <a:ln w="25400" cap="sq">
              <a:solidFill>
                <a:srgbClr val="C94545"/>
              </a:solidFill>
              <a:prstDash val="solid"/>
              <a:miter/>
            </a:ln>
          </p:spPr>
        </p:sp>
      </p:grpSp>
      <p:grpSp>
        <p:nvGrpSpPr>
          <p:cNvPr name="Group 28" id="28"/>
          <p:cNvGrpSpPr/>
          <p:nvPr/>
        </p:nvGrpSpPr>
        <p:grpSpPr>
          <a:xfrm rot="0">
            <a:off x="694944" y="3419856"/>
            <a:ext cx="5486400" cy="640080"/>
            <a:chOff x="0" y="0"/>
            <a:chExt cx="7315200" cy="853440"/>
          </a:xfrm>
        </p:grpSpPr>
        <p:sp>
          <p:nvSpPr>
            <p:cNvPr name="Freeform 29" id="29"/>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7014" r="0" b="-117014"/>
              </a:stretch>
            </a:blipFill>
          </p:spPr>
        </p:sp>
        <p:sp>
          <p:nvSpPr>
            <p:cNvPr name="TextBox 30" id="30"/>
            <p:cNvSpPr txBox="true"/>
            <p:nvPr/>
          </p:nvSpPr>
          <p:spPr>
            <a:xfrm>
              <a:off x="0" y="-9525"/>
              <a:ext cx="73152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Processing &amp; API Layer</a:t>
              </a:r>
            </a:p>
          </p:txBody>
        </p:sp>
      </p:grpSp>
      <p:grpSp>
        <p:nvGrpSpPr>
          <p:cNvPr name="Group 31" id="31"/>
          <p:cNvGrpSpPr/>
          <p:nvPr/>
        </p:nvGrpSpPr>
        <p:grpSpPr>
          <a:xfrm rot="0">
            <a:off x="6309360" y="3566160"/>
            <a:ext cx="73152" cy="841248"/>
            <a:chOff x="0" y="0"/>
            <a:chExt cx="97536" cy="1121664"/>
          </a:xfrm>
        </p:grpSpPr>
        <p:sp>
          <p:nvSpPr>
            <p:cNvPr name="Freeform 32" id="32"/>
            <p:cNvSpPr/>
            <p:nvPr/>
          </p:nvSpPr>
          <p:spPr>
            <a:xfrm flipH="false" flipV="false" rot="0">
              <a:off x="0" y="0"/>
              <a:ext cx="97536" cy="1121664"/>
            </a:xfrm>
            <a:custGeom>
              <a:avLst/>
              <a:gdLst/>
              <a:ahLst/>
              <a:cxnLst/>
              <a:rect r="r" b="b" t="t" l="l"/>
              <a:pathLst>
                <a:path h="1121664" w="97536">
                  <a:moveTo>
                    <a:pt x="0" y="0"/>
                  </a:moveTo>
                  <a:lnTo>
                    <a:pt x="97536" y="0"/>
                  </a:lnTo>
                  <a:lnTo>
                    <a:pt x="97536" y="1121664"/>
                  </a:lnTo>
                  <a:lnTo>
                    <a:pt x="0" y="1121664"/>
                  </a:lnTo>
                  <a:close/>
                </a:path>
              </a:pathLst>
            </a:custGeom>
            <a:solidFill>
              <a:srgbClr val="2A2A2E"/>
            </a:solidFill>
          </p:spPr>
        </p:sp>
      </p:grpSp>
      <p:grpSp>
        <p:nvGrpSpPr>
          <p:cNvPr name="Group 33" id="33"/>
          <p:cNvGrpSpPr/>
          <p:nvPr/>
        </p:nvGrpSpPr>
        <p:grpSpPr>
          <a:xfrm rot="0">
            <a:off x="6583680" y="3529584"/>
            <a:ext cx="10698480" cy="914400"/>
            <a:chOff x="0" y="0"/>
            <a:chExt cx="14264640" cy="1219200"/>
          </a:xfrm>
        </p:grpSpPr>
        <p:sp>
          <p:nvSpPr>
            <p:cNvPr name="Freeform 34" id="34"/>
            <p:cNvSpPr/>
            <p:nvPr/>
          </p:nvSpPr>
          <p:spPr>
            <a:xfrm flipH="false" flipV="false" rot="0">
              <a:off x="0" y="0"/>
              <a:ext cx="14264639" cy="1219200"/>
            </a:xfrm>
            <a:custGeom>
              <a:avLst/>
              <a:gdLst/>
              <a:ahLst/>
              <a:cxnLst/>
              <a:rect r="r" b="b" t="t" l="l"/>
              <a:pathLst>
                <a:path h="1219200" w="14264639">
                  <a:moveTo>
                    <a:pt x="0" y="0"/>
                  </a:moveTo>
                  <a:lnTo>
                    <a:pt x="14264639" y="0"/>
                  </a:lnTo>
                  <a:lnTo>
                    <a:pt x="14264639" y="1219200"/>
                  </a:lnTo>
                  <a:lnTo>
                    <a:pt x="0" y="1219200"/>
                  </a:lnTo>
                  <a:close/>
                </a:path>
              </a:pathLst>
            </a:custGeom>
            <a:blipFill>
              <a:blip r:embed="rId2">
                <a:alphaModFix amt="0"/>
              </a:blip>
              <a:stretch>
                <a:fillRect l="0" t="-177974" r="0" b="-177974"/>
              </a:stretch>
            </a:blipFill>
          </p:spPr>
        </p:sp>
        <p:sp>
          <p:nvSpPr>
            <p:cNvPr name="TextBox 35" id="35"/>
            <p:cNvSpPr txBox="true"/>
            <p:nvPr/>
          </p:nvSpPr>
          <p:spPr>
            <a:xfrm>
              <a:off x="0" y="-47625"/>
              <a:ext cx="14264640" cy="1266825"/>
            </a:xfrm>
            <a:prstGeom prst="rect">
              <a:avLst/>
            </a:prstGeom>
          </p:spPr>
          <p:txBody>
            <a:bodyPr anchor="ctr" rtlCol="false" tIns="0" lIns="0" bIns="0" rIns="0"/>
            <a:lstStyle/>
            <a:p>
              <a:pPr algn="l">
                <a:lnSpc>
                  <a:spcPts val="2639"/>
                </a:lnSpc>
              </a:pPr>
              <a:r>
                <a:rPr lang="en-US" sz="2199">
                  <a:solidFill>
                    <a:srgbClr val="EEEEEE"/>
                  </a:solidFill>
                  <a:latin typeface="Calibri (MS)"/>
                  <a:ea typeface="Calibri (MS)"/>
                  <a:cs typeface="Calibri (MS)"/>
                  <a:sym typeface="Calibri (MS)"/>
                </a:rPr>
                <a:t>Gemini API  |  spaCy NER  |  CoreNLP  |  NetworkX</a:t>
              </a:r>
            </a:p>
          </p:txBody>
        </p:sp>
      </p:grpSp>
      <p:grpSp>
        <p:nvGrpSpPr>
          <p:cNvPr name="Group 36" id="36"/>
          <p:cNvGrpSpPr/>
          <p:nvPr/>
        </p:nvGrpSpPr>
        <p:grpSpPr>
          <a:xfrm rot="0">
            <a:off x="8686800" y="4663440"/>
            <a:ext cx="914400" cy="201168"/>
            <a:chOff x="0" y="0"/>
            <a:chExt cx="1219200" cy="268224"/>
          </a:xfrm>
        </p:grpSpPr>
        <p:sp>
          <p:nvSpPr>
            <p:cNvPr name="Freeform 37" id="37"/>
            <p:cNvSpPr/>
            <p:nvPr/>
          </p:nvSpPr>
          <p:spPr>
            <a:xfrm flipH="false" flipV="false" rot="0">
              <a:off x="0" y="0"/>
              <a:ext cx="1219200" cy="268224"/>
            </a:xfrm>
            <a:custGeom>
              <a:avLst/>
              <a:gdLst/>
              <a:ahLst/>
              <a:cxnLst/>
              <a:rect r="r" b="b" t="t" l="l"/>
              <a:pathLst>
                <a:path h="268224" w="1219200">
                  <a:moveTo>
                    <a:pt x="0" y="0"/>
                  </a:moveTo>
                  <a:lnTo>
                    <a:pt x="1219200" y="0"/>
                  </a:lnTo>
                  <a:lnTo>
                    <a:pt x="1219200" y="268224"/>
                  </a:lnTo>
                  <a:lnTo>
                    <a:pt x="0" y="268224"/>
                  </a:lnTo>
                  <a:close/>
                </a:path>
              </a:pathLst>
            </a:custGeom>
            <a:solidFill>
              <a:srgbClr val="55555A"/>
            </a:solidFill>
          </p:spPr>
        </p:sp>
      </p:grpSp>
      <p:grpSp>
        <p:nvGrpSpPr>
          <p:cNvPr name="Group 38" id="38"/>
          <p:cNvGrpSpPr/>
          <p:nvPr/>
        </p:nvGrpSpPr>
        <p:grpSpPr>
          <a:xfrm rot="0">
            <a:off x="535943" y="4888487"/>
            <a:ext cx="17033243" cy="1305563"/>
            <a:chOff x="0" y="0"/>
            <a:chExt cx="22710991" cy="1740751"/>
          </a:xfrm>
        </p:grpSpPr>
        <p:sp>
          <p:nvSpPr>
            <p:cNvPr name="Freeform 39" id="39"/>
            <p:cNvSpPr/>
            <p:nvPr/>
          </p:nvSpPr>
          <p:spPr>
            <a:xfrm flipH="false" flipV="false" rot="0">
              <a:off x="0" y="0"/>
              <a:ext cx="22711029" cy="1740789"/>
            </a:xfrm>
            <a:custGeom>
              <a:avLst/>
              <a:gdLst/>
              <a:ahLst/>
              <a:cxnLst/>
              <a:rect r="r" b="b" t="t" l="l"/>
              <a:pathLst>
                <a:path h="1740789" w="22711029">
                  <a:moveTo>
                    <a:pt x="0" y="0"/>
                  </a:moveTo>
                  <a:lnTo>
                    <a:pt x="22711029" y="0"/>
                  </a:lnTo>
                  <a:lnTo>
                    <a:pt x="22711029" y="1740789"/>
                  </a:lnTo>
                  <a:lnTo>
                    <a:pt x="0" y="1740789"/>
                  </a:lnTo>
                  <a:close/>
                </a:path>
              </a:pathLst>
            </a:custGeom>
            <a:solidFill>
              <a:srgbClr val="2B2B30"/>
            </a:solidFill>
            <a:ln w="25400" cap="sq">
              <a:solidFill>
                <a:srgbClr val="2B2B30"/>
              </a:solidFill>
              <a:prstDash val="solid"/>
              <a:miter/>
            </a:ln>
          </p:spPr>
        </p:sp>
      </p:grpSp>
      <p:grpSp>
        <p:nvGrpSpPr>
          <p:cNvPr name="Group 40" id="40"/>
          <p:cNvGrpSpPr/>
          <p:nvPr/>
        </p:nvGrpSpPr>
        <p:grpSpPr>
          <a:xfrm rot="0">
            <a:off x="694944" y="4974336"/>
            <a:ext cx="5486400" cy="640080"/>
            <a:chOff x="0" y="0"/>
            <a:chExt cx="7315200" cy="853440"/>
          </a:xfrm>
        </p:grpSpPr>
        <p:sp>
          <p:nvSpPr>
            <p:cNvPr name="Freeform 41" id="41"/>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7014" r="0" b="-117014"/>
              </a:stretch>
            </a:blipFill>
          </p:spPr>
        </p:sp>
        <p:sp>
          <p:nvSpPr>
            <p:cNvPr name="TextBox 42" id="42"/>
            <p:cNvSpPr txBox="true"/>
            <p:nvPr/>
          </p:nvSpPr>
          <p:spPr>
            <a:xfrm>
              <a:off x="0" y="-9525"/>
              <a:ext cx="73152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Core Analysis Engine</a:t>
              </a:r>
            </a:p>
          </p:txBody>
        </p:sp>
      </p:grpSp>
      <p:grpSp>
        <p:nvGrpSpPr>
          <p:cNvPr name="Group 43" id="43"/>
          <p:cNvGrpSpPr/>
          <p:nvPr/>
        </p:nvGrpSpPr>
        <p:grpSpPr>
          <a:xfrm rot="0">
            <a:off x="6309360" y="5120640"/>
            <a:ext cx="73152" cy="841248"/>
            <a:chOff x="0" y="0"/>
            <a:chExt cx="97536" cy="1121664"/>
          </a:xfrm>
        </p:grpSpPr>
        <p:sp>
          <p:nvSpPr>
            <p:cNvPr name="Freeform 44" id="44"/>
            <p:cNvSpPr/>
            <p:nvPr/>
          </p:nvSpPr>
          <p:spPr>
            <a:xfrm flipH="false" flipV="false" rot="0">
              <a:off x="0" y="0"/>
              <a:ext cx="97536" cy="1121664"/>
            </a:xfrm>
            <a:custGeom>
              <a:avLst/>
              <a:gdLst/>
              <a:ahLst/>
              <a:cxnLst/>
              <a:rect r="r" b="b" t="t" l="l"/>
              <a:pathLst>
                <a:path h="1121664" w="97536">
                  <a:moveTo>
                    <a:pt x="0" y="0"/>
                  </a:moveTo>
                  <a:lnTo>
                    <a:pt x="97536" y="0"/>
                  </a:lnTo>
                  <a:lnTo>
                    <a:pt x="97536" y="1121664"/>
                  </a:lnTo>
                  <a:lnTo>
                    <a:pt x="0" y="1121664"/>
                  </a:lnTo>
                  <a:close/>
                </a:path>
              </a:pathLst>
            </a:custGeom>
            <a:solidFill>
              <a:srgbClr val="2A2A2E"/>
            </a:solidFill>
          </p:spPr>
        </p:sp>
      </p:grpSp>
      <p:grpSp>
        <p:nvGrpSpPr>
          <p:cNvPr name="Group 45" id="45"/>
          <p:cNvGrpSpPr/>
          <p:nvPr/>
        </p:nvGrpSpPr>
        <p:grpSpPr>
          <a:xfrm rot="0">
            <a:off x="6583680" y="5084064"/>
            <a:ext cx="10698480" cy="914400"/>
            <a:chOff x="0" y="0"/>
            <a:chExt cx="14264640" cy="1219200"/>
          </a:xfrm>
        </p:grpSpPr>
        <p:sp>
          <p:nvSpPr>
            <p:cNvPr name="Freeform 46" id="46"/>
            <p:cNvSpPr/>
            <p:nvPr/>
          </p:nvSpPr>
          <p:spPr>
            <a:xfrm flipH="false" flipV="false" rot="0">
              <a:off x="0" y="0"/>
              <a:ext cx="14264639" cy="1219200"/>
            </a:xfrm>
            <a:custGeom>
              <a:avLst/>
              <a:gdLst/>
              <a:ahLst/>
              <a:cxnLst/>
              <a:rect r="r" b="b" t="t" l="l"/>
              <a:pathLst>
                <a:path h="1219200" w="14264639">
                  <a:moveTo>
                    <a:pt x="0" y="0"/>
                  </a:moveTo>
                  <a:lnTo>
                    <a:pt x="14264639" y="0"/>
                  </a:lnTo>
                  <a:lnTo>
                    <a:pt x="14264639" y="1219200"/>
                  </a:lnTo>
                  <a:lnTo>
                    <a:pt x="0" y="1219200"/>
                  </a:lnTo>
                  <a:close/>
                </a:path>
              </a:pathLst>
            </a:custGeom>
            <a:blipFill>
              <a:blip r:embed="rId2">
                <a:alphaModFix amt="0"/>
              </a:blip>
              <a:stretch>
                <a:fillRect l="0" t="-177974" r="0" b="-177974"/>
              </a:stretch>
            </a:blipFill>
          </p:spPr>
        </p:sp>
        <p:sp>
          <p:nvSpPr>
            <p:cNvPr name="TextBox 47" id="47"/>
            <p:cNvSpPr txBox="true"/>
            <p:nvPr/>
          </p:nvSpPr>
          <p:spPr>
            <a:xfrm>
              <a:off x="0" y="-47625"/>
              <a:ext cx="14264640" cy="1266825"/>
            </a:xfrm>
            <a:prstGeom prst="rect">
              <a:avLst/>
            </a:prstGeom>
          </p:spPr>
          <p:txBody>
            <a:bodyPr anchor="ctr" rtlCol="false" tIns="0" lIns="0" bIns="0" rIns="0"/>
            <a:lstStyle/>
            <a:p>
              <a:pPr algn="l">
                <a:lnSpc>
                  <a:spcPts val="2639"/>
                </a:lnSpc>
              </a:pPr>
              <a:r>
                <a:rPr lang="en-US" sz="2199">
                  <a:solidFill>
                    <a:srgbClr val="EEEEEE"/>
                  </a:solidFill>
                  <a:latin typeface="Calibri (MS)"/>
                  <a:ea typeface="Calibri (MS)"/>
                  <a:cs typeface="Calibri (MS)"/>
                  <a:sym typeface="Calibri (MS)"/>
                </a:rPr>
                <a:t>Character Extraction  |  WAB Scoring  |  Genre Classifier  |  Summarizer</a:t>
              </a:r>
            </a:p>
          </p:txBody>
        </p:sp>
      </p:grpSp>
      <p:grpSp>
        <p:nvGrpSpPr>
          <p:cNvPr name="Group 48" id="48"/>
          <p:cNvGrpSpPr/>
          <p:nvPr/>
        </p:nvGrpSpPr>
        <p:grpSpPr>
          <a:xfrm rot="0">
            <a:off x="8686800" y="6217920"/>
            <a:ext cx="914400" cy="201168"/>
            <a:chOff x="0" y="0"/>
            <a:chExt cx="1219200" cy="268224"/>
          </a:xfrm>
        </p:grpSpPr>
        <p:sp>
          <p:nvSpPr>
            <p:cNvPr name="Freeform 49" id="49"/>
            <p:cNvSpPr/>
            <p:nvPr/>
          </p:nvSpPr>
          <p:spPr>
            <a:xfrm flipH="false" flipV="false" rot="0">
              <a:off x="0" y="0"/>
              <a:ext cx="1219200" cy="268224"/>
            </a:xfrm>
            <a:custGeom>
              <a:avLst/>
              <a:gdLst/>
              <a:ahLst/>
              <a:cxnLst/>
              <a:rect r="r" b="b" t="t" l="l"/>
              <a:pathLst>
                <a:path h="268224" w="1219200">
                  <a:moveTo>
                    <a:pt x="0" y="0"/>
                  </a:moveTo>
                  <a:lnTo>
                    <a:pt x="1219200" y="0"/>
                  </a:lnTo>
                  <a:lnTo>
                    <a:pt x="1219200" y="268224"/>
                  </a:lnTo>
                  <a:lnTo>
                    <a:pt x="0" y="268224"/>
                  </a:lnTo>
                  <a:close/>
                </a:path>
              </a:pathLst>
            </a:custGeom>
            <a:solidFill>
              <a:srgbClr val="55555A"/>
            </a:solidFill>
          </p:spPr>
        </p:sp>
      </p:grpSp>
      <p:grpSp>
        <p:nvGrpSpPr>
          <p:cNvPr name="Group 50" id="50"/>
          <p:cNvGrpSpPr/>
          <p:nvPr/>
        </p:nvGrpSpPr>
        <p:grpSpPr>
          <a:xfrm rot="0">
            <a:off x="535943" y="6442967"/>
            <a:ext cx="17033243" cy="1305563"/>
            <a:chOff x="0" y="0"/>
            <a:chExt cx="22710991" cy="1740751"/>
          </a:xfrm>
        </p:grpSpPr>
        <p:sp>
          <p:nvSpPr>
            <p:cNvPr name="Freeform 51" id="51"/>
            <p:cNvSpPr/>
            <p:nvPr/>
          </p:nvSpPr>
          <p:spPr>
            <a:xfrm flipH="false" flipV="false" rot="0">
              <a:off x="0" y="0"/>
              <a:ext cx="22711029" cy="1740789"/>
            </a:xfrm>
            <a:custGeom>
              <a:avLst/>
              <a:gdLst/>
              <a:ahLst/>
              <a:cxnLst/>
              <a:rect r="r" b="b" t="t" l="l"/>
              <a:pathLst>
                <a:path h="1740789" w="22711029">
                  <a:moveTo>
                    <a:pt x="0" y="0"/>
                  </a:moveTo>
                  <a:lnTo>
                    <a:pt x="22711029" y="0"/>
                  </a:lnTo>
                  <a:lnTo>
                    <a:pt x="22711029" y="1740789"/>
                  </a:lnTo>
                  <a:lnTo>
                    <a:pt x="0" y="1740789"/>
                  </a:lnTo>
                  <a:close/>
                </a:path>
              </a:pathLst>
            </a:custGeom>
            <a:solidFill>
              <a:srgbClr val="8F2A2A"/>
            </a:solidFill>
            <a:ln w="25400" cap="sq">
              <a:solidFill>
                <a:srgbClr val="8F2A2A"/>
              </a:solidFill>
              <a:prstDash val="solid"/>
              <a:miter/>
            </a:ln>
          </p:spPr>
        </p:sp>
      </p:grpSp>
      <p:grpSp>
        <p:nvGrpSpPr>
          <p:cNvPr name="Group 52" id="52"/>
          <p:cNvGrpSpPr/>
          <p:nvPr/>
        </p:nvGrpSpPr>
        <p:grpSpPr>
          <a:xfrm rot="0">
            <a:off x="694944" y="6528816"/>
            <a:ext cx="5486400" cy="640080"/>
            <a:chOff x="0" y="0"/>
            <a:chExt cx="7315200" cy="853440"/>
          </a:xfrm>
        </p:grpSpPr>
        <p:sp>
          <p:nvSpPr>
            <p:cNvPr name="Freeform 53" id="53"/>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7014" r="0" b="-117014"/>
              </a:stretch>
            </a:blipFill>
          </p:spPr>
        </p:sp>
        <p:sp>
          <p:nvSpPr>
            <p:cNvPr name="TextBox 54" id="54"/>
            <p:cNvSpPr txBox="true"/>
            <p:nvPr/>
          </p:nvSpPr>
          <p:spPr>
            <a:xfrm>
              <a:off x="0" y="-9525"/>
              <a:ext cx="73152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Data &amp; Storage Layer</a:t>
              </a:r>
            </a:p>
          </p:txBody>
        </p:sp>
      </p:grpSp>
      <p:grpSp>
        <p:nvGrpSpPr>
          <p:cNvPr name="Group 55" id="55"/>
          <p:cNvGrpSpPr/>
          <p:nvPr/>
        </p:nvGrpSpPr>
        <p:grpSpPr>
          <a:xfrm rot="0">
            <a:off x="6309360" y="6675120"/>
            <a:ext cx="73152" cy="841248"/>
            <a:chOff x="0" y="0"/>
            <a:chExt cx="97536" cy="1121664"/>
          </a:xfrm>
        </p:grpSpPr>
        <p:sp>
          <p:nvSpPr>
            <p:cNvPr name="Freeform 56" id="56"/>
            <p:cNvSpPr/>
            <p:nvPr/>
          </p:nvSpPr>
          <p:spPr>
            <a:xfrm flipH="false" flipV="false" rot="0">
              <a:off x="0" y="0"/>
              <a:ext cx="97536" cy="1121664"/>
            </a:xfrm>
            <a:custGeom>
              <a:avLst/>
              <a:gdLst/>
              <a:ahLst/>
              <a:cxnLst/>
              <a:rect r="r" b="b" t="t" l="l"/>
              <a:pathLst>
                <a:path h="1121664" w="97536">
                  <a:moveTo>
                    <a:pt x="0" y="0"/>
                  </a:moveTo>
                  <a:lnTo>
                    <a:pt x="97536" y="0"/>
                  </a:lnTo>
                  <a:lnTo>
                    <a:pt x="97536" y="1121664"/>
                  </a:lnTo>
                  <a:lnTo>
                    <a:pt x="0" y="1121664"/>
                  </a:lnTo>
                  <a:close/>
                </a:path>
              </a:pathLst>
            </a:custGeom>
            <a:solidFill>
              <a:srgbClr val="2A2A2E"/>
            </a:solidFill>
          </p:spPr>
        </p:sp>
      </p:grpSp>
      <p:grpSp>
        <p:nvGrpSpPr>
          <p:cNvPr name="Group 57" id="57"/>
          <p:cNvGrpSpPr/>
          <p:nvPr/>
        </p:nvGrpSpPr>
        <p:grpSpPr>
          <a:xfrm rot="0">
            <a:off x="6583680" y="6638544"/>
            <a:ext cx="10698480" cy="914400"/>
            <a:chOff x="0" y="0"/>
            <a:chExt cx="14264640" cy="1219200"/>
          </a:xfrm>
        </p:grpSpPr>
        <p:sp>
          <p:nvSpPr>
            <p:cNvPr name="Freeform 58" id="58"/>
            <p:cNvSpPr/>
            <p:nvPr/>
          </p:nvSpPr>
          <p:spPr>
            <a:xfrm flipH="false" flipV="false" rot="0">
              <a:off x="0" y="0"/>
              <a:ext cx="14264639" cy="1219200"/>
            </a:xfrm>
            <a:custGeom>
              <a:avLst/>
              <a:gdLst/>
              <a:ahLst/>
              <a:cxnLst/>
              <a:rect r="r" b="b" t="t" l="l"/>
              <a:pathLst>
                <a:path h="1219200" w="14264639">
                  <a:moveTo>
                    <a:pt x="0" y="0"/>
                  </a:moveTo>
                  <a:lnTo>
                    <a:pt x="14264639" y="0"/>
                  </a:lnTo>
                  <a:lnTo>
                    <a:pt x="14264639" y="1219200"/>
                  </a:lnTo>
                  <a:lnTo>
                    <a:pt x="0" y="1219200"/>
                  </a:lnTo>
                  <a:close/>
                </a:path>
              </a:pathLst>
            </a:custGeom>
            <a:blipFill>
              <a:blip r:embed="rId2">
                <a:alphaModFix amt="0"/>
              </a:blip>
              <a:stretch>
                <a:fillRect l="0" t="-177974" r="0" b="-177974"/>
              </a:stretch>
            </a:blipFill>
          </p:spPr>
        </p:sp>
        <p:sp>
          <p:nvSpPr>
            <p:cNvPr name="TextBox 59" id="59"/>
            <p:cNvSpPr txBox="true"/>
            <p:nvPr/>
          </p:nvSpPr>
          <p:spPr>
            <a:xfrm>
              <a:off x="0" y="-47625"/>
              <a:ext cx="14264640" cy="1266825"/>
            </a:xfrm>
            <a:prstGeom prst="rect">
              <a:avLst/>
            </a:prstGeom>
          </p:spPr>
          <p:txBody>
            <a:bodyPr anchor="ctr" rtlCol="false" tIns="0" lIns="0" bIns="0" rIns="0"/>
            <a:lstStyle/>
            <a:p>
              <a:pPr algn="l">
                <a:lnSpc>
                  <a:spcPts val="2639"/>
                </a:lnSpc>
              </a:pPr>
              <a:r>
                <a:rPr lang="en-US" sz="2199">
                  <a:solidFill>
                    <a:srgbClr val="EEEEEE"/>
                  </a:solidFill>
                  <a:latin typeface="Calibri (MS)"/>
                  <a:ea typeface="Calibri (MS)"/>
                  <a:cs typeface="Calibri (MS)"/>
                  <a:sym typeface="Calibri (MS)"/>
                </a:rPr>
                <a:t>PDF Parser (PyMuPDF)  |  Pandas DataFrames  |  Pydantic Schemas</a:t>
              </a:r>
            </a:p>
          </p:txBody>
        </p:sp>
      </p:grpSp>
      <p:grpSp>
        <p:nvGrpSpPr>
          <p:cNvPr name="Group 60" id="60"/>
          <p:cNvGrpSpPr/>
          <p:nvPr/>
        </p:nvGrpSpPr>
        <p:grpSpPr>
          <a:xfrm rot="0">
            <a:off x="8686800" y="7772400"/>
            <a:ext cx="914400" cy="201168"/>
            <a:chOff x="0" y="0"/>
            <a:chExt cx="1219200" cy="268224"/>
          </a:xfrm>
        </p:grpSpPr>
        <p:sp>
          <p:nvSpPr>
            <p:cNvPr name="Freeform 61" id="61"/>
            <p:cNvSpPr/>
            <p:nvPr/>
          </p:nvSpPr>
          <p:spPr>
            <a:xfrm flipH="false" flipV="false" rot="0">
              <a:off x="0" y="0"/>
              <a:ext cx="1219200" cy="268224"/>
            </a:xfrm>
            <a:custGeom>
              <a:avLst/>
              <a:gdLst/>
              <a:ahLst/>
              <a:cxnLst/>
              <a:rect r="r" b="b" t="t" l="l"/>
              <a:pathLst>
                <a:path h="268224" w="1219200">
                  <a:moveTo>
                    <a:pt x="0" y="0"/>
                  </a:moveTo>
                  <a:lnTo>
                    <a:pt x="1219200" y="0"/>
                  </a:lnTo>
                  <a:lnTo>
                    <a:pt x="1219200" y="268224"/>
                  </a:lnTo>
                  <a:lnTo>
                    <a:pt x="0" y="268224"/>
                  </a:lnTo>
                  <a:close/>
                </a:path>
              </a:pathLst>
            </a:custGeom>
            <a:solidFill>
              <a:srgbClr val="55555A"/>
            </a:solidFill>
          </p:spPr>
        </p:sp>
      </p:grpSp>
      <p:grpSp>
        <p:nvGrpSpPr>
          <p:cNvPr name="Group 62" id="62"/>
          <p:cNvGrpSpPr/>
          <p:nvPr/>
        </p:nvGrpSpPr>
        <p:grpSpPr>
          <a:xfrm rot="0">
            <a:off x="535943" y="7997447"/>
            <a:ext cx="17033243" cy="1305563"/>
            <a:chOff x="0" y="0"/>
            <a:chExt cx="22710991" cy="1740751"/>
          </a:xfrm>
        </p:grpSpPr>
        <p:sp>
          <p:nvSpPr>
            <p:cNvPr name="Freeform 63" id="63"/>
            <p:cNvSpPr/>
            <p:nvPr/>
          </p:nvSpPr>
          <p:spPr>
            <a:xfrm flipH="false" flipV="false" rot="0">
              <a:off x="0" y="0"/>
              <a:ext cx="22711029" cy="1740789"/>
            </a:xfrm>
            <a:custGeom>
              <a:avLst/>
              <a:gdLst/>
              <a:ahLst/>
              <a:cxnLst/>
              <a:rect r="r" b="b" t="t" l="l"/>
              <a:pathLst>
                <a:path h="1740789" w="22711029">
                  <a:moveTo>
                    <a:pt x="0" y="0"/>
                  </a:moveTo>
                  <a:lnTo>
                    <a:pt x="22711029" y="0"/>
                  </a:lnTo>
                  <a:lnTo>
                    <a:pt x="22711029" y="1740789"/>
                  </a:lnTo>
                  <a:lnTo>
                    <a:pt x="0" y="1740789"/>
                  </a:lnTo>
                  <a:close/>
                </a:path>
              </a:pathLst>
            </a:custGeom>
            <a:solidFill>
              <a:srgbClr val="6E1F1F"/>
            </a:solidFill>
            <a:ln w="25400" cap="sq">
              <a:solidFill>
                <a:srgbClr val="6E1F1F"/>
              </a:solidFill>
              <a:prstDash val="solid"/>
              <a:miter/>
            </a:ln>
          </p:spPr>
        </p:sp>
      </p:grpSp>
      <p:grpSp>
        <p:nvGrpSpPr>
          <p:cNvPr name="Group 64" id="64"/>
          <p:cNvGrpSpPr/>
          <p:nvPr/>
        </p:nvGrpSpPr>
        <p:grpSpPr>
          <a:xfrm rot="0">
            <a:off x="694944" y="8083296"/>
            <a:ext cx="5486400" cy="640080"/>
            <a:chOff x="0" y="0"/>
            <a:chExt cx="7315200" cy="853440"/>
          </a:xfrm>
        </p:grpSpPr>
        <p:sp>
          <p:nvSpPr>
            <p:cNvPr name="Freeform 65" id="65"/>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2">
                <a:alphaModFix amt="0"/>
              </a:blip>
              <a:stretch>
                <a:fillRect l="0" t="-117014" r="0" b="-117014"/>
              </a:stretch>
            </a:blipFill>
          </p:spPr>
        </p:sp>
        <p:sp>
          <p:nvSpPr>
            <p:cNvPr name="TextBox 66" id="66"/>
            <p:cNvSpPr txBox="true"/>
            <p:nvPr/>
          </p:nvSpPr>
          <p:spPr>
            <a:xfrm>
              <a:off x="0" y="-9525"/>
              <a:ext cx="73152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Output Layer</a:t>
              </a:r>
            </a:p>
          </p:txBody>
        </p:sp>
      </p:grpSp>
      <p:grpSp>
        <p:nvGrpSpPr>
          <p:cNvPr name="Group 67" id="67"/>
          <p:cNvGrpSpPr/>
          <p:nvPr/>
        </p:nvGrpSpPr>
        <p:grpSpPr>
          <a:xfrm rot="0">
            <a:off x="6309360" y="8229600"/>
            <a:ext cx="73152" cy="841248"/>
            <a:chOff x="0" y="0"/>
            <a:chExt cx="97536" cy="1121664"/>
          </a:xfrm>
        </p:grpSpPr>
        <p:sp>
          <p:nvSpPr>
            <p:cNvPr name="Freeform 68" id="68"/>
            <p:cNvSpPr/>
            <p:nvPr/>
          </p:nvSpPr>
          <p:spPr>
            <a:xfrm flipH="false" flipV="false" rot="0">
              <a:off x="0" y="0"/>
              <a:ext cx="97536" cy="1121664"/>
            </a:xfrm>
            <a:custGeom>
              <a:avLst/>
              <a:gdLst/>
              <a:ahLst/>
              <a:cxnLst/>
              <a:rect r="r" b="b" t="t" l="l"/>
              <a:pathLst>
                <a:path h="1121664" w="97536">
                  <a:moveTo>
                    <a:pt x="0" y="0"/>
                  </a:moveTo>
                  <a:lnTo>
                    <a:pt x="97536" y="0"/>
                  </a:lnTo>
                  <a:lnTo>
                    <a:pt x="97536" y="1121664"/>
                  </a:lnTo>
                  <a:lnTo>
                    <a:pt x="0" y="1121664"/>
                  </a:lnTo>
                  <a:close/>
                </a:path>
              </a:pathLst>
            </a:custGeom>
            <a:solidFill>
              <a:srgbClr val="2A2A2E"/>
            </a:solidFill>
          </p:spPr>
        </p:sp>
      </p:grpSp>
      <p:grpSp>
        <p:nvGrpSpPr>
          <p:cNvPr name="Group 69" id="69"/>
          <p:cNvGrpSpPr/>
          <p:nvPr/>
        </p:nvGrpSpPr>
        <p:grpSpPr>
          <a:xfrm rot="0">
            <a:off x="6583680" y="8193024"/>
            <a:ext cx="10698480" cy="914400"/>
            <a:chOff x="0" y="0"/>
            <a:chExt cx="14264640" cy="1219200"/>
          </a:xfrm>
        </p:grpSpPr>
        <p:sp>
          <p:nvSpPr>
            <p:cNvPr name="Freeform 70" id="70"/>
            <p:cNvSpPr/>
            <p:nvPr/>
          </p:nvSpPr>
          <p:spPr>
            <a:xfrm flipH="false" flipV="false" rot="0">
              <a:off x="0" y="0"/>
              <a:ext cx="14264639" cy="1219200"/>
            </a:xfrm>
            <a:custGeom>
              <a:avLst/>
              <a:gdLst/>
              <a:ahLst/>
              <a:cxnLst/>
              <a:rect r="r" b="b" t="t" l="l"/>
              <a:pathLst>
                <a:path h="1219200" w="14264639">
                  <a:moveTo>
                    <a:pt x="0" y="0"/>
                  </a:moveTo>
                  <a:lnTo>
                    <a:pt x="14264639" y="0"/>
                  </a:lnTo>
                  <a:lnTo>
                    <a:pt x="14264639" y="1219200"/>
                  </a:lnTo>
                  <a:lnTo>
                    <a:pt x="0" y="1219200"/>
                  </a:lnTo>
                  <a:close/>
                </a:path>
              </a:pathLst>
            </a:custGeom>
            <a:blipFill>
              <a:blip r:embed="rId2">
                <a:alphaModFix amt="0"/>
              </a:blip>
              <a:stretch>
                <a:fillRect l="0" t="-177974" r="0" b="-177974"/>
              </a:stretch>
            </a:blipFill>
          </p:spPr>
        </p:sp>
        <p:sp>
          <p:nvSpPr>
            <p:cNvPr name="TextBox 71" id="71"/>
            <p:cNvSpPr txBox="true"/>
            <p:nvPr/>
          </p:nvSpPr>
          <p:spPr>
            <a:xfrm>
              <a:off x="0" y="-47625"/>
              <a:ext cx="14264640" cy="1266825"/>
            </a:xfrm>
            <a:prstGeom prst="rect">
              <a:avLst/>
            </a:prstGeom>
          </p:spPr>
          <p:txBody>
            <a:bodyPr anchor="ctr" rtlCol="false" tIns="0" lIns="0" bIns="0" rIns="0"/>
            <a:lstStyle/>
            <a:p>
              <a:pPr algn="l">
                <a:lnSpc>
                  <a:spcPts val="2639"/>
                </a:lnSpc>
              </a:pPr>
              <a:r>
                <a:rPr lang="en-US" sz="2199">
                  <a:solidFill>
                    <a:srgbClr val="EEEEEE"/>
                  </a:solidFill>
                  <a:latin typeface="Calibri (MS)"/>
                  <a:ea typeface="Calibri (MS)"/>
                  <a:cs typeface="Calibri (MS)"/>
                  <a:sym typeface="Calibri (MS)"/>
                </a:rPr>
                <a:t>Results Dashboard  |  Export Reports  |  Visualizations  |  Recommendations</a:t>
              </a:r>
            </a:p>
          </p:txBody>
        </p:sp>
      </p:grpSp>
      <p:grpSp>
        <p:nvGrpSpPr>
          <p:cNvPr name="Group 72" id="72"/>
          <p:cNvGrpSpPr/>
          <p:nvPr/>
        </p:nvGrpSpPr>
        <p:grpSpPr>
          <a:xfrm rot="0">
            <a:off x="548640" y="9473184"/>
            <a:ext cx="17190720" cy="365760"/>
            <a:chOff x="0" y="0"/>
            <a:chExt cx="22920960" cy="487680"/>
          </a:xfrm>
        </p:grpSpPr>
        <p:sp>
          <p:nvSpPr>
            <p:cNvPr name="Freeform 73" id="73"/>
            <p:cNvSpPr/>
            <p:nvPr/>
          </p:nvSpPr>
          <p:spPr>
            <a:xfrm flipH="false" flipV="false" rot="0">
              <a:off x="0" y="0"/>
              <a:ext cx="22920961" cy="487680"/>
            </a:xfrm>
            <a:custGeom>
              <a:avLst/>
              <a:gdLst/>
              <a:ahLst/>
              <a:cxnLst/>
              <a:rect r="r" b="b" t="t" l="l"/>
              <a:pathLst>
                <a:path h="487680" w="22920961">
                  <a:moveTo>
                    <a:pt x="0" y="0"/>
                  </a:moveTo>
                  <a:lnTo>
                    <a:pt x="22920961" y="0"/>
                  </a:lnTo>
                  <a:lnTo>
                    <a:pt x="22920961" y="487680"/>
                  </a:lnTo>
                  <a:lnTo>
                    <a:pt x="0" y="487680"/>
                  </a:lnTo>
                  <a:close/>
                </a:path>
              </a:pathLst>
            </a:custGeom>
            <a:blipFill>
              <a:blip r:embed="rId2">
                <a:alphaModFix amt="0"/>
              </a:blip>
              <a:stretch>
                <a:fillRect l="0" t="-865796" r="0" b="-865796"/>
              </a:stretch>
            </a:blipFill>
          </p:spPr>
        </p:sp>
        <p:sp>
          <p:nvSpPr>
            <p:cNvPr name="TextBox 74" id="74"/>
            <p:cNvSpPr txBox="true"/>
            <p:nvPr/>
          </p:nvSpPr>
          <p:spPr>
            <a:xfrm>
              <a:off x="0" y="-38100"/>
              <a:ext cx="22920960" cy="525780"/>
            </a:xfrm>
            <a:prstGeom prst="rect">
              <a:avLst/>
            </a:prstGeom>
          </p:spPr>
          <p:txBody>
            <a:bodyPr anchor="ctr" rtlCol="false" tIns="0" lIns="0" bIns="0" rIns="0"/>
            <a:lstStyle/>
            <a:p>
              <a:pPr algn="l">
                <a:lnSpc>
                  <a:spcPts val="2160"/>
                </a:lnSpc>
              </a:pPr>
              <a:r>
                <a:rPr lang="en-US" sz="1800" i="true">
                  <a:solidFill>
                    <a:srgbClr val="A0A0A0"/>
                  </a:solidFill>
                  <a:latin typeface="Calibri (MS) Italics"/>
                  <a:ea typeface="Calibri (MS) Italics"/>
                  <a:cs typeface="Calibri (MS) Italics"/>
                  <a:sym typeface="Calibri (MS) Italics"/>
                </a:rPr>
                <a:t>Each layer communicates through well-defined interfaces — making it easy to swap components or add new analysis modules later.</a:t>
              </a:r>
            </a:p>
          </p:txBody>
        </p:sp>
      </p:grpSp>
      <p:sp>
        <p:nvSpPr>
          <p:cNvPr name="TextBox 75" id="75"/>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Technologies Used</a:t>
              </a:r>
            </a:p>
          </p:txBody>
        </p:sp>
      </p:grpSp>
      <p:grpSp>
        <p:nvGrpSpPr>
          <p:cNvPr name="Group 14" id="14"/>
          <p:cNvGrpSpPr/>
          <p:nvPr/>
        </p:nvGrpSpPr>
        <p:grpSpPr>
          <a:xfrm rot="0">
            <a:off x="395983" y="1822447"/>
            <a:ext cx="3670297" cy="707641"/>
            <a:chOff x="0" y="0"/>
            <a:chExt cx="4893729" cy="943521"/>
          </a:xfrm>
        </p:grpSpPr>
        <p:sp>
          <p:nvSpPr>
            <p:cNvPr name="Freeform 15" id="15"/>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2B2B30"/>
            </a:solidFill>
            <a:ln w="12700" cap="sq">
              <a:solidFill>
                <a:srgbClr val="2E2E34"/>
              </a:solidFill>
              <a:prstDash val="solid"/>
              <a:miter/>
            </a:ln>
          </p:spPr>
        </p:sp>
      </p:grpSp>
      <p:grpSp>
        <p:nvGrpSpPr>
          <p:cNvPr name="Group 16" id="16"/>
          <p:cNvGrpSpPr/>
          <p:nvPr/>
        </p:nvGrpSpPr>
        <p:grpSpPr>
          <a:xfrm rot="0">
            <a:off x="548640" y="1901952"/>
            <a:ext cx="3364992" cy="548640"/>
            <a:chOff x="0" y="0"/>
            <a:chExt cx="4486656" cy="731520"/>
          </a:xfrm>
        </p:grpSpPr>
        <p:sp>
          <p:nvSpPr>
            <p:cNvPr name="Freeform 17" id="17"/>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18" id="18"/>
            <p:cNvSpPr txBox="true"/>
            <p:nvPr/>
          </p:nvSpPr>
          <p:spPr>
            <a:xfrm>
              <a:off x="0" y="-19050"/>
              <a:ext cx="4486656" cy="750570"/>
            </a:xfrm>
            <a:prstGeom prst="rect">
              <a:avLst/>
            </a:prstGeom>
          </p:spPr>
          <p:txBody>
            <a:bodyPr anchor="ctr" rtlCol="false" tIns="0" lIns="0" bIns="0" rIns="0"/>
            <a:lstStyle/>
            <a:p>
              <a:pPr algn="l">
                <a:lnSpc>
                  <a:spcPts val="2639"/>
                </a:lnSpc>
              </a:pPr>
              <a:r>
                <a:rPr lang="en-US" sz="2199" b="true">
                  <a:solidFill>
                    <a:srgbClr val="FFFFFF"/>
                  </a:solidFill>
                  <a:latin typeface="Arial Bold"/>
                  <a:ea typeface="Arial Bold"/>
                  <a:cs typeface="Arial Bold"/>
                  <a:sym typeface="Arial Bold"/>
                </a:rPr>
                <a:t>Technology</a:t>
              </a:r>
            </a:p>
          </p:txBody>
        </p:sp>
      </p:grpSp>
      <p:grpSp>
        <p:nvGrpSpPr>
          <p:cNvPr name="Group 19" id="19"/>
          <p:cNvGrpSpPr/>
          <p:nvPr/>
        </p:nvGrpSpPr>
        <p:grpSpPr>
          <a:xfrm rot="0">
            <a:off x="4163311" y="1822447"/>
            <a:ext cx="6047737" cy="707641"/>
            <a:chOff x="0" y="0"/>
            <a:chExt cx="8063649" cy="943521"/>
          </a:xfrm>
        </p:grpSpPr>
        <p:sp>
          <p:nvSpPr>
            <p:cNvPr name="Freeform 20" id="20"/>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2B2B30"/>
            </a:solidFill>
            <a:ln w="12700" cap="sq">
              <a:solidFill>
                <a:srgbClr val="2E2E34"/>
              </a:solidFill>
              <a:prstDash val="solid"/>
              <a:miter/>
            </a:ln>
          </p:spPr>
        </p:sp>
      </p:grpSp>
      <p:grpSp>
        <p:nvGrpSpPr>
          <p:cNvPr name="Group 21" id="21"/>
          <p:cNvGrpSpPr/>
          <p:nvPr/>
        </p:nvGrpSpPr>
        <p:grpSpPr>
          <a:xfrm rot="0">
            <a:off x="4315968" y="1901952"/>
            <a:ext cx="5742432" cy="548640"/>
            <a:chOff x="0" y="0"/>
            <a:chExt cx="7656576" cy="731520"/>
          </a:xfrm>
        </p:grpSpPr>
        <p:sp>
          <p:nvSpPr>
            <p:cNvPr name="Freeform 22" id="22"/>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23" id="23"/>
            <p:cNvSpPr txBox="true"/>
            <p:nvPr/>
          </p:nvSpPr>
          <p:spPr>
            <a:xfrm>
              <a:off x="0" y="-19050"/>
              <a:ext cx="7656576" cy="750570"/>
            </a:xfrm>
            <a:prstGeom prst="rect">
              <a:avLst/>
            </a:prstGeom>
          </p:spPr>
          <p:txBody>
            <a:bodyPr anchor="ctr" rtlCol="false" tIns="0" lIns="0" bIns="0" rIns="0"/>
            <a:lstStyle/>
            <a:p>
              <a:pPr algn="l">
                <a:lnSpc>
                  <a:spcPts val="2639"/>
                </a:lnSpc>
              </a:pPr>
              <a:r>
                <a:rPr lang="en-US" sz="2199" b="true">
                  <a:solidFill>
                    <a:srgbClr val="FFFFFF"/>
                  </a:solidFill>
                  <a:latin typeface="Arial Bold"/>
                  <a:ea typeface="Arial Bold"/>
                  <a:cs typeface="Arial Bold"/>
                  <a:sym typeface="Arial Bold"/>
                </a:rPr>
                <a:t>Purpose</a:t>
              </a:r>
            </a:p>
          </p:txBody>
        </p:sp>
      </p:grpSp>
      <p:grpSp>
        <p:nvGrpSpPr>
          <p:cNvPr name="Group 24" id="24"/>
          <p:cNvGrpSpPr/>
          <p:nvPr/>
        </p:nvGrpSpPr>
        <p:grpSpPr>
          <a:xfrm rot="0">
            <a:off x="10308079" y="1822447"/>
            <a:ext cx="7327897" cy="707641"/>
            <a:chOff x="0" y="0"/>
            <a:chExt cx="9770529" cy="943521"/>
          </a:xfrm>
        </p:grpSpPr>
        <p:sp>
          <p:nvSpPr>
            <p:cNvPr name="Freeform 25" id="25"/>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2B2B30"/>
            </a:solidFill>
            <a:ln w="12700" cap="sq">
              <a:solidFill>
                <a:srgbClr val="2E2E34"/>
              </a:solidFill>
              <a:prstDash val="solid"/>
              <a:miter/>
            </a:ln>
          </p:spPr>
        </p:sp>
      </p:grpSp>
      <p:grpSp>
        <p:nvGrpSpPr>
          <p:cNvPr name="Group 26" id="26"/>
          <p:cNvGrpSpPr/>
          <p:nvPr/>
        </p:nvGrpSpPr>
        <p:grpSpPr>
          <a:xfrm rot="0">
            <a:off x="10460736" y="1901952"/>
            <a:ext cx="7022592" cy="548640"/>
            <a:chOff x="0" y="0"/>
            <a:chExt cx="9363456" cy="731520"/>
          </a:xfrm>
        </p:grpSpPr>
        <p:sp>
          <p:nvSpPr>
            <p:cNvPr name="Freeform 27" id="27"/>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28" id="28"/>
            <p:cNvSpPr txBox="true"/>
            <p:nvPr/>
          </p:nvSpPr>
          <p:spPr>
            <a:xfrm>
              <a:off x="0" y="-19050"/>
              <a:ext cx="9363456" cy="750570"/>
            </a:xfrm>
            <a:prstGeom prst="rect">
              <a:avLst/>
            </a:prstGeom>
          </p:spPr>
          <p:txBody>
            <a:bodyPr anchor="ctr" rtlCol="false" tIns="0" lIns="0" bIns="0" rIns="0"/>
            <a:lstStyle/>
            <a:p>
              <a:pPr algn="l">
                <a:lnSpc>
                  <a:spcPts val="2639"/>
                </a:lnSpc>
              </a:pPr>
              <a:r>
                <a:rPr lang="en-US" sz="2199" b="true">
                  <a:solidFill>
                    <a:srgbClr val="FFFFFF"/>
                  </a:solidFill>
                  <a:latin typeface="Arial Bold"/>
                  <a:ea typeface="Arial Bold"/>
                  <a:cs typeface="Arial Bold"/>
                  <a:sym typeface="Arial Bold"/>
                </a:rPr>
                <a:t>Why We Chose It</a:t>
              </a:r>
            </a:p>
          </p:txBody>
        </p:sp>
      </p:grpSp>
      <p:grpSp>
        <p:nvGrpSpPr>
          <p:cNvPr name="Group 29" id="29"/>
          <p:cNvGrpSpPr/>
          <p:nvPr/>
        </p:nvGrpSpPr>
        <p:grpSpPr>
          <a:xfrm rot="0">
            <a:off x="395983" y="2517391"/>
            <a:ext cx="3670297" cy="707641"/>
            <a:chOff x="0" y="0"/>
            <a:chExt cx="4893729" cy="943521"/>
          </a:xfrm>
        </p:grpSpPr>
        <p:sp>
          <p:nvSpPr>
            <p:cNvPr name="Freeform 30" id="30"/>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6161A"/>
            </a:solidFill>
            <a:ln w="12700" cap="sq">
              <a:solidFill>
                <a:srgbClr val="2E2E34"/>
              </a:solidFill>
              <a:prstDash val="solid"/>
              <a:miter/>
            </a:ln>
          </p:spPr>
        </p:sp>
      </p:grpSp>
      <p:grpSp>
        <p:nvGrpSpPr>
          <p:cNvPr name="Group 31" id="31"/>
          <p:cNvGrpSpPr/>
          <p:nvPr/>
        </p:nvGrpSpPr>
        <p:grpSpPr>
          <a:xfrm rot="0">
            <a:off x="548640" y="2596896"/>
            <a:ext cx="3364992" cy="548640"/>
            <a:chOff x="0" y="0"/>
            <a:chExt cx="4486656" cy="731520"/>
          </a:xfrm>
        </p:grpSpPr>
        <p:sp>
          <p:nvSpPr>
            <p:cNvPr name="Freeform 32" id="32"/>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33" id="33"/>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Python 3.10+</a:t>
              </a:r>
            </a:p>
          </p:txBody>
        </p:sp>
      </p:grpSp>
      <p:grpSp>
        <p:nvGrpSpPr>
          <p:cNvPr name="Group 34" id="34"/>
          <p:cNvGrpSpPr/>
          <p:nvPr/>
        </p:nvGrpSpPr>
        <p:grpSpPr>
          <a:xfrm rot="0">
            <a:off x="4163311" y="2517391"/>
            <a:ext cx="6047737" cy="707641"/>
            <a:chOff x="0" y="0"/>
            <a:chExt cx="8063649" cy="943521"/>
          </a:xfrm>
        </p:grpSpPr>
        <p:sp>
          <p:nvSpPr>
            <p:cNvPr name="Freeform 35" id="35"/>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6161A"/>
            </a:solidFill>
            <a:ln w="12700" cap="sq">
              <a:solidFill>
                <a:srgbClr val="2E2E34"/>
              </a:solidFill>
              <a:prstDash val="solid"/>
              <a:miter/>
            </a:ln>
          </p:spPr>
        </p:sp>
      </p:grpSp>
      <p:grpSp>
        <p:nvGrpSpPr>
          <p:cNvPr name="Group 36" id="36"/>
          <p:cNvGrpSpPr/>
          <p:nvPr/>
        </p:nvGrpSpPr>
        <p:grpSpPr>
          <a:xfrm rot="0">
            <a:off x="4315968" y="2596896"/>
            <a:ext cx="5742432" cy="548640"/>
            <a:chOff x="0" y="0"/>
            <a:chExt cx="7656576" cy="731520"/>
          </a:xfrm>
        </p:grpSpPr>
        <p:sp>
          <p:nvSpPr>
            <p:cNvPr name="Freeform 37" id="37"/>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38" id="38"/>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Core language for all backend logic</a:t>
              </a:r>
            </a:p>
          </p:txBody>
        </p:sp>
      </p:grpSp>
      <p:grpSp>
        <p:nvGrpSpPr>
          <p:cNvPr name="Group 39" id="39"/>
          <p:cNvGrpSpPr/>
          <p:nvPr/>
        </p:nvGrpSpPr>
        <p:grpSpPr>
          <a:xfrm rot="0">
            <a:off x="10308079" y="2517391"/>
            <a:ext cx="7327897" cy="707641"/>
            <a:chOff x="0" y="0"/>
            <a:chExt cx="9770529" cy="943521"/>
          </a:xfrm>
        </p:grpSpPr>
        <p:sp>
          <p:nvSpPr>
            <p:cNvPr name="Freeform 40" id="40"/>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6161A"/>
            </a:solidFill>
            <a:ln w="12700" cap="sq">
              <a:solidFill>
                <a:srgbClr val="2E2E34"/>
              </a:solidFill>
              <a:prstDash val="solid"/>
              <a:miter/>
            </a:ln>
          </p:spPr>
        </p:sp>
      </p:grpSp>
      <p:grpSp>
        <p:nvGrpSpPr>
          <p:cNvPr name="Group 41" id="41"/>
          <p:cNvGrpSpPr/>
          <p:nvPr/>
        </p:nvGrpSpPr>
        <p:grpSpPr>
          <a:xfrm rot="0">
            <a:off x="10460736" y="2596896"/>
            <a:ext cx="7022592" cy="548640"/>
            <a:chOff x="0" y="0"/>
            <a:chExt cx="9363456" cy="731520"/>
          </a:xfrm>
        </p:grpSpPr>
        <p:sp>
          <p:nvSpPr>
            <p:cNvPr name="Freeform 42" id="42"/>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43" id="43"/>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Rich NLP ecosystem, easy prototyping</a:t>
              </a:r>
            </a:p>
          </p:txBody>
        </p:sp>
      </p:grpSp>
      <p:grpSp>
        <p:nvGrpSpPr>
          <p:cNvPr name="Group 44" id="44"/>
          <p:cNvGrpSpPr/>
          <p:nvPr/>
        </p:nvGrpSpPr>
        <p:grpSpPr>
          <a:xfrm rot="0">
            <a:off x="395983" y="3212335"/>
            <a:ext cx="3670297" cy="707641"/>
            <a:chOff x="0" y="0"/>
            <a:chExt cx="4893729" cy="943521"/>
          </a:xfrm>
        </p:grpSpPr>
        <p:sp>
          <p:nvSpPr>
            <p:cNvPr name="Freeform 45" id="45"/>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11113"/>
            </a:solidFill>
            <a:ln w="12700" cap="sq">
              <a:solidFill>
                <a:srgbClr val="2E2E34"/>
              </a:solidFill>
              <a:prstDash val="solid"/>
              <a:miter/>
            </a:ln>
          </p:spPr>
        </p:sp>
      </p:grpSp>
      <p:grpSp>
        <p:nvGrpSpPr>
          <p:cNvPr name="Group 46" id="46"/>
          <p:cNvGrpSpPr/>
          <p:nvPr/>
        </p:nvGrpSpPr>
        <p:grpSpPr>
          <a:xfrm rot="0">
            <a:off x="548640" y="3291840"/>
            <a:ext cx="3364992" cy="548640"/>
            <a:chOff x="0" y="0"/>
            <a:chExt cx="4486656" cy="731520"/>
          </a:xfrm>
        </p:grpSpPr>
        <p:sp>
          <p:nvSpPr>
            <p:cNvPr name="Freeform 47" id="47"/>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48" id="48"/>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Streamlit</a:t>
              </a:r>
            </a:p>
          </p:txBody>
        </p:sp>
      </p:grpSp>
      <p:grpSp>
        <p:nvGrpSpPr>
          <p:cNvPr name="Group 49" id="49"/>
          <p:cNvGrpSpPr/>
          <p:nvPr/>
        </p:nvGrpSpPr>
        <p:grpSpPr>
          <a:xfrm rot="0">
            <a:off x="4163311" y="3212335"/>
            <a:ext cx="6047737" cy="707641"/>
            <a:chOff x="0" y="0"/>
            <a:chExt cx="8063649" cy="943521"/>
          </a:xfrm>
        </p:grpSpPr>
        <p:sp>
          <p:nvSpPr>
            <p:cNvPr name="Freeform 50" id="50"/>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11113"/>
            </a:solidFill>
            <a:ln w="12700" cap="sq">
              <a:solidFill>
                <a:srgbClr val="2E2E34"/>
              </a:solidFill>
              <a:prstDash val="solid"/>
              <a:miter/>
            </a:ln>
          </p:spPr>
        </p:sp>
      </p:grpSp>
      <p:grpSp>
        <p:nvGrpSpPr>
          <p:cNvPr name="Group 51" id="51"/>
          <p:cNvGrpSpPr/>
          <p:nvPr/>
        </p:nvGrpSpPr>
        <p:grpSpPr>
          <a:xfrm rot="0">
            <a:off x="4315968" y="3291840"/>
            <a:ext cx="5742432" cy="548640"/>
            <a:chOff x="0" y="0"/>
            <a:chExt cx="7656576" cy="731520"/>
          </a:xfrm>
        </p:grpSpPr>
        <p:sp>
          <p:nvSpPr>
            <p:cNvPr name="Freeform 52" id="52"/>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53" id="53"/>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Web application framework</a:t>
              </a:r>
            </a:p>
          </p:txBody>
        </p:sp>
      </p:grpSp>
      <p:grpSp>
        <p:nvGrpSpPr>
          <p:cNvPr name="Group 54" id="54"/>
          <p:cNvGrpSpPr/>
          <p:nvPr/>
        </p:nvGrpSpPr>
        <p:grpSpPr>
          <a:xfrm rot="0">
            <a:off x="10308079" y="3212335"/>
            <a:ext cx="7327897" cy="707641"/>
            <a:chOff x="0" y="0"/>
            <a:chExt cx="9770529" cy="943521"/>
          </a:xfrm>
        </p:grpSpPr>
        <p:sp>
          <p:nvSpPr>
            <p:cNvPr name="Freeform 55" id="55"/>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11113"/>
            </a:solidFill>
            <a:ln w="12700" cap="sq">
              <a:solidFill>
                <a:srgbClr val="2E2E34"/>
              </a:solidFill>
              <a:prstDash val="solid"/>
              <a:miter/>
            </a:ln>
          </p:spPr>
        </p:sp>
      </p:grpSp>
      <p:grpSp>
        <p:nvGrpSpPr>
          <p:cNvPr name="Group 56" id="56"/>
          <p:cNvGrpSpPr/>
          <p:nvPr/>
        </p:nvGrpSpPr>
        <p:grpSpPr>
          <a:xfrm rot="0">
            <a:off x="10460736" y="3291840"/>
            <a:ext cx="7022592" cy="548640"/>
            <a:chOff x="0" y="0"/>
            <a:chExt cx="9363456" cy="731520"/>
          </a:xfrm>
        </p:grpSpPr>
        <p:sp>
          <p:nvSpPr>
            <p:cNvPr name="Freeform 57" id="57"/>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58" id="58"/>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Fastest way to turn a Python script into a usable app</a:t>
              </a:r>
            </a:p>
          </p:txBody>
        </p:sp>
      </p:grpSp>
      <p:grpSp>
        <p:nvGrpSpPr>
          <p:cNvPr name="Group 59" id="59"/>
          <p:cNvGrpSpPr/>
          <p:nvPr/>
        </p:nvGrpSpPr>
        <p:grpSpPr>
          <a:xfrm rot="0">
            <a:off x="395983" y="3907279"/>
            <a:ext cx="3670297" cy="707641"/>
            <a:chOff x="0" y="0"/>
            <a:chExt cx="4893729" cy="943521"/>
          </a:xfrm>
        </p:grpSpPr>
        <p:sp>
          <p:nvSpPr>
            <p:cNvPr name="Freeform 60" id="60"/>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6161A"/>
            </a:solidFill>
            <a:ln w="12700" cap="sq">
              <a:solidFill>
                <a:srgbClr val="2E2E34"/>
              </a:solidFill>
              <a:prstDash val="solid"/>
              <a:miter/>
            </a:ln>
          </p:spPr>
        </p:sp>
      </p:grpSp>
      <p:grpSp>
        <p:nvGrpSpPr>
          <p:cNvPr name="Group 61" id="61"/>
          <p:cNvGrpSpPr/>
          <p:nvPr/>
        </p:nvGrpSpPr>
        <p:grpSpPr>
          <a:xfrm rot="0">
            <a:off x="548640" y="3986784"/>
            <a:ext cx="3364992" cy="548640"/>
            <a:chOff x="0" y="0"/>
            <a:chExt cx="4486656" cy="731520"/>
          </a:xfrm>
        </p:grpSpPr>
        <p:sp>
          <p:nvSpPr>
            <p:cNvPr name="Freeform 62" id="62"/>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63" id="63"/>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spaCy</a:t>
              </a:r>
            </a:p>
          </p:txBody>
        </p:sp>
      </p:grpSp>
      <p:grpSp>
        <p:nvGrpSpPr>
          <p:cNvPr name="Group 64" id="64"/>
          <p:cNvGrpSpPr/>
          <p:nvPr/>
        </p:nvGrpSpPr>
        <p:grpSpPr>
          <a:xfrm rot="0">
            <a:off x="4163311" y="3907279"/>
            <a:ext cx="6047737" cy="707641"/>
            <a:chOff x="0" y="0"/>
            <a:chExt cx="8063649" cy="943521"/>
          </a:xfrm>
        </p:grpSpPr>
        <p:sp>
          <p:nvSpPr>
            <p:cNvPr name="Freeform 65" id="65"/>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6161A"/>
            </a:solidFill>
            <a:ln w="12700" cap="sq">
              <a:solidFill>
                <a:srgbClr val="2E2E34"/>
              </a:solidFill>
              <a:prstDash val="solid"/>
              <a:miter/>
            </a:ln>
          </p:spPr>
        </p:sp>
      </p:grpSp>
      <p:grpSp>
        <p:nvGrpSpPr>
          <p:cNvPr name="Group 66" id="66"/>
          <p:cNvGrpSpPr/>
          <p:nvPr/>
        </p:nvGrpSpPr>
        <p:grpSpPr>
          <a:xfrm rot="0">
            <a:off x="4315968" y="3986784"/>
            <a:ext cx="5742432" cy="548640"/>
            <a:chOff x="0" y="0"/>
            <a:chExt cx="7656576" cy="731520"/>
          </a:xfrm>
        </p:grpSpPr>
        <p:sp>
          <p:nvSpPr>
            <p:cNvPr name="Freeform 67" id="67"/>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68" id="68"/>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Named Entity Recognition (NER)</a:t>
              </a:r>
            </a:p>
          </p:txBody>
        </p:sp>
      </p:grpSp>
      <p:grpSp>
        <p:nvGrpSpPr>
          <p:cNvPr name="Group 69" id="69"/>
          <p:cNvGrpSpPr/>
          <p:nvPr/>
        </p:nvGrpSpPr>
        <p:grpSpPr>
          <a:xfrm rot="0">
            <a:off x="10308079" y="3907279"/>
            <a:ext cx="7327897" cy="707641"/>
            <a:chOff x="0" y="0"/>
            <a:chExt cx="9770529" cy="943521"/>
          </a:xfrm>
        </p:grpSpPr>
        <p:sp>
          <p:nvSpPr>
            <p:cNvPr name="Freeform 70" id="70"/>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6161A"/>
            </a:solidFill>
            <a:ln w="12700" cap="sq">
              <a:solidFill>
                <a:srgbClr val="2E2E34"/>
              </a:solidFill>
              <a:prstDash val="solid"/>
              <a:miter/>
            </a:ln>
          </p:spPr>
        </p:sp>
      </p:grpSp>
      <p:grpSp>
        <p:nvGrpSpPr>
          <p:cNvPr name="Group 71" id="71"/>
          <p:cNvGrpSpPr/>
          <p:nvPr/>
        </p:nvGrpSpPr>
        <p:grpSpPr>
          <a:xfrm rot="0">
            <a:off x="10460736" y="3986784"/>
            <a:ext cx="7022592" cy="548640"/>
            <a:chOff x="0" y="0"/>
            <a:chExt cx="9363456" cy="731520"/>
          </a:xfrm>
        </p:grpSpPr>
        <p:sp>
          <p:nvSpPr>
            <p:cNvPr name="Freeform 72" id="72"/>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73" id="73"/>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Fast, production-ready NER with good accuracy</a:t>
              </a:r>
            </a:p>
          </p:txBody>
        </p:sp>
      </p:grpSp>
      <p:grpSp>
        <p:nvGrpSpPr>
          <p:cNvPr name="Group 74" id="74"/>
          <p:cNvGrpSpPr/>
          <p:nvPr/>
        </p:nvGrpSpPr>
        <p:grpSpPr>
          <a:xfrm rot="0">
            <a:off x="395983" y="4602223"/>
            <a:ext cx="3670297" cy="707641"/>
            <a:chOff x="0" y="0"/>
            <a:chExt cx="4893729" cy="943521"/>
          </a:xfrm>
        </p:grpSpPr>
        <p:sp>
          <p:nvSpPr>
            <p:cNvPr name="Freeform 75" id="75"/>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11113"/>
            </a:solidFill>
            <a:ln w="12700" cap="sq">
              <a:solidFill>
                <a:srgbClr val="2E2E34"/>
              </a:solidFill>
              <a:prstDash val="solid"/>
              <a:miter/>
            </a:ln>
          </p:spPr>
        </p:sp>
      </p:grpSp>
      <p:grpSp>
        <p:nvGrpSpPr>
          <p:cNvPr name="Group 76" id="76"/>
          <p:cNvGrpSpPr/>
          <p:nvPr/>
        </p:nvGrpSpPr>
        <p:grpSpPr>
          <a:xfrm rot="0">
            <a:off x="548640" y="4681728"/>
            <a:ext cx="3364992" cy="548640"/>
            <a:chOff x="0" y="0"/>
            <a:chExt cx="4486656" cy="731520"/>
          </a:xfrm>
        </p:grpSpPr>
        <p:sp>
          <p:nvSpPr>
            <p:cNvPr name="Freeform 77" id="77"/>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78" id="78"/>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Gemini API</a:t>
              </a:r>
            </a:p>
          </p:txBody>
        </p:sp>
      </p:grpSp>
      <p:grpSp>
        <p:nvGrpSpPr>
          <p:cNvPr name="Group 79" id="79"/>
          <p:cNvGrpSpPr/>
          <p:nvPr/>
        </p:nvGrpSpPr>
        <p:grpSpPr>
          <a:xfrm rot="0">
            <a:off x="4163311" y="4602223"/>
            <a:ext cx="6047737" cy="707641"/>
            <a:chOff x="0" y="0"/>
            <a:chExt cx="8063649" cy="943521"/>
          </a:xfrm>
        </p:grpSpPr>
        <p:sp>
          <p:nvSpPr>
            <p:cNvPr name="Freeform 80" id="80"/>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11113"/>
            </a:solidFill>
            <a:ln w="12700" cap="sq">
              <a:solidFill>
                <a:srgbClr val="2E2E34"/>
              </a:solidFill>
              <a:prstDash val="solid"/>
              <a:miter/>
            </a:ln>
          </p:spPr>
        </p:sp>
      </p:grpSp>
      <p:grpSp>
        <p:nvGrpSpPr>
          <p:cNvPr name="Group 81" id="81"/>
          <p:cNvGrpSpPr/>
          <p:nvPr/>
        </p:nvGrpSpPr>
        <p:grpSpPr>
          <a:xfrm rot="0">
            <a:off x="4315968" y="4681728"/>
            <a:ext cx="5742432" cy="548640"/>
            <a:chOff x="0" y="0"/>
            <a:chExt cx="7656576" cy="731520"/>
          </a:xfrm>
        </p:grpSpPr>
        <p:sp>
          <p:nvSpPr>
            <p:cNvPr name="Freeform 82" id="82"/>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83" id="83"/>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Summarization &amp; genre classification</a:t>
              </a:r>
            </a:p>
          </p:txBody>
        </p:sp>
      </p:grpSp>
      <p:grpSp>
        <p:nvGrpSpPr>
          <p:cNvPr name="Group 84" id="84"/>
          <p:cNvGrpSpPr/>
          <p:nvPr/>
        </p:nvGrpSpPr>
        <p:grpSpPr>
          <a:xfrm rot="0">
            <a:off x="10308079" y="4602223"/>
            <a:ext cx="7327897" cy="707641"/>
            <a:chOff x="0" y="0"/>
            <a:chExt cx="9770529" cy="943521"/>
          </a:xfrm>
        </p:grpSpPr>
        <p:sp>
          <p:nvSpPr>
            <p:cNvPr name="Freeform 85" id="85"/>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11113"/>
            </a:solidFill>
            <a:ln w="12700" cap="sq">
              <a:solidFill>
                <a:srgbClr val="2E2E34"/>
              </a:solidFill>
              <a:prstDash val="solid"/>
              <a:miter/>
            </a:ln>
          </p:spPr>
        </p:sp>
      </p:grpSp>
      <p:grpSp>
        <p:nvGrpSpPr>
          <p:cNvPr name="Group 86" id="86"/>
          <p:cNvGrpSpPr/>
          <p:nvPr/>
        </p:nvGrpSpPr>
        <p:grpSpPr>
          <a:xfrm rot="0">
            <a:off x="10460736" y="4681728"/>
            <a:ext cx="7022592" cy="548640"/>
            <a:chOff x="0" y="0"/>
            <a:chExt cx="9363456" cy="731520"/>
          </a:xfrm>
        </p:grpSpPr>
        <p:sp>
          <p:nvSpPr>
            <p:cNvPr name="Freeform 87" id="87"/>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88" id="88"/>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Best-in-class for long-context text understanding</a:t>
              </a:r>
            </a:p>
          </p:txBody>
        </p:sp>
      </p:grpSp>
      <p:grpSp>
        <p:nvGrpSpPr>
          <p:cNvPr name="Group 89" id="89"/>
          <p:cNvGrpSpPr/>
          <p:nvPr/>
        </p:nvGrpSpPr>
        <p:grpSpPr>
          <a:xfrm rot="0">
            <a:off x="395983" y="5297167"/>
            <a:ext cx="3670297" cy="707641"/>
            <a:chOff x="0" y="0"/>
            <a:chExt cx="4893729" cy="943521"/>
          </a:xfrm>
        </p:grpSpPr>
        <p:sp>
          <p:nvSpPr>
            <p:cNvPr name="Freeform 90" id="90"/>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6161A"/>
            </a:solidFill>
            <a:ln w="12700" cap="sq">
              <a:solidFill>
                <a:srgbClr val="2E2E34"/>
              </a:solidFill>
              <a:prstDash val="solid"/>
              <a:miter/>
            </a:ln>
          </p:spPr>
        </p:sp>
      </p:grpSp>
      <p:grpSp>
        <p:nvGrpSpPr>
          <p:cNvPr name="Group 91" id="91"/>
          <p:cNvGrpSpPr/>
          <p:nvPr/>
        </p:nvGrpSpPr>
        <p:grpSpPr>
          <a:xfrm rot="0">
            <a:off x="548640" y="5376672"/>
            <a:ext cx="3364992" cy="548640"/>
            <a:chOff x="0" y="0"/>
            <a:chExt cx="4486656" cy="731520"/>
          </a:xfrm>
        </p:grpSpPr>
        <p:sp>
          <p:nvSpPr>
            <p:cNvPr name="Freeform 92" id="92"/>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93" id="93"/>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NetworkX</a:t>
              </a:r>
            </a:p>
          </p:txBody>
        </p:sp>
      </p:grpSp>
      <p:grpSp>
        <p:nvGrpSpPr>
          <p:cNvPr name="Group 94" id="94"/>
          <p:cNvGrpSpPr/>
          <p:nvPr/>
        </p:nvGrpSpPr>
        <p:grpSpPr>
          <a:xfrm rot="0">
            <a:off x="4163311" y="5297167"/>
            <a:ext cx="6047737" cy="707641"/>
            <a:chOff x="0" y="0"/>
            <a:chExt cx="8063649" cy="943521"/>
          </a:xfrm>
        </p:grpSpPr>
        <p:sp>
          <p:nvSpPr>
            <p:cNvPr name="Freeform 95" id="95"/>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6161A"/>
            </a:solidFill>
            <a:ln w="12700" cap="sq">
              <a:solidFill>
                <a:srgbClr val="2E2E34"/>
              </a:solidFill>
              <a:prstDash val="solid"/>
              <a:miter/>
            </a:ln>
          </p:spPr>
        </p:sp>
      </p:grpSp>
      <p:grpSp>
        <p:nvGrpSpPr>
          <p:cNvPr name="Group 96" id="96"/>
          <p:cNvGrpSpPr/>
          <p:nvPr/>
        </p:nvGrpSpPr>
        <p:grpSpPr>
          <a:xfrm rot="0">
            <a:off x="4315968" y="5376672"/>
            <a:ext cx="5742432" cy="548640"/>
            <a:chOff x="0" y="0"/>
            <a:chExt cx="7656576" cy="731520"/>
          </a:xfrm>
        </p:grpSpPr>
        <p:sp>
          <p:nvSpPr>
            <p:cNvPr name="Freeform 97" id="97"/>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98" id="98"/>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Character relationship graph</a:t>
              </a:r>
            </a:p>
          </p:txBody>
        </p:sp>
      </p:grpSp>
      <p:grpSp>
        <p:nvGrpSpPr>
          <p:cNvPr name="Group 99" id="99"/>
          <p:cNvGrpSpPr/>
          <p:nvPr/>
        </p:nvGrpSpPr>
        <p:grpSpPr>
          <a:xfrm rot="0">
            <a:off x="10308079" y="5297167"/>
            <a:ext cx="7327897" cy="707641"/>
            <a:chOff x="0" y="0"/>
            <a:chExt cx="9770529" cy="943521"/>
          </a:xfrm>
        </p:grpSpPr>
        <p:sp>
          <p:nvSpPr>
            <p:cNvPr name="Freeform 100" id="100"/>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6161A"/>
            </a:solidFill>
            <a:ln w="12700" cap="sq">
              <a:solidFill>
                <a:srgbClr val="2E2E34"/>
              </a:solidFill>
              <a:prstDash val="solid"/>
              <a:miter/>
            </a:ln>
          </p:spPr>
        </p:sp>
      </p:grpSp>
      <p:grpSp>
        <p:nvGrpSpPr>
          <p:cNvPr name="Group 101" id="101"/>
          <p:cNvGrpSpPr/>
          <p:nvPr/>
        </p:nvGrpSpPr>
        <p:grpSpPr>
          <a:xfrm rot="0">
            <a:off x="10460736" y="5376672"/>
            <a:ext cx="7022592" cy="548640"/>
            <a:chOff x="0" y="0"/>
            <a:chExt cx="9363456" cy="731520"/>
          </a:xfrm>
        </p:grpSpPr>
        <p:sp>
          <p:nvSpPr>
            <p:cNvPr name="Freeform 102" id="102"/>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103" id="103"/>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Standard library for network analysis in Python</a:t>
              </a:r>
            </a:p>
          </p:txBody>
        </p:sp>
      </p:grpSp>
      <p:grpSp>
        <p:nvGrpSpPr>
          <p:cNvPr name="Group 104" id="104"/>
          <p:cNvGrpSpPr/>
          <p:nvPr/>
        </p:nvGrpSpPr>
        <p:grpSpPr>
          <a:xfrm rot="0">
            <a:off x="395983" y="5992111"/>
            <a:ext cx="3670297" cy="707641"/>
            <a:chOff x="0" y="0"/>
            <a:chExt cx="4893729" cy="943521"/>
          </a:xfrm>
        </p:grpSpPr>
        <p:sp>
          <p:nvSpPr>
            <p:cNvPr name="Freeform 105" id="105"/>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11113"/>
            </a:solidFill>
            <a:ln w="12700" cap="sq">
              <a:solidFill>
                <a:srgbClr val="2E2E34"/>
              </a:solidFill>
              <a:prstDash val="solid"/>
              <a:miter/>
            </a:ln>
          </p:spPr>
        </p:sp>
      </p:grpSp>
      <p:grpSp>
        <p:nvGrpSpPr>
          <p:cNvPr name="Group 106" id="106"/>
          <p:cNvGrpSpPr/>
          <p:nvPr/>
        </p:nvGrpSpPr>
        <p:grpSpPr>
          <a:xfrm rot="0">
            <a:off x="548640" y="6071616"/>
            <a:ext cx="3364992" cy="548640"/>
            <a:chOff x="0" y="0"/>
            <a:chExt cx="4486656" cy="731520"/>
          </a:xfrm>
        </p:grpSpPr>
        <p:sp>
          <p:nvSpPr>
            <p:cNvPr name="Freeform 107" id="107"/>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108" id="108"/>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Pandas / NumPy</a:t>
              </a:r>
            </a:p>
          </p:txBody>
        </p:sp>
      </p:grpSp>
      <p:grpSp>
        <p:nvGrpSpPr>
          <p:cNvPr name="Group 109" id="109"/>
          <p:cNvGrpSpPr/>
          <p:nvPr/>
        </p:nvGrpSpPr>
        <p:grpSpPr>
          <a:xfrm rot="0">
            <a:off x="4163311" y="5992111"/>
            <a:ext cx="6047737" cy="707641"/>
            <a:chOff x="0" y="0"/>
            <a:chExt cx="8063649" cy="943521"/>
          </a:xfrm>
        </p:grpSpPr>
        <p:sp>
          <p:nvSpPr>
            <p:cNvPr name="Freeform 110" id="110"/>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11113"/>
            </a:solidFill>
            <a:ln w="12700" cap="sq">
              <a:solidFill>
                <a:srgbClr val="2E2E34"/>
              </a:solidFill>
              <a:prstDash val="solid"/>
              <a:miter/>
            </a:ln>
          </p:spPr>
        </p:sp>
      </p:grpSp>
      <p:grpSp>
        <p:nvGrpSpPr>
          <p:cNvPr name="Group 111" id="111"/>
          <p:cNvGrpSpPr/>
          <p:nvPr/>
        </p:nvGrpSpPr>
        <p:grpSpPr>
          <a:xfrm rot="0">
            <a:off x="4315968" y="6071616"/>
            <a:ext cx="5742432" cy="548640"/>
            <a:chOff x="0" y="0"/>
            <a:chExt cx="7656576" cy="731520"/>
          </a:xfrm>
        </p:grpSpPr>
        <p:sp>
          <p:nvSpPr>
            <p:cNvPr name="Freeform 112" id="112"/>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113" id="113"/>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Data wrangling and corpus metrics</a:t>
              </a:r>
            </a:p>
          </p:txBody>
        </p:sp>
      </p:grpSp>
      <p:grpSp>
        <p:nvGrpSpPr>
          <p:cNvPr name="Group 114" id="114"/>
          <p:cNvGrpSpPr/>
          <p:nvPr/>
        </p:nvGrpSpPr>
        <p:grpSpPr>
          <a:xfrm rot="0">
            <a:off x="10308079" y="5992111"/>
            <a:ext cx="7327897" cy="707641"/>
            <a:chOff x="0" y="0"/>
            <a:chExt cx="9770529" cy="943521"/>
          </a:xfrm>
        </p:grpSpPr>
        <p:sp>
          <p:nvSpPr>
            <p:cNvPr name="Freeform 115" id="115"/>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11113"/>
            </a:solidFill>
            <a:ln w="12700" cap="sq">
              <a:solidFill>
                <a:srgbClr val="2E2E34"/>
              </a:solidFill>
              <a:prstDash val="solid"/>
              <a:miter/>
            </a:ln>
          </p:spPr>
        </p:sp>
      </p:grpSp>
      <p:grpSp>
        <p:nvGrpSpPr>
          <p:cNvPr name="Group 116" id="116"/>
          <p:cNvGrpSpPr/>
          <p:nvPr/>
        </p:nvGrpSpPr>
        <p:grpSpPr>
          <a:xfrm rot="0">
            <a:off x="10460736" y="6071616"/>
            <a:ext cx="7022592" cy="548640"/>
            <a:chOff x="0" y="0"/>
            <a:chExt cx="9363456" cy="731520"/>
          </a:xfrm>
        </p:grpSpPr>
        <p:sp>
          <p:nvSpPr>
            <p:cNvPr name="Freeform 117" id="117"/>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118" id="118"/>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Industry standard for data manipulation</a:t>
              </a:r>
            </a:p>
          </p:txBody>
        </p:sp>
      </p:grpSp>
      <p:grpSp>
        <p:nvGrpSpPr>
          <p:cNvPr name="Group 119" id="119"/>
          <p:cNvGrpSpPr/>
          <p:nvPr/>
        </p:nvGrpSpPr>
        <p:grpSpPr>
          <a:xfrm rot="0">
            <a:off x="395983" y="6687055"/>
            <a:ext cx="3670297" cy="707641"/>
            <a:chOff x="0" y="0"/>
            <a:chExt cx="4893729" cy="943521"/>
          </a:xfrm>
        </p:grpSpPr>
        <p:sp>
          <p:nvSpPr>
            <p:cNvPr name="Freeform 120" id="120"/>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6161A"/>
            </a:solidFill>
            <a:ln w="12700" cap="sq">
              <a:solidFill>
                <a:srgbClr val="2E2E34"/>
              </a:solidFill>
              <a:prstDash val="solid"/>
              <a:miter/>
            </a:ln>
          </p:spPr>
        </p:sp>
      </p:grpSp>
      <p:grpSp>
        <p:nvGrpSpPr>
          <p:cNvPr name="Group 121" id="121"/>
          <p:cNvGrpSpPr/>
          <p:nvPr/>
        </p:nvGrpSpPr>
        <p:grpSpPr>
          <a:xfrm rot="0">
            <a:off x="548640" y="6766560"/>
            <a:ext cx="3364992" cy="548640"/>
            <a:chOff x="0" y="0"/>
            <a:chExt cx="4486656" cy="731520"/>
          </a:xfrm>
        </p:grpSpPr>
        <p:sp>
          <p:nvSpPr>
            <p:cNvPr name="Freeform 122" id="122"/>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123" id="123"/>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Plotly / PyMuPDF</a:t>
              </a:r>
            </a:p>
          </p:txBody>
        </p:sp>
      </p:grpSp>
      <p:grpSp>
        <p:nvGrpSpPr>
          <p:cNvPr name="Group 124" id="124"/>
          <p:cNvGrpSpPr/>
          <p:nvPr/>
        </p:nvGrpSpPr>
        <p:grpSpPr>
          <a:xfrm rot="0">
            <a:off x="4163311" y="6687055"/>
            <a:ext cx="6047737" cy="707641"/>
            <a:chOff x="0" y="0"/>
            <a:chExt cx="8063649" cy="943521"/>
          </a:xfrm>
        </p:grpSpPr>
        <p:sp>
          <p:nvSpPr>
            <p:cNvPr name="Freeform 125" id="125"/>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6161A"/>
            </a:solidFill>
            <a:ln w="12700" cap="sq">
              <a:solidFill>
                <a:srgbClr val="2E2E34"/>
              </a:solidFill>
              <a:prstDash val="solid"/>
              <a:miter/>
            </a:ln>
          </p:spPr>
        </p:sp>
      </p:grpSp>
      <p:grpSp>
        <p:nvGrpSpPr>
          <p:cNvPr name="Group 126" id="126"/>
          <p:cNvGrpSpPr/>
          <p:nvPr/>
        </p:nvGrpSpPr>
        <p:grpSpPr>
          <a:xfrm rot="0">
            <a:off x="4315968" y="6766560"/>
            <a:ext cx="5742432" cy="548640"/>
            <a:chOff x="0" y="0"/>
            <a:chExt cx="7656576" cy="731520"/>
          </a:xfrm>
        </p:grpSpPr>
        <p:sp>
          <p:nvSpPr>
            <p:cNvPr name="Freeform 127" id="127"/>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128" id="128"/>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Charts and PDF parsing</a:t>
              </a:r>
            </a:p>
          </p:txBody>
        </p:sp>
      </p:grpSp>
      <p:grpSp>
        <p:nvGrpSpPr>
          <p:cNvPr name="Group 129" id="129"/>
          <p:cNvGrpSpPr/>
          <p:nvPr/>
        </p:nvGrpSpPr>
        <p:grpSpPr>
          <a:xfrm rot="0">
            <a:off x="10308079" y="6687055"/>
            <a:ext cx="7327897" cy="707641"/>
            <a:chOff x="0" y="0"/>
            <a:chExt cx="9770529" cy="943521"/>
          </a:xfrm>
        </p:grpSpPr>
        <p:sp>
          <p:nvSpPr>
            <p:cNvPr name="Freeform 130" id="130"/>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6161A"/>
            </a:solidFill>
            <a:ln w="12700" cap="sq">
              <a:solidFill>
                <a:srgbClr val="2E2E34"/>
              </a:solidFill>
              <a:prstDash val="solid"/>
              <a:miter/>
            </a:ln>
          </p:spPr>
        </p:sp>
      </p:grpSp>
      <p:grpSp>
        <p:nvGrpSpPr>
          <p:cNvPr name="Group 131" id="131"/>
          <p:cNvGrpSpPr/>
          <p:nvPr/>
        </p:nvGrpSpPr>
        <p:grpSpPr>
          <a:xfrm rot="0">
            <a:off x="10460736" y="6766560"/>
            <a:ext cx="7022592" cy="548640"/>
            <a:chOff x="0" y="0"/>
            <a:chExt cx="9363456" cy="731520"/>
          </a:xfrm>
        </p:grpSpPr>
        <p:sp>
          <p:nvSpPr>
            <p:cNvPr name="Freeform 132" id="132"/>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133" id="133"/>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Interactive charts; PyMuPDF is fast for PDF extraction</a:t>
              </a:r>
            </a:p>
          </p:txBody>
        </p:sp>
      </p:grpSp>
      <p:grpSp>
        <p:nvGrpSpPr>
          <p:cNvPr name="Group 134" id="134"/>
          <p:cNvGrpSpPr/>
          <p:nvPr/>
        </p:nvGrpSpPr>
        <p:grpSpPr>
          <a:xfrm rot="0">
            <a:off x="395983" y="7381999"/>
            <a:ext cx="3670297" cy="707641"/>
            <a:chOff x="0" y="0"/>
            <a:chExt cx="4893729" cy="943521"/>
          </a:xfrm>
        </p:grpSpPr>
        <p:sp>
          <p:nvSpPr>
            <p:cNvPr name="Freeform 135" id="135"/>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11113"/>
            </a:solidFill>
            <a:ln w="12700" cap="sq">
              <a:solidFill>
                <a:srgbClr val="2E2E34"/>
              </a:solidFill>
              <a:prstDash val="solid"/>
              <a:miter/>
            </a:ln>
          </p:spPr>
        </p:sp>
      </p:grpSp>
      <p:grpSp>
        <p:nvGrpSpPr>
          <p:cNvPr name="Group 136" id="136"/>
          <p:cNvGrpSpPr/>
          <p:nvPr/>
        </p:nvGrpSpPr>
        <p:grpSpPr>
          <a:xfrm rot="0">
            <a:off x="548640" y="7461504"/>
            <a:ext cx="3364992" cy="548640"/>
            <a:chOff x="0" y="0"/>
            <a:chExt cx="4486656" cy="731520"/>
          </a:xfrm>
        </p:grpSpPr>
        <p:sp>
          <p:nvSpPr>
            <p:cNvPr name="Freeform 137" id="137"/>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138" id="138"/>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scikit-learn</a:t>
              </a:r>
            </a:p>
          </p:txBody>
        </p:sp>
      </p:grpSp>
      <p:grpSp>
        <p:nvGrpSpPr>
          <p:cNvPr name="Group 139" id="139"/>
          <p:cNvGrpSpPr/>
          <p:nvPr/>
        </p:nvGrpSpPr>
        <p:grpSpPr>
          <a:xfrm rot="0">
            <a:off x="4163311" y="7381999"/>
            <a:ext cx="6047737" cy="707641"/>
            <a:chOff x="0" y="0"/>
            <a:chExt cx="8063649" cy="943521"/>
          </a:xfrm>
        </p:grpSpPr>
        <p:sp>
          <p:nvSpPr>
            <p:cNvPr name="Freeform 140" id="140"/>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11113"/>
            </a:solidFill>
            <a:ln w="12700" cap="sq">
              <a:solidFill>
                <a:srgbClr val="2E2E34"/>
              </a:solidFill>
              <a:prstDash val="solid"/>
              <a:miter/>
            </a:ln>
          </p:spPr>
        </p:sp>
      </p:grpSp>
      <p:grpSp>
        <p:nvGrpSpPr>
          <p:cNvPr name="Group 141" id="141"/>
          <p:cNvGrpSpPr/>
          <p:nvPr/>
        </p:nvGrpSpPr>
        <p:grpSpPr>
          <a:xfrm rot="0">
            <a:off x="4315968" y="7461504"/>
            <a:ext cx="5742432" cy="548640"/>
            <a:chOff x="0" y="0"/>
            <a:chExt cx="7656576" cy="731520"/>
          </a:xfrm>
        </p:grpSpPr>
        <p:sp>
          <p:nvSpPr>
            <p:cNvPr name="Freeform 142" id="142"/>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143" id="143"/>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Recommendation model</a:t>
              </a:r>
            </a:p>
          </p:txBody>
        </p:sp>
      </p:grpSp>
      <p:grpSp>
        <p:nvGrpSpPr>
          <p:cNvPr name="Group 144" id="144"/>
          <p:cNvGrpSpPr/>
          <p:nvPr/>
        </p:nvGrpSpPr>
        <p:grpSpPr>
          <a:xfrm rot="0">
            <a:off x="10308079" y="7381999"/>
            <a:ext cx="7327897" cy="707641"/>
            <a:chOff x="0" y="0"/>
            <a:chExt cx="9770529" cy="943521"/>
          </a:xfrm>
        </p:grpSpPr>
        <p:sp>
          <p:nvSpPr>
            <p:cNvPr name="Freeform 145" id="145"/>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11113"/>
            </a:solidFill>
            <a:ln w="12700" cap="sq">
              <a:solidFill>
                <a:srgbClr val="2E2E34"/>
              </a:solidFill>
              <a:prstDash val="solid"/>
              <a:miter/>
            </a:ln>
          </p:spPr>
        </p:sp>
      </p:grpSp>
      <p:grpSp>
        <p:nvGrpSpPr>
          <p:cNvPr name="Group 146" id="146"/>
          <p:cNvGrpSpPr/>
          <p:nvPr/>
        </p:nvGrpSpPr>
        <p:grpSpPr>
          <a:xfrm rot="0">
            <a:off x="10460736" y="7461504"/>
            <a:ext cx="7022592" cy="548640"/>
            <a:chOff x="0" y="0"/>
            <a:chExt cx="9363456" cy="731520"/>
          </a:xfrm>
        </p:grpSpPr>
        <p:sp>
          <p:nvSpPr>
            <p:cNvPr name="Freeform 147" id="147"/>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148" id="148"/>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Simple, reliable implementation of cosine similarity</a:t>
              </a:r>
            </a:p>
          </p:txBody>
        </p:sp>
      </p:grpSp>
      <p:grpSp>
        <p:nvGrpSpPr>
          <p:cNvPr name="Group 149" id="149"/>
          <p:cNvGrpSpPr/>
          <p:nvPr/>
        </p:nvGrpSpPr>
        <p:grpSpPr>
          <a:xfrm rot="0">
            <a:off x="395983" y="8076943"/>
            <a:ext cx="3670297" cy="707641"/>
            <a:chOff x="0" y="0"/>
            <a:chExt cx="4893729" cy="943521"/>
          </a:xfrm>
        </p:grpSpPr>
        <p:sp>
          <p:nvSpPr>
            <p:cNvPr name="Freeform 150" id="150"/>
            <p:cNvSpPr/>
            <p:nvPr/>
          </p:nvSpPr>
          <p:spPr>
            <a:xfrm flipH="false" flipV="false" rot="0">
              <a:off x="0" y="0"/>
              <a:ext cx="4893691" cy="943483"/>
            </a:xfrm>
            <a:custGeom>
              <a:avLst/>
              <a:gdLst/>
              <a:ahLst/>
              <a:cxnLst/>
              <a:rect r="r" b="b" t="t" l="l"/>
              <a:pathLst>
                <a:path h="943483" w="4893691">
                  <a:moveTo>
                    <a:pt x="0" y="0"/>
                  </a:moveTo>
                  <a:lnTo>
                    <a:pt x="4893691" y="0"/>
                  </a:lnTo>
                  <a:lnTo>
                    <a:pt x="4893691" y="943483"/>
                  </a:lnTo>
                  <a:lnTo>
                    <a:pt x="0" y="943483"/>
                  </a:lnTo>
                  <a:close/>
                </a:path>
              </a:pathLst>
            </a:custGeom>
            <a:solidFill>
              <a:srgbClr val="16161A"/>
            </a:solidFill>
            <a:ln w="12700" cap="sq">
              <a:solidFill>
                <a:srgbClr val="2E2E34"/>
              </a:solidFill>
              <a:prstDash val="solid"/>
              <a:miter/>
            </a:ln>
          </p:spPr>
        </p:sp>
      </p:grpSp>
      <p:grpSp>
        <p:nvGrpSpPr>
          <p:cNvPr name="Group 151" id="151"/>
          <p:cNvGrpSpPr/>
          <p:nvPr/>
        </p:nvGrpSpPr>
        <p:grpSpPr>
          <a:xfrm rot="0">
            <a:off x="548640" y="8156448"/>
            <a:ext cx="3364992" cy="548640"/>
            <a:chOff x="0" y="0"/>
            <a:chExt cx="4486656" cy="731520"/>
          </a:xfrm>
        </p:grpSpPr>
        <p:sp>
          <p:nvSpPr>
            <p:cNvPr name="Freeform 152" id="152"/>
            <p:cNvSpPr/>
            <p:nvPr/>
          </p:nvSpPr>
          <p:spPr>
            <a:xfrm flipH="false" flipV="false" rot="0">
              <a:off x="0" y="0"/>
              <a:ext cx="4486656" cy="731520"/>
            </a:xfrm>
            <a:custGeom>
              <a:avLst/>
              <a:gdLst/>
              <a:ahLst/>
              <a:cxnLst/>
              <a:rect r="r" b="b" t="t" l="l"/>
              <a:pathLst>
                <a:path h="731520" w="4486656">
                  <a:moveTo>
                    <a:pt x="0" y="0"/>
                  </a:moveTo>
                  <a:lnTo>
                    <a:pt x="4486656" y="0"/>
                  </a:lnTo>
                  <a:lnTo>
                    <a:pt x="4486656" y="731520"/>
                  </a:lnTo>
                  <a:lnTo>
                    <a:pt x="0" y="731520"/>
                  </a:lnTo>
                  <a:close/>
                </a:path>
              </a:pathLst>
            </a:custGeom>
            <a:blipFill>
              <a:blip r:embed="rId2">
                <a:alphaModFix amt="0"/>
              </a:blip>
              <a:stretch>
                <a:fillRect l="0" t="-69508" r="0" b="-69508"/>
              </a:stretch>
            </a:blipFill>
          </p:spPr>
        </p:sp>
        <p:sp>
          <p:nvSpPr>
            <p:cNvPr name="TextBox 153" id="153"/>
            <p:cNvSpPr txBox="true"/>
            <p:nvPr/>
          </p:nvSpPr>
          <p:spPr>
            <a:xfrm>
              <a:off x="0" y="-38100"/>
              <a:ext cx="44866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Pydantic</a:t>
              </a:r>
            </a:p>
          </p:txBody>
        </p:sp>
      </p:grpSp>
      <p:grpSp>
        <p:nvGrpSpPr>
          <p:cNvPr name="Group 154" id="154"/>
          <p:cNvGrpSpPr/>
          <p:nvPr/>
        </p:nvGrpSpPr>
        <p:grpSpPr>
          <a:xfrm rot="0">
            <a:off x="4163311" y="8076943"/>
            <a:ext cx="6047737" cy="707641"/>
            <a:chOff x="0" y="0"/>
            <a:chExt cx="8063649" cy="943521"/>
          </a:xfrm>
        </p:grpSpPr>
        <p:sp>
          <p:nvSpPr>
            <p:cNvPr name="Freeform 155" id="155"/>
            <p:cNvSpPr/>
            <p:nvPr/>
          </p:nvSpPr>
          <p:spPr>
            <a:xfrm flipH="false" flipV="false" rot="0">
              <a:off x="0" y="0"/>
              <a:ext cx="8063611" cy="943483"/>
            </a:xfrm>
            <a:custGeom>
              <a:avLst/>
              <a:gdLst/>
              <a:ahLst/>
              <a:cxnLst/>
              <a:rect r="r" b="b" t="t" l="l"/>
              <a:pathLst>
                <a:path h="943483" w="8063611">
                  <a:moveTo>
                    <a:pt x="0" y="0"/>
                  </a:moveTo>
                  <a:lnTo>
                    <a:pt x="8063611" y="0"/>
                  </a:lnTo>
                  <a:lnTo>
                    <a:pt x="8063611" y="943483"/>
                  </a:lnTo>
                  <a:lnTo>
                    <a:pt x="0" y="943483"/>
                  </a:lnTo>
                  <a:close/>
                </a:path>
              </a:pathLst>
            </a:custGeom>
            <a:solidFill>
              <a:srgbClr val="16161A"/>
            </a:solidFill>
            <a:ln w="12700" cap="sq">
              <a:solidFill>
                <a:srgbClr val="2E2E34"/>
              </a:solidFill>
              <a:prstDash val="solid"/>
              <a:miter/>
            </a:ln>
          </p:spPr>
        </p:sp>
      </p:grpSp>
      <p:grpSp>
        <p:nvGrpSpPr>
          <p:cNvPr name="Group 156" id="156"/>
          <p:cNvGrpSpPr/>
          <p:nvPr/>
        </p:nvGrpSpPr>
        <p:grpSpPr>
          <a:xfrm rot="0">
            <a:off x="4315968" y="8156448"/>
            <a:ext cx="5742432" cy="548640"/>
            <a:chOff x="0" y="0"/>
            <a:chExt cx="7656576" cy="731520"/>
          </a:xfrm>
        </p:grpSpPr>
        <p:sp>
          <p:nvSpPr>
            <p:cNvPr name="Freeform 157" id="157"/>
            <p:cNvSpPr/>
            <p:nvPr/>
          </p:nvSpPr>
          <p:spPr>
            <a:xfrm flipH="false" flipV="false" rot="0">
              <a:off x="0" y="0"/>
              <a:ext cx="7656576" cy="731520"/>
            </a:xfrm>
            <a:custGeom>
              <a:avLst/>
              <a:gdLst/>
              <a:ahLst/>
              <a:cxnLst/>
              <a:rect r="r" b="b" t="t" l="l"/>
              <a:pathLst>
                <a:path h="731520" w="7656576">
                  <a:moveTo>
                    <a:pt x="0" y="0"/>
                  </a:moveTo>
                  <a:lnTo>
                    <a:pt x="7656576" y="0"/>
                  </a:lnTo>
                  <a:lnTo>
                    <a:pt x="7656576" y="731520"/>
                  </a:lnTo>
                  <a:lnTo>
                    <a:pt x="0" y="731520"/>
                  </a:lnTo>
                  <a:close/>
                </a:path>
              </a:pathLst>
            </a:custGeom>
            <a:blipFill>
              <a:blip r:embed="rId2">
                <a:alphaModFix amt="0"/>
              </a:blip>
              <a:stretch>
                <a:fillRect l="0" t="-153943" r="0" b="-153943"/>
              </a:stretch>
            </a:blipFill>
          </p:spPr>
        </p:sp>
        <p:sp>
          <p:nvSpPr>
            <p:cNvPr name="TextBox 158" id="158"/>
            <p:cNvSpPr txBox="true"/>
            <p:nvPr/>
          </p:nvSpPr>
          <p:spPr>
            <a:xfrm>
              <a:off x="0" y="-38100"/>
              <a:ext cx="765657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Data validation and schema</a:t>
              </a:r>
            </a:p>
          </p:txBody>
        </p:sp>
      </p:grpSp>
      <p:grpSp>
        <p:nvGrpSpPr>
          <p:cNvPr name="Group 159" id="159"/>
          <p:cNvGrpSpPr/>
          <p:nvPr/>
        </p:nvGrpSpPr>
        <p:grpSpPr>
          <a:xfrm rot="0">
            <a:off x="10308079" y="8076943"/>
            <a:ext cx="7327897" cy="707641"/>
            <a:chOff x="0" y="0"/>
            <a:chExt cx="9770529" cy="943521"/>
          </a:xfrm>
        </p:grpSpPr>
        <p:sp>
          <p:nvSpPr>
            <p:cNvPr name="Freeform 160" id="160"/>
            <p:cNvSpPr/>
            <p:nvPr/>
          </p:nvSpPr>
          <p:spPr>
            <a:xfrm flipH="false" flipV="false" rot="0">
              <a:off x="0" y="0"/>
              <a:ext cx="9770491" cy="943483"/>
            </a:xfrm>
            <a:custGeom>
              <a:avLst/>
              <a:gdLst/>
              <a:ahLst/>
              <a:cxnLst/>
              <a:rect r="r" b="b" t="t" l="l"/>
              <a:pathLst>
                <a:path h="943483" w="9770491">
                  <a:moveTo>
                    <a:pt x="0" y="0"/>
                  </a:moveTo>
                  <a:lnTo>
                    <a:pt x="9770491" y="0"/>
                  </a:lnTo>
                  <a:lnTo>
                    <a:pt x="9770491" y="943483"/>
                  </a:lnTo>
                  <a:lnTo>
                    <a:pt x="0" y="943483"/>
                  </a:lnTo>
                  <a:close/>
                </a:path>
              </a:pathLst>
            </a:custGeom>
            <a:solidFill>
              <a:srgbClr val="16161A"/>
            </a:solidFill>
            <a:ln w="12700" cap="sq">
              <a:solidFill>
                <a:srgbClr val="2E2E34"/>
              </a:solidFill>
              <a:prstDash val="solid"/>
              <a:miter/>
            </a:ln>
          </p:spPr>
        </p:sp>
      </p:grpSp>
      <p:grpSp>
        <p:nvGrpSpPr>
          <p:cNvPr name="Group 161" id="161"/>
          <p:cNvGrpSpPr/>
          <p:nvPr/>
        </p:nvGrpSpPr>
        <p:grpSpPr>
          <a:xfrm rot="0">
            <a:off x="10460736" y="8156448"/>
            <a:ext cx="7022592" cy="548640"/>
            <a:chOff x="0" y="0"/>
            <a:chExt cx="9363456" cy="731520"/>
          </a:xfrm>
        </p:grpSpPr>
        <p:sp>
          <p:nvSpPr>
            <p:cNvPr name="Freeform 162" id="162"/>
            <p:cNvSpPr/>
            <p:nvPr/>
          </p:nvSpPr>
          <p:spPr>
            <a:xfrm flipH="false" flipV="false" rot="0">
              <a:off x="0" y="0"/>
              <a:ext cx="9363456" cy="731520"/>
            </a:xfrm>
            <a:custGeom>
              <a:avLst/>
              <a:gdLst/>
              <a:ahLst/>
              <a:cxnLst/>
              <a:rect r="r" b="b" t="t" l="l"/>
              <a:pathLst>
                <a:path h="731520" w="9363456">
                  <a:moveTo>
                    <a:pt x="0" y="0"/>
                  </a:moveTo>
                  <a:lnTo>
                    <a:pt x="9363456" y="0"/>
                  </a:lnTo>
                  <a:lnTo>
                    <a:pt x="9363456" y="731520"/>
                  </a:lnTo>
                  <a:lnTo>
                    <a:pt x="0" y="731520"/>
                  </a:lnTo>
                  <a:close/>
                </a:path>
              </a:pathLst>
            </a:custGeom>
            <a:blipFill>
              <a:blip r:embed="rId2">
                <a:alphaModFix amt="0"/>
              </a:blip>
              <a:stretch>
                <a:fillRect l="0" t="-199408" r="0" b="-199408"/>
              </a:stretch>
            </a:blipFill>
          </p:spPr>
        </p:sp>
        <p:sp>
          <p:nvSpPr>
            <p:cNvPr name="TextBox 163" id="163"/>
            <p:cNvSpPr txBox="true"/>
            <p:nvPr/>
          </p:nvSpPr>
          <p:spPr>
            <a:xfrm>
              <a:off x="0" y="-38100"/>
              <a:ext cx="9363456" cy="769620"/>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Keeps our data structures clean and consistent</a:t>
              </a:r>
            </a:p>
          </p:txBody>
        </p:sp>
      </p:grpSp>
      <p:sp>
        <p:nvSpPr>
          <p:cNvPr name="TextBox 164" id="164"/>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Core Algorithms &amp; Methodology</a:t>
              </a:r>
            </a:p>
          </p:txBody>
        </p:sp>
      </p:grpSp>
      <p:grpSp>
        <p:nvGrpSpPr>
          <p:cNvPr name="Group 14" id="14"/>
          <p:cNvGrpSpPr/>
          <p:nvPr/>
        </p:nvGrpSpPr>
        <p:grpSpPr>
          <a:xfrm rot="0">
            <a:off x="389639" y="1816103"/>
            <a:ext cx="1214123" cy="1342139"/>
            <a:chOff x="0" y="0"/>
            <a:chExt cx="1618831" cy="1789519"/>
          </a:xfrm>
        </p:grpSpPr>
        <p:sp>
          <p:nvSpPr>
            <p:cNvPr name="Freeform 15" id="15"/>
            <p:cNvSpPr/>
            <p:nvPr/>
          </p:nvSpPr>
          <p:spPr>
            <a:xfrm flipH="false" flipV="false" rot="0">
              <a:off x="0" y="0"/>
              <a:ext cx="1618869" cy="1789557"/>
            </a:xfrm>
            <a:custGeom>
              <a:avLst/>
              <a:gdLst/>
              <a:ahLst/>
              <a:cxnLst/>
              <a:rect r="r" b="b" t="t" l="l"/>
              <a:pathLst>
                <a:path h="1789557" w="1618869">
                  <a:moveTo>
                    <a:pt x="0" y="0"/>
                  </a:moveTo>
                  <a:lnTo>
                    <a:pt x="1618869" y="0"/>
                  </a:lnTo>
                  <a:lnTo>
                    <a:pt x="1618869" y="1789557"/>
                  </a:lnTo>
                  <a:lnTo>
                    <a:pt x="0" y="1789557"/>
                  </a:lnTo>
                  <a:close/>
                </a:path>
              </a:pathLst>
            </a:custGeom>
            <a:solidFill>
              <a:srgbClr val="D63C3C"/>
            </a:solidFill>
            <a:ln w="25400" cap="sq">
              <a:solidFill>
                <a:srgbClr val="2E2E34"/>
              </a:solidFill>
              <a:prstDash val="solid"/>
              <a:miter/>
            </a:ln>
          </p:spPr>
        </p:sp>
      </p:grpSp>
      <p:grpSp>
        <p:nvGrpSpPr>
          <p:cNvPr name="Group 16" id="16"/>
          <p:cNvGrpSpPr/>
          <p:nvPr/>
        </p:nvGrpSpPr>
        <p:grpSpPr>
          <a:xfrm rot="0">
            <a:off x="402336" y="1828800"/>
            <a:ext cx="1188720" cy="1316736"/>
            <a:chOff x="0" y="0"/>
            <a:chExt cx="1584960" cy="1755648"/>
          </a:xfrm>
        </p:grpSpPr>
        <p:sp>
          <p:nvSpPr>
            <p:cNvPr name="Freeform 17" id="17"/>
            <p:cNvSpPr/>
            <p:nvPr/>
          </p:nvSpPr>
          <p:spPr>
            <a:xfrm flipH="false" flipV="false" rot="0">
              <a:off x="0" y="0"/>
              <a:ext cx="1584960" cy="1755648"/>
            </a:xfrm>
            <a:custGeom>
              <a:avLst/>
              <a:gdLst/>
              <a:ahLst/>
              <a:cxnLst/>
              <a:rect r="r" b="b" t="t" l="l"/>
              <a:pathLst>
                <a:path h="1755648" w="1584960">
                  <a:moveTo>
                    <a:pt x="0" y="0"/>
                  </a:moveTo>
                  <a:lnTo>
                    <a:pt x="1584960" y="0"/>
                  </a:lnTo>
                  <a:lnTo>
                    <a:pt x="1584960" y="1755648"/>
                  </a:lnTo>
                  <a:lnTo>
                    <a:pt x="0" y="1755648"/>
                  </a:lnTo>
                  <a:close/>
                </a:path>
              </a:pathLst>
            </a:custGeom>
            <a:blipFill>
              <a:blip r:embed="rId2">
                <a:alphaModFix amt="0"/>
              </a:blip>
              <a:stretch>
                <a:fillRect l="-92120" t="0" r="-92120" b="0"/>
              </a:stretch>
            </a:blipFill>
          </p:spPr>
        </p:sp>
        <p:sp>
          <p:nvSpPr>
            <p:cNvPr name="TextBox 18" id="18"/>
            <p:cNvSpPr txBox="true"/>
            <p:nvPr/>
          </p:nvSpPr>
          <p:spPr>
            <a:xfrm>
              <a:off x="0" y="-28575"/>
              <a:ext cx="1584960" cy="1784223"/>
            </a:xfrm>
            <a:prstGeom prst="rect">
              <a:avLst/>
            </a:prstGeom>
          </p:spPr>
          <p:txBody>
            <a:bodyPr anchor="ctr" rtlCol="false" tIns="0" lIns="0" bIns="0" rIns="0"/>
            <a:lstStyle/>
            <a:p>
              <a:pPr algn="ctr">
                <a:lnSpc>
                  <a:spcPts val="4320"/>
                </a:lnSpc>
              </a:pPr>
              <a:r>
                <a:rPr lang="en-US" sz="3600" b="true">
                  <a:solidFill>
                    <a:srgbClr val="FFFFFF"/>
                  </a:solidFill>
                  <a:latin typeface="Arial Bold"/>
                  <a:ea typeface="Arial Bold"/>
                  <a:cs typeface="Arial Bold"/>
                  <a:sym typeface="Arial Bold"/>
                </a:rPr>
                <a:t>01</a:t>
              </a:r>
            </a:p>
          </p:txBody>
        </p:sp>
      </p:grpSp>
      <p:grpSp>
        <p:nvGrpSpPr>
          <p:cNvPr name="Group 19" id="19"/>
          <p:cNvGrpSpPr/>
          <p:nvPr/>
        </p:nvGrpSpPr>
        <p:grpSpPr>
          <a:xfrm rot="0">
            <a:off x="1712719" y="1822447"/>
            <a:ext cx="16069561" cy="1329433"/>
            <a:chOff x="0" y="0"/>
            <a:chExt cx="21426081" cy="1772577"/>
          </a:xfrm>
        </p:grpSpPr>
        <p:sp>
          <p:nvSpPr>
            <p:cNvPr name="Freeform 20" id="20"/>
            <p:cNvSpPr/>
            <p:nvPr/>
          </p:nvSpPr>
          <p:spPr>
            <a:xfrm flipH="false" flipV="false" rot="0">
              <a:off x="0" y="0"/>
              <a:ext cx="21426043" cy="1772539"/>
            </a:xfrm>
            <a:custGeom>
              <a:avLst/>
              <a:gdLst/>
              <a:ahLst/>
              <a:cxnLst/>
              <a:rect r="r" b="b" t="t" l="l"/>
              <a:pathLst>
                <a:path h="1772539" w="21426043">
                  <a:moveTo>
                    <a:pt x="0" y="0"/>
                  </a:moveTo>
                  <a:lnTo>
                    <a:pt x="21426043" y="0"/>
                  </a:lnTo>
                  <a:lnTo>
                    <a:pt x="21426043" y="1772539"/>
                  </a:lnTo>
                  <a:lnTo>
                    <a:pt x="0" y="1772539"/>
                  </a:lnTo>
                  <a:close/>
                </a:path>
              </a:pathLst>
            </a:custGeom>
            <a:solidFill>
              <a:srgbClr val="16161A"/>
            </a:solidFill>
            <a:ln w="12700" cap="sq">
              <a:solidFill>
                <a:srgbClr val="2E2E34"/>
              </a:solidFill>
              <a:prstDash val="solid"/>
              <a:miter/>
            </a:ln>
          </p:spPr>
        </p:sp>
      </p:grpSp>
      <p:grpSp>
        <p:nvGrpSpPr>
          <p:cNvPr name="Group 21" id="21"/>
          <p:cNvGrpSpPr/>
          <p:nvPr/>
        </p:nvGrpSpPr>
        <p:grpSpPr>
          <a:xfrm rot="0">
            <a:off x="1901952" y="1901952"/>
            <a:ext cx="15691104" cy="512064"/>
            <a:chOff x="0" y="0"/>
            <a:chExt cx="20921472" cy="682752"/>
          </a:xfrm>
        </p:grpSpPr>
        <p:sp>
          <p:nvSpPr>
            <p:cNvPr name="Freeform 22" id="22"/>
            <p:cNvSpPr/>
            <p:nvPr/>
          </p:nvSpPr>
          <p:spPr>
            <a:xfrm flipH="false" flipV="false" rot="0">
              <a:off x="0" y="0"/>
              <a:ext cx="20921472" cy="682752"/>
            </a:xfrm>
            <a:custGeom>
              <a:avLst/>
              <a:gdLst/>
              <a:ahLst/>
              <a:cxnLst/>
              <a:rect r="r" b="b" t="t" l="l"/>
              <a:pathLst>
                <a:path h="682752" w="20921472">
                  <a:moveTo>
                    <a:pt x="0" y="0"/>
                  </a:moveTo>
                  <a:lnTo>
                    <a:pt x="20921472" y="0"/>
                  </a:lnTo>
                  <a:lnTo>
                    <a:pt x="20921472" y="682752"/>
                  </a:lnTo>
                  <a:lnTo>
                    <a:pt x="0" y="682752"/>
                  </a:lnTo>
                  <a:close/>
                </a:path>
              </a:pathLst>
            </a:custGeom>
            <a:blipFill>
              <a:blip r:embed="rId2">
                <a:alphaModFix amt="0"/>
              </a:blip>
              <a:stretch>
                <a:fillRect l="0" t="-547077" r="0" b="-547077"/>
              </a:stretch>
            </a:blipFill>
          </p:spPr>
        </p:sp>
        <p:sp>
          <p:nvSpPr>
            <p:cNvPr name="TextBox 23" id="23"/>
            <p:cNvSpPr txBox="true"/>
            <p:nvPr/>
          </p:nvSpPr>
          <p:spPr>
            <a:xfrm>
              <a:off x="0" y="-9525"/>
              <a:ext cx="20921472" cy="692277"/>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Text Ingestion</a:t>
              </a:r>
            </a:p>
          </p:txBody>
        </p:sp>
      </p:grpSp>
      <p:grpSp>
        <p:nvGrpSpPr>
          <p:cNvPr name="Group 24" id="24"/>
          <p:cNvGrpSpPr/>
          <p:nvPr/>
        </p:nvGrpSpPr>
        <p:grpSpPr>
          <a:xfrm rot="0">
            <a:off x="1901952" y="2414016"/>
            <a:ext cx="15691104" cy="658368"/>
            <a:chOff x="0" y="0"/>
            <a:chExt cx="20921472" cy="877824"/>
          </a:xfrm>
        </p:grpSpPr>
        <p:sp>
          <p:nvSpPr>
            <p:cNvPr name="Freeform 25" id="25"/>
            <p:cNvSpPr/>
            <p:nvPr/>
          </p:nvSpPr>
          <p:spPr>
            <a:xfrm flipH="false" flipV="false" rot="0">
              <a:off x="0" y="0"/>
              <a:ext cx="20921472" cy="877824"/>
            </a:xfrm>
            <a:custGeom>
              <a:avLst/>
              <a:gdLst/>
              <a:ahLst/>
              <a:cxnLst/>
              <a:rect r="r" b="b" t="t" l="l"/>
              <a:pathLst>
                <a:path h="877824" w="20921472">
                  <a:moveTo>
                    <a:pt x="0" y="0"/>
                  </a:moveTo>
                  <a:lnTo>
                    <a:pt x="20921472" y="0"/>
                  </a:lnTo>
                  <a:lnTo>
                    <a:pt x="20921472" y="877824"/>
                  </a:lnTo>
                  <a:lnTo>
                    <a:pt x="0" y="877824"/>
                  </a:lnTo>
                  <a:close/>
                </a:path>
              </a:pathLst>
            </a:custGeom>
            <a:blipFill>
              <a:blip r:embed="rId2">
                <a:alphaModFix amt="0"/>
              </a:blip>
              <a:stretch>
                <a:fillRect l="0" t="-414393" r="0" b="-414393"/>
              </a:stretch>
            </a:blipFill>
          </p:spPr>
        </p:sp>
        <p:sp>
          <p:nvSpPr>
            <p:cNvPr name="TextBox 26" id="26"/>
            <p:cNvSpPr txBox="true"/>
            <p:nvPr/>
          </p:nvSpPr>
          <p:spPr>
            <a:xfrm>
              <a:off x="0" y="-38100"/>
              <a:ext cx="20921472"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PDF parsed via PyMuPDF; text cleaned (remove headers, footers, page numbers). Unicode normalization applied.</a:t>
              </a:r>
            </a:p>
          </p:txBody>
        </p:sp>
      </p:grpSp>
      <p:grpSp>
        <p:nvGrpSpPr>
          <p:cNvPr name="Group 27" id="27"/>
          <p:cNvGrpSpPr/>
          <p:nvPr/>
        </p:nvGrpSpPr>
        <p:grpSpPr>
          <a:xfrm rot="0">
            <a:off x="548640" y="3163824"/>
            <a:ext cx="914400" cy="182880"/>
            <a:chOff x="0" y="0"/>
            <a:chExt cx="1219200" cy="243840"/>
          </a:xfrm>
        </p:grpSpPr>
        <p:sp>
          <p:nvSpPr>
            <p:cNvPr name="Freeform 28" id="28"/>
            <p:cNvSpPr/>
            <p:nvPr/>
          </p:nvSpPr>
          <p:spPr>
            <a:xfrm flipH="false" flipV="false" rot="0">
              <a:off x="0" y="0"/>
              <a:ext cx="1219200" cy="243840"/>
            </a:xfrm>
            <a:custGeom>
              <a:avLst/>
              <a:gdLst/>
              <a:ahLst/>
              <a:cxnLst/>
              <a:rect r="r" b="b" t="t" l="l"/>
              <a:pathLst>
                <a:path h="243840" w="1219200">
                  <a:moveTo>
                    <a:pt x="0" y="0"/>
                  </a:moveTo>
                  <a:lnTo>
                    <a:pt x="1219200" y="0"/>
                  </a:lnTo>
                  <a:lnTo>
                    <a:pt x="1219200" y="243840"/>
                  </a:lnTo>
                  <a:lnTo>
                    <a:pt x="0" y="243840"/>
                  </a:lnTo>
                  <a:close/>
                </a:path>
              </a:pathLst>
            </a:custGeom>
            <a:blipFill>
              <a:blip r:embed="rId2">
                <a:alphaModFix amt="0"/>
              </a:blip>
              <a:stretch>
                <a:fillRect l="0" t="-47425" r="0" b="-47425"/>
              </a:stretch>
            </a:blipFill>
          </p:spPr>
        </p:sp>
        <p:sp>
          <p:nvSpPr>
            <p:cNvPr name="TextBox 29" id="29"/>
            <p:cNvSpPr txBox="true"/>
            <p:nvPr/>
          </p:nvSpPr>
          <p:spPr>
            <a:xfrm>
              <a:off x="0" y="-38100"/>
              <a:ext cx="1219200" cy="281940"/>
            </a:xfrm>
            <a:prstGeom prst="rect">
              <a:avLst/>
            </a:prstGeom>
          </p:spPr>
          <p:txBody>
            <a:bodyPr anchor="ctr" rtlCol="false" tIns="0" lIns="0" bIns="0" rIns="0"/>
            <a:lstStyle/>
            <a:p>
              <a:pPr algn="ctr">
                <a:lnSpc>
                  <a:spcPts val="2160"/>
                </a:lnSpc>
              </a:pPr>
              <a:r>
                <a:rPr lang="en-US" sz="1800">
                  <a:solidFill>
                    <a:srgbClr val="A0A0A0"/>
                  </a:solidFill>
                  <a:latin typeface="Calibri (MS)"/>
                  <a:ea typeface="Calibri (MS)"/>
                  <a:cs typeface="Calibri (MS)"/>
                  <a:sym typeface="Calibri (MS)"/>
                </a:rPr>
                <a:t>▼</a:t>
              </a:r>
            </a:p>
          </p:txBody>
        </p:sp>
      </p:grpSp>
      <p:grpSp>
        <p:nvGrpSpPr>
          <p:cNvPr name="Group 30" id="30"/>
          <p:cNvGrpSpPr/>
          <p:nvPr/>
        </p:nvGrpSpPr>
        <p:grpSpPr>
          <a:xfrm rot="0">
            <a:off x="389639" y="3370583"/>
            <a:ext cx="1214123" cy="1342139"/>
            <a:chOff x="0" y="0"/>
            <a:chExt cx="1618831" cy="1789519"/>
          </a:xfrm>
        </p:grpSpPr>
        <p:sp>
          <p:nvSpPr>
            <p:cNvPr name="Freeform 31" id="31"/>
            <p:cNvSpPr/>
            <p:nvPr/>
          </p:nvSpPr>
          <p:spPr>
            <a:xfrm flipH="false" flipV="false" rot="0">
              <a:off x="0" y="0"/>
              <a:ext cx="1618869" cy="1789557"/>
            </a:xfrm>
            <a:custGeom>
              <a:avLst/>
              <a:gdLst/>
              <a:ahLst/>
              <a:cxnLst/>
              <a:rect r="r" b="b" t="t" l="l"/>
              <a:pathLst>
                <a:path h="1789557" w="1618869">
                  <a:moveTo>
                    <a:pt x="0" y="0"/>
                  </a:moveTo>
                  <a:lnTo>
                    <a:pt x="1618869" y="0"/>
                  </a:lnTo>
                  <a:lnTo>
                    <a:pt x="1618869" y="1789557"/>
                  </a:lnTo>
                  <a:lnTo>
                    <a:pt x="0" y="1789557"/>
                  </a:lnTo>
                  <a:close/>
                </a:path>
              </a:pathLst>
            </a:custGeom>
            <a:solidFill>
              <a:srgbClr val="D63C3C"/>
            </a:solidFill>
            <a:ln w="25400" cap="sq">
              <a:solidFill>
                <a:srgbClr val="2E2E34"/>
              </a:solidFill>
              <a:prstDash val="solid"/>
              <a:miter/>
            </a:ln>
          </p:spPr>
        </p:sp>
      </p:grpSp>
      <p:grpSp>
        <p:nvGrpSpPr>
          <p:cNvPr name="Group 32" id="32"/>
          <p:cNvGrpSpPr/>
          <p:nvPr/>
        </p:nvGrpSpPr>
        <p:grpSpPr>
          <a:xfrm rot="0">
            <a:off x="402336" y="3383280"/>
            <a:ext cx="1188720" cy="1316736"/>
            <a:chOff x="0" y="0"/>
            <a:chExt cx="1584960" cy="1755648"/>
          </a:xfrm>
        </p:grpSpPr>
        <p:sp>
          <p:nvSpPr>
            <p:cNvPr name="Freeform 33" id="33"/>
            <p:cNvSpPr/>
            <p:nvPr/>
          </p:nvSpPr>
          <p:spPr>
            <a:xfrm flipH="false" flipV="false" rot="0">
              <a:off x="0" y="0"/>
              <a:ext cx="1584960" cy="1755648"/>
            </a:xfrm>
            <a:custGeom>
              <a:avLst/>
              <a:gdLst/>
              <a:ahLst/>
              <a:cxnLst/>
              <a:rect r="r" b="b" t="t" l="l"/>
              <a:pathLst>
                <a:path h="1755648" w="1584960">
                  <a:moveTo>
                    <a:pt x="0" y="0"/>
                  </a:moveTo>
                  <a:lnTo>
                    <a:pt x="1584960" y="0"/>
                  </a:lnTo>
                  <a:lnTo>
                    <a:pt x="1584960" y="1755648"/>
                  </a:lnTo>
                  <a:lnTo>
                    <a:pt x="0" y="1755648"/>
                  </a:lnTo>
                  <a:close/>
                </a:path>
              </a:pathLst>
            </a:custGeom>
            <a:blipFill>
              <a:blip r:embed="rId2">
                <a:alphaModFix amt="0"/>
              </a:blip>
              <a:stretch>
                <a:fillRect l="-92120" t="0" r="-92120" b="0"/>
              </a:stretch>
            </a:blipFill>
          </p:spPr>
        </p:sp>
        <p:sp>
          <p:nvSpPr>
            <p:cNvPr name="TextBox 34" id="34"/>
            <p:cNvSpPr txBox="true"/>
            <p:nvPr/>
          </p:nvSpPr>
          <p:spPr>
            <a:xfrm>
              <a:off x="0" y="-28575"/>
              <a:ext cx="1584960" cy="1784223"/>
            </a:xfrm>
            <a:prstGeom prst="rect">
              <a:avLst/>
            </a:prstGeom>
          </p:spPr>
          <p:txBody>
            <a:bodyPr anchor="ctr" rtlCol="false" tIns="0" lIns="0" bIns="0" rIns="0"/>
            <a:lstStyle/>
            <a:p>
              <a:pPr algn="ctr">
                <a:lnSpc>
                  <a:spcPts val="4320"/>
                </a:lnSpc>
              </a:pPr>
              <a:r>
                <a:rPr lang="en-US" sz="3600" b="true">
                  <a:solidFill>
                    <a:srgbClr val="FFFFFF"/>
                  </a:solidFill>
                  <a:latin typeface="Arial Bold"/>
                  <a:ea typeface="Arial Bold"/>
                  <a:cs typeface="Arial Bold"/>
                  <a:sym typeface="Arial Bold"/>
                </a:rPr>
                <a:t>02</a:t>
              </a:r>
            </a:p>
          </p:txBody>
        </p:sp>
      </p:grpSp>
      <p:grpSp>
        <p:nvGrpSpPr>
          <p:cNvPr name="Group 35" id="35"/>
          <p:cNvGrpSpPr/>
          <p:nvPr/>
        </p:nvGrpSpPr>
        <p:grpSpPr>
          <a:xfrm rot="0">
            <a:off x="1712719" y="3376927"/>
            <a:ext cx="16069561" cy="1329433"/>
            <a:chOff x="0" y="0"/>
            <a:chExt cx="21426081" cy="1772577"/>
          </a:xfrm>
        </p:grpSpPr>
        <p:sp>
          <p:nvSpPr>
            <p:cNvPr name="Freeform 36" id="36"/>
            <p:cNvSpPr/>
            <p:nvPr/>
          </p:nvSpPr>
          <p:spPr>
            <a:xfrm flipH="false" flipV="false" rot="0">
              <a:off x="0" y="0"/>
              <a:ext cx="21426043" cy="1772539"/>
            </a:xfrm>
            <a:custGeom>
              <a:avLst/>
              <a:gdLst/>
              <a:ahLst/>
              <a:cxnLst/>
              <a:rect r="r" b="b" t="t" l="l"/>
              <a:pathLst>
                <a:path h="1772539" w="21426043">
                  <a:moveTo>
                    <a:pt x="0" y="0"/>
                  </a:moveTo>
                  <a:lnTo>
                    <a:pt x="21426043" y="0"/>
                  </a:lnTo>
                  <a:lnTo>
                    <a:pt x="21426043" y="1772539"/>
                  </a:lnTo>
                  <a:lnTo>
                    <a:pt x="0" y="1772539"/>
                  </a:lnTo>
                  <a:close/>
                </a:path>
              </a:pathLst>
            </a:custGeom>
            <a:solidFill>
              <a:srgbClr val="111113"/>
            </a:solidFill>
            <a:ln w="12700" cap="sq">
              <a:solidFill>
                <a:srgbClr val="2E2E34"/>
              </a:solidFill>
              <a:prstDash val="solid"/>
              <a:miter/>
            </a:ln>
          </p:spPr>
        </p:sp>
      </p:grpSp>
      <p:grpSp>
        <p:nvGrpSpPr>
          <p:cNvPr name="Group 37" id="37"/>
          <p:cNvGrpSpPr/>
          <p:nvPr/>
        </p:nvGrpSpPr>
        <p:grpSpPr>
          <a:xfrm rot="0">
            <a:off x="1901952" y="3456432"/>
            <a:ext cx="15691104" cy="512064"/>
            <a:chOff x="0" y="0"/>
            <a:chExt cx="20921472" cy="682752"/>
          </a:xfrm>
        </p:grpSpPr>
        <p:sp>
          <p:nvSpPr>
            <p:cNvPr name="Freeform 38" id="38"/>
            <p:cNvSpPr/>
            <p:nvPr/>
          </p:nvSpPr>
          <p:spPr>
            <a:xfrm flipH="false" flipV="false" rot="0">
              <a:off x="0" y="0"/>
              <a:ext cx="20921472" cy="682752"/>
            </a:xfrm>
            <a:custGeom>
              <a:avLst/>
              <a:gdLst/>
              <a:ahLst/>
              <a:cxnLst/>
              <a:rect r="r" b="b" t="t" l="l"/>
              <a:pathLst>
                <a:path h="682752" w="20921472">
                  <a:moveTo>
                    <a:pt x="0" y="0"/>
                  </a:moveTo>
                  <a:lnTo>
                    <a:pt x="20921472" y="0"/>
                  </a:lnTo>
                  <a:lnTo>
                    <a:pt x="20921472" y="682752"/>
                  </a:lnTo>
                  <a:lnTo>
                    <a:pt x="0" y="682752"/>
                  </a:lnTo>
                  <a:close/>
                </a:path>
              </a:pathLst>
            </a:custGeom>
            <a:blipFill>
              <a:blip r:embed="rId2">
                <a:alphaModFix amt="0"/>
              </a:blip>
              <a:stretch>
                <a:fillRect l="0" t="-547077" r="0" b="-547077"/>
              </a:stretch>
            </a:blipFill>
          </p:spPr>
        </p:sp>
        <p:sp>
          <p:nvSpPr>
            <p:cNvPr name="TextBox 39" id="39"/>
            <p:cNvSpPr txBox="true"/>
            <p:nvPr/>
          </p:nvSpPr>
          <p:spPr>
            <a:xfrm>
              <a:off x="0" y="-9525"/>
              <a:ext cx="20921472" cy="692277"/>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NER &amp; Character Extraction</a:t>
              </a:r>
            </a:p>
          </p:txBody>
        </p:sp>
      </p:grpSp>
      <p:grpSp>
        <p:nvGrpSpPr>
          <p:cNvPr name="Group 40" id="40"/>
          <p:cNvGrpSpPr/>
          <p:nvPr/>
        </p:nvGrpSpPr>
        <p:grpSpPr>
          <a:xfrm rot="0">
            <a:off x="1901952" y="3968496"/>
            <a:ext cx="15691104" cy="658368"/>
            <a:chOff x="0" y="0"/>
            <a:chExt cx="20921472" cy="877824"/>
          </a:xfrm>
        </p:grpSpPr>
        <p:sp>
          <p:nvSpPr>
            <p:cNvPr name="Freeform 41" id="41"/>
            <p:cNvSpPr/>
            <p:nvPr/>
          </p:nvSpPr>
          <p:spPr>
            <a:xfrm flipH="false" flipV="false" rot="0">
              <a:off x="0" y="0"/>
              <a:ext cx="20921472" cy="877824"/>
            </a:xfrm>
            <a:custGeom>
              <a:avLst/>
              <a:gdLst/>
              <a:ahLst/>
              <a:cxnLst/>
              <a:rect r="r" b="b" t="t" l="l"/>
              <a:pathLst>
                <a:path h="877824" w="20921472">
                  <a:moveTo>
                    <a:pt x="0" y="0"/>
                  </a:moveTo>
                  <a:lnTo>
                    <a:pt x="20921472" y="0"/>
                  </a:lnTo>
                  <a:lnTo>
                    <a:pt x="20921472" y="877824"/>
                  </a:lnTo>
                  <a:lnTo>
                    <a:pt x="0" y="877824"/>
                  </a:lnTo>
                  <a:close/>
                </a:path>
              </a:pathLst>
            </a:custGeom>
            <a:blipFill>
              <a:blip r:embed="rId2">
                <a:alphaModFix amt="0"/>
              </a:blip>
              <a:stretch>
                <a:fillRect l="0" t="-414393" r="0" b="-414393"/>
              </a:stretch>
            </a:blipFill>
          </p:spPr>
        </p:sp>
        <p:sp>
          <p:nvSpPr>
            <p:cNvPr name="TextBox 42" id="42"/>
            <p:cNvSpPr txBox="true"/>
            <p:nvPr/>
          </p:nvSpPr>
          <p:spPr>
            <a:xfrm>
              <a:off x="0" y="-38100"/>
              <a:ext cx="20921472"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spaCy and CoreNLP both run on the text. Results merged — we keep entities that appear in at least 2 of 3 methods (majority vote).</a:t>
              </a:r>
            </a:p>
          </p:txBody>
        </p:sp>
      </p:grpSp>
      <p:grpSp>
        <p:nvGrpSpPr>
          <p:cNvPr name="Group 43" id="43"/>
          <p:cNvGrpSpPr/>
          <p:nvPr/>
        </p:nvGrpSpPr>
        <p:grpSpPr>
          <a:xfrm rot="0">
            <a:off x="548640" y="4718304"/>
            <a:ext cx="914400" cy="182880"/>
            <a:chOff x="0" y="0"/>
            <a:chExt cx="1219200" cy="243840"/>
          </a:xfrm>
        </p:grpSpPr>
        <p:sp>
          <p:nvSpPr>
            <p:cNvPr name="Freeform 44" id="44"/>
            <p:cNvSpPr/>
            <p:nvPr/>
          </p:nvSpPr>
          <p:spPr>
            <a:xfrm flipH="false" flipV="false" rot="0">
              <a:off x="0" y="0"/>
              <a:ext cx="1219200" cy="243840"/>
            </a:xfrm>
            <a:custGeom>
              <a:avLst/>
              <a:gdLst/>
              <a:ahLst/>
              <a:cxnLst/>
              <a:rect r="r" b="b" t="t" l="l"/>
              <a:pathLst>
                <a:path h="243840" w="1219200">
                  <a:moveTo>
                    <a:pt x="0" y="0"/>
                  </a:moveTo>
                  <a:lnTo>
                    <a:pt x="1219200" y="0"/>
                  </a:lnTo>
                  <a:lnTo>
                    <a:pt x="1219200" y="243840"/>
                  </a:lnTo>
                  <a:lnTo>
                    <a:pt x="0" y="243840"/>
                  </a:lnTo>
                  <a:close/>
                </a:path>
              </a:pathLst>
            </a:custGeom>
            <a:blipFill>
              <a:blip r:embed="rId2">
                <a:alphaModFix amt="0"/>
              </a:blip>
              <a:stretch>
                <a:fillRect l="0" t="-47425" r="0" b="-47425"/>
              </a:stretch>
            </a:blipFill>
          </p:spPr>
        </p:sp>
        <p:sp>
          <p:nvSpPr>
            <p:cNvPr name="TextBox 45" id="45"/>
            <p:cNvSpPr txBox="true"/>
            <p:nvPr/>
          </p:nvSpPr>
          <p:spPr>
            <a:xfrm>
              <a:off x="0" y="-38100"/>
              <a:ext cx="1219200" cy="281940"/>
            </a:xfrm>
            <a:prstGeom prst="rect">
              <a:avLst/>
            </a:prstGeom>
          </p:spPr>
          <p:txBody>
            <a:bodyPr anchor="ctr" rtlCol="false" tIns="0" lIns="0" bIns="0" rIns="0"/>
            <a:lstStyle/>
            <a:p>
              <a:pPr algn="ctr">
                <a:lnSpc>
                  <a:spcPts val="2160"/>
                </a:lnSpc>
              </a:pPr>
              <a:r>
                <a:rPr lang="en-US" sz="1800">
                  <a:solidFill>
                    <a:srgbClr val="A0A0A0"/>
                  </a:solidFill>
                  <a:latin typeface="Calibri (MS)"/>
                  <a:ea typeface="Calibri (MS)"/>
                  <a:cs typeface="Calibri (MS)"/>
                  <a:sym typeface="Calibri (MS)"/>
                </a:rPr>
                <a:t>▼</a:t>
              </a:r>
            </a:p>
          </p:txBody>
        </p:sp>
      </p:grpSp>
      <p:grpSp>
        <p:nvGrpSpPr>
          <p:cNvPr name="Group 46" id="46"/>
          <p:cNvGrpSpPr/>
          <p:nvPr/>
        </p:nvGrpSpPr>
        <p:grpSpPr>
          <a:xfrm rot="0">
            <a:off x="389639" y="4925063"/>
            <a:ext cx="1214123" cy="1342139"/>
            <a:chOff x="0" y="0"/>
            <a:chExt cx="1618831" cy="1789519"/>
          </a:xfrm>
        </p:grpSpPr>
        <p:sp>
          <p:nvSpPr>
            <p:cNvPr name="Freeform 47" id="47"/>
            <p:cNvSpPr/>
            <p:nvPr/>
          </p:nvSpPr>
          <p:spPr>
            <a:xfrm flipH="false" flipV="false" rot="0">
              <a:off x="0" y="0"/>
              <a:ext cx="1618869" cy="1789557"/>
            </a:xfrm>
            <a:custGeom>
              <a:avLst/>
              <a:gdLst/>
              <a:ahLst/>
              <a:cxnLst/>
              <a:rect r="r" b="b" t="t" l="l"/>
              <a:pathLst>
                <a:path h="1789557" w="1618869">
                  <a:moveTo>
                    <a:pt x="0" y="0"/>
                  </a:moveTo>
                  <a:lnTo>
                    <a:pt x="1618869" y="0"/>
                  </a:lnTo>
                  <a:lnTo>
                    <a:pt x="1618869" y="1789557"/>
                  </a:lnTo>
                  <a:lnTo>
                    <a:pt x="0" y="1789557"/>
                  </a:lnTo>
                  <a:close/>
                </a:path>
              </a:pathLst>
            </a:custGeom>
            <a:solidFill>
              <a:srgbClr val="B83232"/>
            </a:solidFill>
            <a:ln w="25400" cap="sq">
              <a:solidFill>
                <a:srgbClr val="2E2E34"/>
              </a:solidFill>
              <a:prstDash val="solid"/>
              <a:miter/>
            </a:ln>
          </p:spPr>
        </p:sp>
      </p:grpSp>
      <p:grpSp>
        <p:nvGrpSpPr>
          <p:cNvPr name="Group 48" id="48"/>
          <p:cNvGrpSpPr/>
          <p:nvPr/>
        </p:nvGrpSpPr>
        <p:grpSpPr>
          <a:xfrm rot="0">
            <a:off x="402336" y="4937760"/>
            <a:ext cx="1188720" cy="1316736"/>
            <a:chOff x="0" y="0"/>
            <a:chExt cx="1584960" cy="1755648"/>
          </a:xfrm>
        </p:grpSpPr>
        <p:sp>
          <p:nvSpPr>
            <p:cNvPr name="Freeform 49" id="49"/>
            <p:cNvSpPr/>
            <p:nvPr/>
          </p:nvSpPr>
          <p:spPr>
            <a:xfrm flipH="false" flipV="false" rot="0">
              <a:off x="0" y="0"/>
              <a:ext cx="1584960" cy="1755648"/>
            </a:xfrm>
            <a:custGeom>
              <a:avLst/>
              <a:gdLst/>
              <a:ahLst/>
              <a:cxnLst/>
              <a:rect r="r" b="b" t="t" l="l"/>
              <a:pathLst>
                <a:path h="1755648" w="1584960">
                  <a:moveTo>
                    <a:pt x="0" y="0"/>
                  </a:moveTo>
                  <a:lnTo>
                    <a:pt x="1584960" y="0"/>
                  </a:lnTo>
                  <a:lnTo>
                    <a:pt x="1584960" y="1755648"/>
                  </a:lnTo>
                  <a:lnTo>
                    <a:pt x="0" y="1755648"/>
                  </a:lnTo>
                  <a:close/>
                </a:path>
              </a:pathLst>
            </a:custGeom>
            <a:blipFill>
              <a:blip r:embed="rId2">
                <a:alphaModFix amt="0"/>
              </a:blip>
              <a:stretch>
                <a:fillRect l="-92120" t="0" r="-92120" b="0"/>
              </a:stretch>
            </a:blipFill>
          </p:spPr>
        </p:sp>
        <p:sp>
          <p:nvSpPr>
            <p:cNvPr name="TextBox 50" id="50"/>
            <p:cNvSpPr txBox="true"/>
            <p:nvPr/>
          </p:nvSpPr>
          <p:spPr>
            <a:xfrm>
              <a:off x="0" y="-28575"/>
              <a:ext cx="1584960" cy="1784223"/>
            </a:xfrm>
            <a:prstGeom prst="rect">
              <a:avLst/>
            </a:prstGeom>
          </p:spPr>
          <p:txBody>
            <a:bodyPr anchor="ctr" rtlCol="false" tIns="0" lIns="0" bIns="0" rIns="0"/>
            <a:lstStyle/>
            <a:p>
              <a:pPr algn="ctr">
                <a:lnSpc>
                  <a:spcPts val="4320"/>
                </a:lnSpc>
              </a:pPr>
              <a:r>
                <a:rPr lang="en-US" sz="3600" b="true">
                  <a:solidFill>
                    <a:srgbClr val="FFFFFF"/>
                  </a:solidFill>
                  <a:latin typeface="Arial Bold"/>
                  <a:ea typeface="Arial Bold"/>
                  <a:cs typeface="Arial Bold"/>
                  <a:sym typeface="Arial Bold"/>
                </a:rPr>
                <a:t>03</a:t>
              </a:r>
            </a:p>
          </p:txBody>
        </p:sp>
      </p:grpSp>
      <p:grpSp>
        <p:nvGrpSpPr>
          <p:cNvPr name="Group 51" id="51"/>
          <p:cNvGrpSpPr/>
          <p:nvPr/>
        </p:nvGrpSpPr>
        <p:grpSpPr>
          <a:xfrm rot="0">
            <a:off x="1712719" y="4931407"/>
            <a:ext cx="16069561" cy="1329433"/>
            <a:chOff x="0" y="0"/>
            <a:chExt cx="21426081" cy="1772577"/>
          </a:xfrm>
        </p:grpSpPr>
        <p:sp>
          <p:nvSpPr>
            <p:cNvPr name="Freeform 52" id="52"/>
            <p:cNvSpPr/>
            <p:nvPr/>
          </p:nvSpPr>
          <p:spPr>
            <a:xfrm flipH="false" flipV="false" rot="0">
              <a:off x="0" y="0"/>
              <a:ext cx="21426043" cy="1772539"/>
            </a:xfrm>
            <a:custGeom>
              <a:avLst/>
              <a:gdLst/>
              <a:ahLst/>
              <a:cxnLst/>
              <a:rect r="r" b="b" t="t" l="l"/>
              <a:pathLst>
                <a:path h="1772539" w="21426043">
                  <a:moveTo>
                    <a:pt x="0" y="0"/>
                  </a:moveTo>
                  <a:lnTo>
                    <a:pt x="21426043" y="0"/>
                  </a:lnTo>
                  <a:lnTo>
                    <a:pt x="21426043" y="1772539"/>
                  </a:lnTo>
                  <a:lnTo>
                    <a:pt x="0" y="1772539"/>
                  </a:lnTo>
                  <a:close/>
                </a:path>
              </a:pathLst>
            </a:custGeom>
            <a:solidFill>
              <a:srgbClr val="16161A"/>
            </a:solidFill>
            <a:ln w="12700" cap="sq">
              <a:solidFill>
                <a:srgbClr val="2E2E34"/>
              </a:solidFill>
              <a:prstDash val="solid"/>
              <a:miter/>
            </a:ln>
          </p:spPr>
        </p:sp>
      </p:grpSp>
      <p:grpSp>
        <p:nvGrpSpPr>
          <p:cNvPr name="Group 53" id="53"/>
          <p:cNvGrpSpPr/>
          <p:nvPr/>
        </p:nvGrpSpPr>
        <p:grpSpPr>
          <a:xfrm rot="0">
            <a:off x="1901952" y="5010912"/>
            <a:ext cx="15691104" cy="512064"/>
            <a:chOff x="0" y="0"/>
            <a:chExt cx="20921472" cy="682752"/>
          </a:xfrm>
        </p:grpSpPr>
        <p:sp>
          <p:nvSpPr>
            <p:cNvPr name="Freeform 54" id="54"/>
            <p:cNvSpPr/>
            <p:nvPr/>
          </p:nvSpPr>
          <p:spPr>
            <a:xfrm flipH="false" flipV="false" rot="0">
              <a:off x="0" y="0"/>
              <a:ext cx="20921472" cy="682752"/>
            </a:xfrm>
            <a:custGeom>
              <a:avLst/>
              <a:gdLst/>
              <a:ahLst/>
              <a:cxnLst/>
              <a:rect r="r" b="b" t="t" l="l"/>
              <a:pathLst>
                <a:path h="682752" w="20921472">
                  <a:moveTo>
                    <a:pt x="0" y="0"/>
                  </a:moveTo>
                  <a:lnTo>
                    <a:pt x="20921472" y="0"/>
                  </a:lnTo>
                  <a:lnTo>
                    <a:pt x="20921472" y="682752"/>
                  </a:lnTo>
                  <a:lnTo>
                    <a:pt x="0" y="682752"/>
                  </a:lnTo>
                  <a:close/>
                </a:path>
              </a:pathLst>
            </a:custGeom>
            <a:blipFill>
              <a:blip r:embed="rId2">
                <a:alphaModFix amt="0"/>
              </a:blip>
              <a:stretch>
                <a:fillRect l="0" t="-547077" r="0" b="-547077"/>
              </a:stretch>
            </a:blipFill>
          </p:spPr>
        </p:sp>
        <p:sp>
          <p:nvSpPr>
            <p:cNvPr name="TextBox 55" id="55"/>
            <p:cNvSpPr txBox="true"/>
            <p:nvPr/>
          </p:nvSpPr>
          <p:spPr>
            <a:xfrm>
              <a:off x="0" y="-9525"/>
              <a:ext cx="20921472" cy="692277"/>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Relationship Mapping</a:t>
              </a:r>
            </a:p>
          </p:txBody>
        </p:sp>
      </p:grpSp>
      <p:grpSp>
        <p:nvGrpSpPr>
          <p:cNvPr name="Group 56" id="56"/>
          <p:cNvGrpSpPr/>
          <p:nvPr/>
        </p:nvGrpSpPr>
        <p:grpSpPr>
          <a:xfrm rot="0">
            <a:off x="1901952" y="5522976"/>
            <a:ext cx="15691104" cy="658368"/>
            <a:chOff x="0" y="0"/>
            <a:chExt cx="20921472" cy="877824"/>
          </a:xfrm>
        </p:grpSpPr>
        <p:sp>
          <p:nvSpPr>
            <p:cNvPr name="Freeform 57" id="57"/>
            <p:cNvSpPr/>
            <p:nvPr/>
          </p:nvSpPr>
          <p:spPr>
            <a:xfrm flipH="false" flipV="false" rot="0">
              <a:off x="0" y="0"/>
              <a:ext cx="20921472" cy="877824"/>
            </a:xfrm>
            <a:custGeom>
              <a:avLst/>
              <a:gdLst/>
              <a:ahLst/>
              <a:cxnLst/>
              <a:rect r="r" b="b" t="t" l="l"/>
              <a:pathLst>
                <a:path h="877824" w="20921472">
                  <a:moveTo>
                    <a:pt x="0" y="0"/>
                  </a:moveTo>
                  <a:lnTo>
                    <a:pt x="20921472" y="0"/>
                  </a:lnTo>
                  <a:lnTo>
                    <a:pt x="20921472" y="877824"/>
                  </a:lnTo>
                  <a:lnTo>
                    <a:pt x="0" y="877824"/>
                  </a:lnTo>
                  <a:close/>
                </a:path>
              </a:pathLst>
            </a:custGeom>
            <a:blipFill>
              <a:blip r:embed="rId2">
                <a:alphaModFix amt="0"/>
              </a:blip>
              <a:stretch>
                <a:fillRect l="0" t="-414393" r="0" b="-414393"/>
              </a:stretch>
            </a:blipFill>
          </p:spPr>
        </p:sp>
        <p:sp>
          <p:nvSpPr>
            <p:cNvPr name="TextBox 58" id="58"/>
            <p:cNvSpPr txBox="true"/>
            <p:nvPr/>
          </p:nvSpPr>
          <p:spPr>
            <a:xfrm>
              <a:off x="0" y="-38100"/>
              <a:ext cx="20921472"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Characters co-occurring within a window of 50 words are assumed to be interacting. Edge weights = co-occurrence frequency.</a:t>
              </a:r>
            </a:p>
          </p:txBody>
        </p:sp>
      </p:grpSp>
      <p:grpSp>
        <p:nvGrpSpPr>
          <p:cNvPr name="Group 59" id="59"/>
          <p:cNvGrpSpPr/>
          <p:nvPr/>
        </p:nvGrpSpPr>
        <p:grpSpPr>
          <a:xfrm rot="0">
            <a:off x="548640" y="6272784"/>
            <a:ext cx="914400" cy="182880"/>
            <a:chOff x="0" y="0"/>
            <a:chExt cx="1219200" cy="243840"/>
          </a:xfrm>
        </p:grpSpPr>
        <p:sp>
          <p:nvSpPr>
            <p:cNvPr name="Freeform 60" id="60"/>
            <p:cNvSpPr/>
            <p:nvPr/>
          </p:nvSpPr>
          <p:spPr>
            <a:xfrm flipH="false" flipV="false" rot="0">
              <a:off x="0" y="0"/>
              <a:ext cx="1219200" cy="243840"/>
            </a:xfrm>
            <a:custGeom>
              <a:avLst/>
              <a:gdLst/>
              <a:ahLst/>
              <a:cxnLst/>
              <a:rect r="r" b="b" t="t" l="l"/>
              <a:pathLst>
                <a:path h="243840" w="1219200">
                  <a:moveTo>
                    <a:pt x="0" y="0"/>
                  </a:moveTo>
                  <a:lnTo>
                    <a:pt x="1219200" y="0"/>
                  </a:lnTo>
                  <a:lnTo>
                    <a:pt x="1219200" y="243840"/>
                  </a:lnTo>
                  <a:lnTo>
                    <a:pt x="0" y="243840"/>
                  </a:lnTo>
                  <a:close/>
                </a:path>
              </a:pathLst>
            </a:custGeom>
            <a:blipFill>
              <a:blip r:embed="rId2">
                <a:alphaModFix amt="0"/>
              </a:blip>
              <a:stretch>
                <a:fillRect l="0" t="-47425" r="0" b="-47425"/>
              </a:stretch>
            </a:blipFill>
          </p:spPr>
        </p:sp>
        <p:sp>
          <p:nvSpPr>
            <p:cNvPr name="TextBox 61" id="61"/>
            <p:cNvSpPr txBox="true"/>
            <p:nvPr/>
          </p:nvSpPr>
          <p:spPr>
            <a:xfrm>
              <a:off x="0" y="-38100"/>
              <a:ext cx="1219200" cy="281940"/>
            </a:xfrm>
            <a:prstGeom prst="rect">
              <a:avLst/>
            </a:prstGeom>
          </p:spPr>
          <p:txBody>
            <a:bodyPr anchor="ctr" rtlCol="false" tIns="0" lIns="0" bIns="0" rIns="0"/>
            <a:lstStyle/>
            <a:p>
              <a:pPr algn="ctr">
                <a:lnSpc>
                  <a:spcPts val="2160"/>
                </a:lnSpc>
              </a:pPr>
              <a:r>
                <a:rPr lang="en-US" sz="1800">
                  <a:solidFill>
                    <a:srgbClr val="A0A0A0"/>
                  </a:solidFill>
                  <a:latin typeface="Calibri (MS)"/>
                  <a:ea typeface="Calibri (MS)"/>
                  <a:cs typeface="Calibri (MS)"/>
                  <a:sym typeface="Calibri (MS)"/>
                </a:rPr>
                <a:t>▼</a:t>
              </a:r>
            </a:p>
          </p:txBody>
        </p:sp>
      </p:grpSp>
      <p:grpSp>
        <p:nvGrpSpPr>
          <p:cNvPr name="Group 62" id="62"/>
          <p:cNvGrpSpPr/>
          <p:nvPr/>
        </p:nvGrpSpPr>
        <p:grpSpPr>
          <a:xfrm rot="0">
            <a:off x="389639" y="6479543"/>
            <a:ext cx="1214123" cy="1342139"/>
            <a:chOff x="0" y="0"/>
            <a:chExt cx="1618831" cy="1789519"/>
          </a:xfrm>
        </p:grpSpPr>
        <p:sp>
          <p:nvSpPr>
            <p:cNvPr name="Freeform 63" id="63"/>
            <p:cNvSpPr/>
            <p:nvPr/>
          </p:nvSpPr>
          <p:spPr>
            <a:xfrm flipH="false" flipV="false" rot="0">
              <a:off x="0" y="0"/>
              <a:ext cx="1618869" cy="1789557"/>
            </a:xfrm>
            <a:custGeom>
              <a:avLst/>
              <a:gdLst/>
              <a:ahLst/>
              <a:cxnLst/>
              <a:rect r="r" b="b" t="t" l="l"/>
              <a:pathLst>
                <a:path h="1789557" w="1618869">
                  <a:moveTo>
                    <a:pt x="0" y="0"/>
                  </a:moveTo>
                  <a:lnTo>
                    <a:pt x="1618869" y="0"/>
                  </a:lnTo>
                  <a:lnTo>
                    <a:pt x="1618869" y="1789557"/>
                  </a:lnTo>
                  <a:lnTo>
                    <a:pt x="0" y="1789557"/>
                  </a:lnTo>
                  <a:close/>
                </a:path>
              </a:pathLst>
            </a:custGeom>
            <a:solidFill>
              <a:srgbClr val="B83232"/>
            </a:solidFill>
            <a:ln w="25400" cap="sq">
              <a:solidFill>
                <a:srgbClr val="2E2E34"/>
              </a:solidFill>
              <a:prstDash val="solid"/>
              <a:miter/>
            </a:ln>
          </p:spPr>
        </p:sp>
      </p:grpSp>
      <p:grpSp>
        <p:nvGrpSpPr>
          <p:cNvPr name="Group 64" id="64"/>
          <p:cNvGrpSpPr/>
          <p:nvPr/>
        </p:nvGrpSpPr>
        <p:grpSpPr>
          <a:xfrm rot="0">
            <a:off x="402336" y="6492240"/>
            <a:ext cx="1188720" cy="1316736"/>
            <a:chOff x="0" y="0"/>
            <a:chExt cx="1584960" cy="1755648"/>
          </a:xfrm>
        </p:grpSpPr>
        <p:sp>
          <p:nvSpPr>
            <p:cNvPr name="Freeform 65" id="65"/>
            <p:cNvSpPr/>
            <p:nvPr/>
          </p:nvSpPr>
          <p:spPr>
            <a:xfrm flipH="false" flipV="false" rot="0">
              <a:off x="0" y="0"/>
              <a:ext cx="1584960" cy="1755648"/>
            </a:xfrm>
            <a:custGeom>
              <a:avLst/>
              <a:gdLst/>
              <a:ahLst/>
              <a:cxnLst/>
              <a:rect r="r" b="b" t="t" l="l"/>
              <a:pathLst>
                <a:path h="1755648" w="1584960">
                  <a:moveTo>
                    <a:pt x="0" y="0"/>
                  </a:moveTo>
                  <a:lnTo>
                    <a:pt x="1584960" y="0"/>
                  </a:lnTo>
                  <a:lnTo>
                    <a:pt x="1584960" y="1755648"/>
                  </a:lnTo>
                  <a:lnTo>
                    <a:pt x="0" y="1755648"/>
                  </a:lnTo>
                  <a:close/>
                </a:path>
              </a:pathLst>
            </a:custGeom>
            <a:blipFill>
              <a:blip r:embed="rId2">
                <a:alphaModFix amt="0"/>
              </a:blip>
              <a:stretch>
                <a:fillRect l="-92120" t="0" r="-92120" b="0"/>
              </a:stretch>
            </a:blipFill>
          </p:spPr>
        </p:sp>
        <p:sp>
          <p:nvSpPr>
            <p:cNvPr name="TextBox 66" id="66"/>
            <p:cNvSpPr txBox="true"/>
            <p:nvPr/>
          </p:nvSpPr>
          <p:spPr>
            <a:xfrm>
              <a:off x="0" y="-28575"/>
              <a:ext cx="1584960" cy="1784223"/>
            </a:xfrm>
            <a:prstGeom prst="rect">
              <a:avLst/>
            </a:prstGeom>
          </p:spPr>
          <p:txBody>
            <a:bodyPr anchor="ctr" rtlCol="false" tIns="0" lIns="0" bIns="0" rIns="0"/>
            <a:lstStyle/>
            <a:p>
              <a:pPr algn="ctr">
                <a:lnSpc>
                  <a:spcPts val="4320"/>
                </a:lnSpc>
              </a:pPr>
              <a:r>
                <a:rPr lang="en-US" sz="3600" b="true">
                  <a:solidFill>
                    <a:srgbClr val="FFFFFF"/>
                  </a:solidFill>
                  <a:latin typeface="Arial Bold"/>
                  <a:ea typeface="Arial Bold"/>
                  <a:cs typeface="Arial Bold"/>
                  <a:sym typeface="Arial Bold"/>
                </a:rPr>
                <a:t>04</a:t>
              </a:r>
            </a:p>
          </p:txBody>
        </p:sp>
      </p:grpSp>
      <p:grpSp>
        <p:nvGrpSpPr>
          <p:cNvPr name="Group 67" id="67"/>
          <p:cNvGrpSpPr/>
          <p:nvPr/>
        </p:nvGrpSpPr>
        <p:grpSpPr>
          <a:xfrm rot="0">
            <a:off x="1712719" y="6485887"/>
            <a:ext cx="16069561" cy="1329433"/>
            <a:chOff x="0" y="0"/>
            <a:chExt cx="21426081" cy="1772577"/>
          </a:xfrm>
        </p:grpSpPr>
        <p:sp>
          <p:nvSpPr>
            <p:cNvPr name="Freeform 68" id="68"/>
            <p:cNvSpPr/>
            <p:nvPr/>
          </p:nvSpPr>
          <p:spPr>
            <a:xfrm flipH="false" flipV="false" rot="0">
              <a:off x="0" y="0"/>
              <a:ext cx="21426043" cy="1772539"/>
            </a:xfrm>
            <a:custGeom>
              <a:avLst/>
              <a:gdLst/>
              <a:ahLst/>
              <a:cxnLst/>
              <a:rect r="r" b="b" t="t" l="l"/>
              <a:pathLst>
                <a:path h="1772539" w="21426043">
                  <a:moveTo>
                    <a:pt x="0" y="0"/>
                  </a:moveTo>
                  <a:lnTo>
                    <a:pt x="21426043" y="0"/>
                  </a:lnTo>
                  <a:lnTo>
                    <a:pt x="21426043" y="1772539"/>
                  </a:lnTo>
                  <a:lnTo>
                    <a:pt x="0" y="1772539"/>
                  </a:lnTo>
                  <a:close/>
                </a:path>
              </a:pathLst>
            </a:custGeom>
            <a:solidFill>
              <a:srgbClr val="111113"/>
            </a:solidFill>
            <a:ln w="12700" cap="sq">
              <a:solidFill>
                <a:srgbClr val="2E2E34"/>
              </a:solidFill>
              <a:prstDash val="solid"/>
              <a:miter/>
            </a:ln>
          </p:spPr>
        </p:sp>
      </p:grpSp>
      <p:grpSp>
        <p:nvGrpSpPr>
          <p:cNvPr name="Group 69" id="69"/>
          <p:cNvGrpSpPr/>
          <p:nvPr/>
        </p:nvGrpSpPr>
        <p:grpSpPr>
          <a:xfrm rot="0">
            <a:off x="1901952" y="6565392"/>
            <a:ext cx="15691104" cy="512064"/>
            <a:chOff x="0" y="0"/>
            <a:chExt cx="20921472" cy="682752"/>
          </a:xfrm>
        </p:grpSpPr>
        <p:sp>
          <p:nvSpPr>
            <p:cNvPr name="Freeform 70" id="70"/>
            <p:cNvSpPr/>
            <p:nvPr/>
          </p:nvSpPr>
          <p:spPr>
            <a:xfrm flipH="false" flipV="false" rot="0">
              <a:off x="0" y="0"/>
              <a:ext cx="20921472" cy="682752"/>
            </a:xfrm>
            <a:custGeom>
              <a:avLst/>
              <a:gdLst/>
              <a:ahLst/>
              <a:cxnLst/>
              <a:rect r="r" b="b" t="t" l="l"/>
              <a:pathLst>
                <a:path h="682752" w="20921472">
                  <a:moveTo>
                    <a:pt x="0" y="0"/>
                  </a:moveTo>
                  <a:lnTo>
                    <a:pt x="20921472" y="0"/>
                  </a:lnTo>
                  <a:lnTo>
                    <a:pt x="20921472" y="682752"/>
                  </a:lnTo>
                  <a:lnTo>
                    <a:pt x="0" y="682752"/>
                  </a:lnTo>
                  <a:close/>
                </a:path>
              </a:pathLst>
            </a:custGeom>
            <a:blipFill>
              <a:blip r:embed="rId2">
                <a:alphaModFix amt="0"/>
              </a:blip>
              <a:stretch>
                <a:fillRect l="0" t="-547077" r="0" b="-547077"/>
              </a:stretch>
            </a:blipFill>
          </p:spPr>
        </p:sp>
        <p:sp>
          <p:nvSpPr>
            <p:cNvPr name="TextBox 71" id="71"/>
            <p:cNvSpPr txBox="true"/>
            <p:nvPr/>
          </p:nvSpPr>
          <p:spPr>
            <a:xfrm>
              <a:off x="0" y="-9525"/>
              <a:ext cx="20921472" cy="692277"/>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WAB Scoring (Protagonist Detection)</a:t>
              </a:r>
            </a:p>
          </p:txBody>
        </p:sp>
      </p:grpSp>
      <p:grpSp>
        <p:nvGrpSpPr>
          <p:cNvPr name="Group 72" id="72"/>
          <p:cNvGrpSpPr/>
          <p:nvPr/>
        </p:nvGrpSpPr>
        <p:grpSpPr>
          <a:xfrm rot="0">
            <a:off x="1901952" y="7077456"/>
            <a:ext cx="15691104" cy="658368"/>
            <a:chOff x="0" y="0"/>
            <a:chExt cx="20921472" cy="877824"/>
          </a:xfrm>
        </p:grpSpPr>
        <p:sp>
          <p:nvSpPr>
            <p:cNvPr name="Freeform 73" id="73"/>
            <p:cNvSpPr/>
            <p:nvPr/>
          </p:nvSpPr>
          <p:spPr>
            <a:xfrm flipH="false" flipV="false" rot="0">
              <a:off x="0" y="0"/>
              <a:ext cx="20921472" cy="877824"/>
            </a:xfrm>
            <a:custGeom>
              <a:avLst/>
              <a:gdLst/>
              <a:ahLst/>
              <a:cxnLst/>
              <a:rect r="r" b="b" t="t" l="l"/>
              <a:pathLst>
                <a:path h="877824" w="20921472">
                  <a:moveTo>
                    <a:pt x="0" y="0"/>
                  </a:moveTo>
                  <a:lnTo>
                    <a:pt x="20921472" y="0"/>
                  </a:lnTo>
                  <a:lnTo>
                    <a:pt x="20921472" y="877824"/>
                  </a:lnTo>
                  <a:lnTo>
                    <a:pt x="0" y="877824"/>
                  </a:lnTo>
                  <a:close/>
                </a:path>
              </a:pathLst>
            </a:custGeom>
            <a:blipFill>
              <a:blip r:embed="rId2">
                <a:alphaModFix amt="0"/>
              </a:blip>
              <a:stretch>
                <a:fillRect l="0" t="-414393" r="0" b="-414393"/>
              </a:stretch>
            </a:blipFill>
          </p:spPr>
        </p:sp>
        <p:sp>
          <p:nvSpPr>
            <p:cNvPr name="TextBox 74" id="74"/>
            <p:cNvSpPr txBox="true"/>
            <p:nvPr/>
          </p:nvSpPr>
          <p:spPr>
            <a:xfrm>
              <a:off x="0" y="-38100"/>
              <a:ext cx="20921472"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WAB = α·Freq + β·Centrality + γ·SentimentScore. Weights tuned empirically on 30 test novels.</a:t>
              </a:r>
            </a:p>
          </p:txBody>
        </p:sp>
      </p:grpSp>
      <p:grpSp>
        <p:nvGrpSpPr>
          <p:cNvPr name="Group 75" id="75"/>
          <p:cNvGrpSpPr/>
          <p:nvPr/>
        </p:nvGrpSpPr>
        <p:grpSpPr>
          <a:xfrm rot="0">
            <a:off x="548640" y="7827264"/>
            <a:ext cx="914400" cy="182880"/>
            <a:chOff x="0" y="0"/>
            <a:chExt cx="1219200" cy="243840"/>
          </a:xfrm>
        </p:grpSpPr>
        <p:sp>
          <p:nvSpPr>
            <p:cNvPr name="Freeform 76" id="76"/>
            <p:cNvSpPr/>
            <p:nvPr/>
          </p:nvSpPr>
          <p:spPr>
            <a:xfrm flipH="false" flipV="false" rot="0">
              <a:off x="0" y="0"/>
              <a:ext cx="1219200" cy="243840"/>
            </a:xfrm>
            <a:custGeom>
              <a:avLst/>
              <a:gdLst/>
              <a:ahLst/>
              <a:cxnLst/>
              <a:rect r="r" b="b" t="t" l="l"/>
              <a:pathLst>
                <a:path h="243840" w="1219200">
                  <a:moveTo>
                    <a:pt x="0" y="0"/>
                  </a:moveTo>
                  <a:lnTo>
                    <a:pt x="1219200" y="0"/>
                  </a:lnTo>
                  <a:lnTo>
                    <a:pt x="1219200" y="243840"/>
                  </a:lnTo>
                  <a:lnTo>
                    <a:pt x="0" y="243840"/>
                  </a:lnTo>
                  <a:close/>
                </a:path>
              </a:pathLst>
            </a:custGeom>
            <a:blipFill>
              <a:blip r:embed="rId2">
                <a:alphaModFix amt="0"/>
              </a:blip>
              <a:stretch>
                <a:fillRect l="0" t="-47425" r="0" b="-47425"/>
              </a:stretch>
            </a:blipFill>
          </p:spPr>
        </p:sp>
        <p:sp>
          <p:nvSpPr>
            <p:cNvPr name="TextBox 77" id="77"/>
            <p:cNvSpPr txBox="true"/>
            <p:nvPr/>
          </p:nvSpPr>
          <p:spPr>
            <a:xfrm>
              <a:off x="0" y="-38100"/>
              <a:ext cx="1219200" cy="281940"/>
            </a:xfrm>
            <a:prstGeom prst="rect">
              <a:avLst/>
            </a:prstGeom>
          </p:spPr>
          <p:txBody>
            <a:bodyPr anchor="ctr" rtlCol="false" tIns="0" lIns="0" bIns="0" rIns="0"/>
            <a:lstStyle/>
            <a:p>
              <a:pPr algn="ctr">
                <a:lnSpc>
                  <a:spcPts val="2160"/>
                </a:lnSpc>
              </a:pPr>
              <a:r>
                <a:rPr lang="en-US" sz="1800">
                  <a:solidFill>
                    <a:srgbClr val="A0A0A0"/>
                  </a:solidFill>
                  <a:latin typeface="Calibri (MS)"/>
                  <a:ea typeface="Calibri (MS)"/>
                  <a:cs typeface="Calibri (MS)"/>
                  <a:sym typeface="Calibri (MS)"/>
                </a:rPr>
                <a:t>▼</a:t>
              </a:r>
            </a:p>
          </p:txBody>
        </p:sp>
      </p:grpSp>
      <p:grpSp>
        <p:nvGrpSpPr>
          <p:cNvPr name="Group 78" id="78"/>
          <p:cNvGrpSpPr/>
          <p:nvPr/>
        </p:nvGrpSpPr>
        <p:grpSpPr>
          <a:xfrm rot="0">
            <a:off x="389639" y="8034023"/>
            <a:ext cx="1214123" cy="1342139"/>
            <a:chOff x="0" y="0"/>
            <a:chExt cx="1618831" cy="1789519"/>
          </a:xfrm>
        </p:grpSpPr>
        <p:sp>
          <p:nvSpPr>
            <p:cNvPr name="Freeform 79" id="79"/>
            <p:cNvSpPr/>
            <p:nvPr/>
          </p:nvSpPr>
          <p:spPr>
            <a:xfrm flipH="false" flipV="false" rot="0">
              <a:off x="0" y="0"/>
              <a:ext cx="1618869" cy="1789557"/>
            </a:xfrm>
            <a:custGeom>
              <a:avLst/>
              <a:gdLst/>
              <a:ahLst/>
              <a:cxnLst/>
              <a:rect r="r" b="b" t="t" l="l"/>
              <a:pathLst>
                <a:path h="1789557" w="1618869">
                  <a:moveTo>
                    <a:pt x="0" y="0"/>
                  </a:moveTo>
                  <a:lnTo>
                    <a:pt x="1618869" y="0"/>
                  </a:lnTo>
                  <a:lnTo>
                    <a:pt x="1618869" y="1789557"/>
                  </a:lnTo>
                  <a:lnTo>
                    <a:pt x="0" y="1789557"/>
                  </a:lnTo>
                  <a:close/>
                </a:path>
              </a:pathLst>
            </a:custGeom>
            <a:solidFill>
              <a:srgbClr val="2B2B30"/>
            </a:solidFill>
            <a:ln w="25400" cap="sq">
              <a:solidFill>
                <a:srgbClr val="2E2E34"/>
              </a:solidFill>
              <a:prstDash val="solid"/>
              <a:miter/>
            </a:ln>
          </p:spPr>
        </p:sp>
      </p:grpSp>
      <p:grpSp>
        <p:nvGrpSpPr>
          <p:cNvPr name="Group 80" id="80"/>
          <p:cNvGrpSpPr/>
          <p:nvPr/>
        </p:nvGrpSpPr>
        <p:grpSpPr>
          <a:xfrm rot="0">
            <a:off x="402336" y="8046720"/>
            <a:ext cx="1188720" cy="1316736"/>
            <a:chOff x="0" y="0"/>
            <a:chExt cx="1584960" cy="1755648"/>
          </a:xfrm>
        </p:grpSpPr>
        <p:sp>
          <p:nvSpPr>
            <p:cNvPr name="Freeform 81" id="81"/>
            <p:cNvSpPr/>
            <p:nvPr/>
          </p:nvSpPr>
          <p:spPr>
            <a:xfrm flipH="false" flipV="false" rot="0">
              <a:off x="0" y="0"/>
              <a:ext cx="1584960" cy="1755648"/>
            </a:xfrm>
            <a:custGeom>
              <a:avLst/>
              <a:gdLst/>
              <a:ahLst/>
              <a:cxnLst/>
              <a:rect r="r" b="b" t="t" l="l"/>
              <a:pathLst>
                <a:path h="1755648" w="1584960">
                  <a:moveTo>
                    <a:pt x="0" y="0"/>
                  </a:moveTo>
                  <a:lnTo>
                    <a:pt x="1584960" y="0"/>
                  </a:lnTo>
                  <a:lnTo>
                    <a:pt x="1584960" y="1755648"/>
                  </a:lnTo>
                  <a:lnTo>
                    <a:pt x="0" y="1755648"/>
                  </a:lnTo>
                  <a:close/>
                </a:path>
              </a:pathLst>
            </a:custGeom>
            <a:blipFill>
              <a:blip r:embed="rId2">
                <a:alphaModFix amt="0"/>
              </a:blip>
              <a:stretch>
                <a:fillRect l="-92120" t="0" r="-92120" b="0"/>
              </a:stretch>
            </a:blipFill>
          </p:spPr>
        </p:sp>
        <p:sp>
          <p:nvSpPr>
            <p:cNvPr name="TextBox 82" id="82"/>
            <p:cNvSpPr txBox="true"/>
            <p:nvPr/>
          </p:nvSpPr>
          <p:spPr>
            <a:xfrm>
              <a:off x="0" y="-28575"/>
              <a:ext cx="1584960" cy="1784223"/>
            </a:xfrm>
            <a:prstGeom prst="rect">
              <a:avLst/>
            </a:prstGeom>
          </p:spPr>
          <p:txBody>
            <a:bodyPr anchor="ctr" rtlCol="false" tIns="0" lIns="0" bIns="0" rIns="0"/>
            <a:lstStyle/>
            <a:p>
              <a:pPr algn="ctr">
                <a:lnSpc>
                  <a:spcPts val="4320"/>
                </a:lnSpc>
              </a:pPr>
              <a:r>
                <a:rPr lang="en-US" sz="3600" b="true">
                  <a:solidFill>
                    <a:srgbClr val="FFFFFF"/>
                  </a:solidFill>
                  <a:latin typeface="Arial Bold"/>
                  <a:ea typeface="Arial Bold"/>
                  <a:cs typeface="Arial Bold"/>
                  <a:sym typeface="Arial Bold"/>
                </a:rPr>
                <a:t>05</a:t>
              </a:r>
            </a:p>
          </p:txBody>
        </p:sp>
      </p:grpSp>
      <p:grpSp>
        <p:nvGrpSpPr>
          <p:cNvPr name="Group 83" id="83"/>
          <p:cNvGrpSpPr/>
          <p:nvPr/>
        </p:nvGrpSpPr>
        <p:grpSpPr>
          <a:xfrm rot="0">
            <a:off x="1712719" y="8040367"/>
            <a:ext cx="16069561" cy="1329433"/>
            <a:chOff x="0" y="0"/>
            <a:chExt cx="21426081" cy="1772577"/>
          </a:xfrm>
        </p:grpSpPr>
        <p:sp>
          <p:nvSpPr>
            <p:cNvPr name="Freeform 84" id="84"/>
            <p:cNvSpPr/>
            <p:nvPr/>
          </p:nvSpPr>
          <p:spPr>
            <a:xfrm flipH="false" flipV="false" rot="0">
              <a:off x="0" y="0"/>
              <a:ext cx="21426043" cy="1772539"/>
            </a:xfrm>
            <a:custGeom>
              <a:avLst/>
              <a:gdLst/>
              <a:ahLst/>
              <a:cxnLst/>
              <a:rect r="r" b="b" t="t" l="l"/>
              <a:pathLst>
                <a:path h="1772539" w="21426043">
                  <a:moveTo>
                    <a:pt x="0" y="0"/>
                  </a:moveTo>
                  <a:lnTo>
                    <a:pt x="21426043" y="0"/>
                  </a:lnTo>
                  <a:lnTo>
                    <a:pt x="21426043" y="1772539"/>
                  </a:lnTo>
                  <a:lnTo>
                    <a:pt x="0" y="1772539"/>
                  </a:lnTo>
                  <a:close/>
                </a:path>
              </a:pathLst>
            </a:custGeom>
            <a:solidFill>
              <a:srgbClr val="16161A"/>
            </a:solidFill>
            <a:ln w="12700" cap="sq">
              <a:solidFill>
                <a:srgbClr val="2E2E34"/>
              </a:solidFill>
              <a:prstDash val="solid"/>
              <a:miter/>
            </a:ln>
          </p:spPr>
        </p:sp>
      </p:grpSp>
      <p:grpSp>
        <p:nvGrpSpPr>
          <p:cNvPr name="Group 85" id="85"/>
          <p:cNvGrpSpPr/>
          <p:nvPr/>
        </p:nvGrpSpPr>
        <p:grpSpPr>
          <a:xfrm rot="0">
            <a:off x="1901952" y="8119872"/>
            <a:ext cx="15691104" cy="512064"/>
            <a:chOff x="0" y="0"/>
            <a:chExt cx="20921472" cy="682752"/>
          </a:xfrm>
        </p:grpSpPr>
        <p:sp>
          <p:nvSpPr>
            <p:cNvPr name="Freeform 86" id="86"/>
            <p:cNvSpPr/>
            <p:nvPr/>
          </p:nvSpPr>
          <p:spPr>
            <a:xfrm flipH="false" flipV="false" rot="0">
              <a:off x="0" y="0"/>
              <a:ext cx="20921472" cy="682752"/>
            </a:xfrm>
            <a:custGeom>
              <a:avLst/>
              <a:gdLst/>
              <a:ahLst/>
              <a:cxnLst/>
              <a:rect r="r" b="b" t="t" l="l"/>
              <a:pathLst>
                <a:path h="682752" w="20921472">
                  <a:moveTo>
                    <a:pt x="0" y="0"/>
                  </a:moveTo>
                  <a:lnTo>
                    <a:pt x="20921472" y="0"/>
                  </a:lnTo>
                  <a:lnTo>
                    <a:pt x="20921472" y="682752"/>
                  </a:lnTo>
                  <a:lnTo>
                    <a:pt x="0" y="682752"/>
                  </a:lnTo>
                  <a:close/>
                </a:path>
              </a:pathLst>
            </a:custGeom>
            <a:blipFill>
              <a:blip r:embed="rId2">
                <a:alphaModFix amt="0"/>
              </a:blip>
              <a:stretch>
                <a:fillRect l="0" t="-547077" r="0" b="-547077"/>
              </a:stretch>
            </a:blipFill>
          </p:spPr>
        </p:sp>
        <p:sp>
          <p:nvSpPr>
            <p:cNvPr name="TextBox 87" id="87"/>
            <p:cNvSpPr txBox="true"/>
            <p:nvPr/>
          </p:nvSpPr>
          <p:spPr>
            <a:xfrm>
              <a:off x="0" y="-9525"/>
              <a:ext cx="20921472" cy="692277"/>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Gemini-Powered Summary &amp; Genre</a:t>
              </a:r>
            </a:p>
          </p:txBody>
        </p:sp>
      </p:grpSp>
      <p:grpSp>
        <p:nvGrpSpPr>
          <p:cNvPr name="Group 88" id="88"/>
          <p:cNvGrpSpPr/>
          <p:nvPr/>
        </p:nvGrpSpPr>
        <p:grpSpPr>
          <a:xfrm rot="0">
            <a:off x="1901952" y="8631936"/>
            <a:ext cx="15691104" cy="658368"/>
            <a:chOff x="0" y="0"/>
            <a:chExt cx="20921472" cy="877824"/>
          </a:xfrm>
        </p:grpSpPr>
        <p:sp>
          <p:nvSpPr>
            <p:cNvPr name="Freeform 89" id="89"/>
            <p:cNvSpPr/>
            <p:nvPr/>
          </p:nvSpPr>
          <p:spPr>
            <a:xfrm flipH="false" flipV="false" rot="0">
              <a:off x="0" y="0"/>
              <a:ext cx="20921472" cy="877824"/>
            </a:xfrm>
            <a:custGeom>
              <a:avLst/>
              <a:gdLst/>
              <a:ahLst/>
              <a:cxnLst/>
              <a:rect r="r" b="b" t="t" l="l"/>
              <a:pathLst>
                <a:path h="877824" w="20921472">
                  <a:moveTo>
                    <a:pt x="0" y="0"/>
                  </a:moveTo>
                  <a:lnTo>
                    <a:pt x="20921472" y="0"/>
                  </a:lnTo>
                  <a:lnTo>
                    <a:pt x="20921472" y="877824"/>
                  </a:lnTo>
                  <a:lnTo>
                    <a:pt x="0" y="877824"/>
                  </a:lnTo>
                  <a:close/>
                </a:path>
              </a:pathLst>
            </a:custGeom>
            <a:blipFill>
              <a:blip r:embed="rId2">
                <a:alphaModFix amt="0"/>
              </a:blip>
              <a:stretch>
                <a:fillRect l="0" t="-414393" r="0" b="-414393"/>
              </a:stretch>
            </a:blipFill>
          </p:spPr>
        </p:sp>
        <p:sp>
          <p:nvSpPr>
            <p:cNvPr name="TextBox 90" id="90"/>
            <p:cNvSpPr txBox="true"/>
            <p:nvPr/>
          </p:nvSpPr>
          <p:spPr>
            <a:xfrm>
              <a:off x="0" y="-38100"/>
              <a:ext cx="20921472"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Chunked text sent to Gemini API with structured prompts. Responses parsed via Pydantic for consistency.</a:t>
              </a:r>
            </a:p>
          </p:txBody>
        </p:sp>
      </p:grpSp>
      <p:grpSp>
        <p:nvGrpSpPr>
          <p:cNvPr name="Group 91" id="91"/>
          <p:cNvGrpSpPr/>
          <p:nvPr/>
        </p:nvGrpSpPr>
        <p:grpSpPr>
          <a:xfrm rot="0">
            <a:off x="402336" y="9601200"/>
            <a:ext cx="17483328" cy="420624"/>
            <a:chOff x="0" y="0"/>
            <a:chExt cx="23311104" cy="560832"/>
          </a:xfrm>
        </p:grpSpPr>
        <p:sp>
          <p:nvSpPr>
            <p:cNvPr name="Freeform 92" id="92"/>
            <p:cNvSpPr/>
            <p:nvPr/>
          </p:nvSpPr>
          <p:spPr>
            <a:xfrm flipH="false" flipV="false" rot="0">
              <a:off x="0" y="0"/>
              <a:ext cx="23311104" cy="560832"/>
            </a:xfrm>
            <a:custGeom>
              <a:avLst/>
              <a:gdLst/>
              <a:ahLst/>
              <a:cxnLst/>
              <a:rect r="r" b="b" t="t" l="l"/>
              <a:pathLst>
                <a:path h="560832" w="23311104">
                  <a:moveTo>
                    <a:pt x="0" y="0"/>
                  </a:moveTo>
                  <a:lnTo>
                    <a:pt x="23311104" y="0"/>
                  </a:lnTo>
                  <a:lnTo>
                    <a:pt x="23311104" y="560832"/>
                  </a:lnTo>
                  <a:lnTo>
                    <a:pt x="0" y="560832"/>
                  </a:lnTo>
                  <a:close/>
                </a:path>
              </a:pathLst>
            </a:custGeom>
            <a:blipFill>
              <a:blip r:embed="rId2">
                <a:alphaModFix amt="0"/>
              </a:blip>
              <a:stretch>
                <a:fillRect l="0" t="-759899" r="0" b="-759899"/>
              </a:stretch>
            </a:blipFill>
          </p:spPr>
        </p:sp>
        <p:sp>
          <p:nvSpPr>
            <p:cNvPr name="TextBox 93" id="93"/>
            <p:cNvSpPr txBox="true"/>
            <p:nvPr/>
          </p:nvSpPr>
          <p:spPr>
            <a:xfrm>
              <a:off x="0" y="-9525"/>
              <a:ext cx="23311104" cy="570357"/>
            </a:xfrm>
            <a:prstGeom prst="rect">
              <a:avLst/>
            </a:prstGeom>
          </p:spPr>
          <p:txBody>
            <a:bodyPr anchor="ctr" rtlCol="false" tIns="0" lIns="0" bIns="0" rIns="0"/>
            <a:lstStyle/>
            <a:p>
              <a:pPr algn="ctr">
                <a:lnSpc>
                  <a:spcPts val="2279"/>
                </a:lnSpc>
              </a:pPr>
              <a:r>
                <a:rPr lang="en-US" sz="1899" i="true">
                  <a:solidFill>
                    <a:srgbClr val="FF5757"/>
                  </a:solidFill>
                  <a:latin typeface="Arial Italics"/>
                  <a:ea typeface="Arial Italics"/>
                  <a:cs typeface="Arial Italics"/>
                  <a:sym typeface="Arial Italics"/>
                </a:rPr>
                <a:t>WAB Formula:  WAB = α × Frequency  +  β × Graph Centrality  +  γ × Sentiment Score</a:t>
              </a:r>
            </a:p>
          </p:txBody>
        </p:sp>
      </p:grpSp>
      <p:sp>
        <p:nvSpPr>
          <p:cNvPr name="TextBox 94" id="94"/>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Results &amp; Evaluation</a:t>
              </a:r>
            </a:p>
          </p:txBody>
        </p:sp>
      </p:grpSp>
      <p:grpSp>
        <p:nvGrpSpPr>
          <p:cNvPr name="Group 14" id="14"/>
          <p:cNvGrpSpPr/>
          <p:nvPr/>
        </p:nvGrpSpPr>
        <p:grpSpPr>
          <a:xfrm rot="0">
            <a:off x="10318268" y="1733223"/>
            <a:ext cx="7421001" cy="649338"/>
            <a:chOff x="0" y="0"/>
            <a:chExt cx="9753600" cy="853440"/>
          </a:xfrm>
        </p:grpSpPr>
        <p:sp>
          <p:nvSpPr>
            <p:cNvPr name="Freeform 15" id="15"/>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solidFill>
              <a:srgbClr val="2B2B30"/>
            </a:solidFill>
          </p:spPr>
        </p:sp>
      </p:grpSp>
      <p:grpSp>
        <p:nvGrpSpPr>
          <p:cNvPr name="Group 16" id="16"/>
          <p:cNvGrpSpPr/>
          <p:nvPr/>
        </p:nvGrpSpPr>
        <p:grpSpPr>
          <a:xfrm rot="0">
            <a:off x="10318268" y="1733223"/>
            <a:ext cx="7421001" cy="649338"/>
            <a:chOff x="0" y="0"/>
            <a:chExt cx="9753600" cy="853440"/>
          </a:xfrm>
        </p:grpSpPr>
        <p:sp>
          <p:nvSpPr>
            <p:cNvPr name="Freeform 17" id="17"/>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2">
                <a:alphaModFix amt="0"/>
              </a:blip>
              <a:stretch>
                <a:fillRect l="0" t="-172686" r="0" b="-172686"/>
              </a:stretch>
            </a:blipFill>
          </p:spPr>
        </p:sp>
        <p:sp>
          <p:nvSpPr>
            <p:cNvPr name="TextBox 18" id="18"/>
            <p:cNvSpPr txBox="true"/>
            <p:nvPr/>
          </p:nvSpPr>
          <p:spPr>
            <a:xfrm>
              <a:off x="0" y="-9525"/>
              <a:ext cx="97536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Key Findings</a:t>
              </a:r>
            </a:p>
          </p:txBody>
        </p:sp>
      </p:grpSp>
      <p:grpSp>
        <p:nvGrpSpPr>
          <p:cNvPr name="Group 19" id="19"/>
          <p:cNvGrpSpPr/>
          <p:nvPr/>
        </p:nvGrpSpPr>
        <p:grpSpPr>
          <a:xfrm rot="0">
            <a:off x="10311823" y="2561641"/>
            <a:ext cx="7433881" cy="1311556"/>
            <a:chOff x="0" y="0"/>
            <a:chExt cx="9770529" cy="1723809"/>
          </a:xfrm>
        </p:grpSpPr>
        <p:sp>
          <p:nvSpPr>
            <p:cNvPr name="Freeform 20" id="20"/>
            <p:cNvSpPr/>
            <p:nvPr/>
          </p:nvSpPr>
          <p:spPr>
            <a:xfrm flipH="false" flipV="false" rot="0">
              <a:off x="0" y="0"/>
              <a:ext cx="9770491" cy="1723771"/>
            </a:xfrm>
            <a:custGeom>
              <a:avLst/>
              <a:gdLst/>
              <a:ahLst/>
              <a:cxnLst/>
              <a:rect r="r" b="b" t="t" l="l"/>
              <a:pathLst>
                <a:path h="1723771" w="9770491">
                  <a:moveTo>
                    <a:pt x="0" y="0"/>
                  </a:moveTo>
                  <a:lnTo>
                    <a:pt x="9770491" y="0"/>
                  </a:lnTo>
                  <a:lnTo>
                    <a:pt x="9770491" y="1723771"/>
                  </a:lnTo>
                  <a:lnTo>
                    <a:pt x="0" y="1723771"/>
                  </a:lnTo>
                  <a:close/>
                </a:path>
              </a:pathLst>
            </a:custGeom>
            <a:solidFill>
              <a:srgbClr val="16161A"/>
            </a:solidFill>
            <a:ln w="12700" cap="sq">
              <a:solidFill>
                <a:srgbClr val="2E2E34"/>
              </a:solidFill>
              <a:prstDash val="solid"/>
              <a:miter/>
            </a:ln>
          </p:spPr>
        </p:sp>
      </p:grpSp>
      <p:grpSp>
        <p:nvGrpSpPr>
          <p:cNvPr name="Group 21" id="21"/>
          <p:cNvGrpSpPr/>
          <p:nvPr/>
        </p:nvGrpSpPr>
        <p:grpSpPr>
          <a:xfrm rot="0">
            <a:off x="10424160" y="2651760"/>
            <a:ext cx="109728" cy="1280160"/>
            <a:chOff x="0" y="0"/>
            <a:chExt cx="146304" cy="1706880"/>
          </a:xfrm>
        </p:grpSpPr>
        <p:sp>
          <p:nvSpPr>
            <p:cNvPr name="Freeform 22" id="22"/>
            <p:cNvSpPr/>
            <p:nvPr/>
          </p:nvSpPr>
          <p:spPr>
            <a:xfrm flipH="false" flipV="false" rot="0">
              <a:off x="0" y="0"/>
              <a:ext cx="146304" cy="1706880"/>
            </a:xfrm>
            <a:custGeom>
              <a:avLst/>
              <a:gdLst/>
              <a:ahLst/>
              <a:cxnLst/>
              <a:rect r="r" b="b" t="t" l="l"/>
              <a:pathLst>
                <a:path h="1706880" w="146304">
                  <a:moveTo>
                    <a:pt x="0" y="0"/>
                  </a:moveTo>
                  <a:lnTo>
                    <a:pt x="146304" y="0"/>
                  </a:lnTo>
                  <a:lnTo>
                    <a:pt x="146304" y="1706880"/>
                  </a:lnTo>
                  <a:lnTo>
                    <a:pt x="0" y="1706880"/>
                  </a:lnTo>
                  <a:close/>
                </a:path>
              </a:pathLst>
            </a:custGeom>
            <a:solidFill>
              <a:srgbClr val="D63C3C"/>
            </a:solidFill>
          </p:spPr>
        </p:sp>
      </p:grpSp>
      <p:grpSp>
        <p:nvGrpSpPr>
          <p:cNvPr name="Group 23" id="23"/>
          <p:cNvGrpSpPr/>
          <p:nvPr/>
        </p:nvGrpSpPr>
        <p:grpSpPr>
          <a:xfrm rot="0">
            <a:off x="10540898" y="2642296"/>
            <a:ext cx="2782875" cy="667890"/>
            <a:chOff x="0" y="0"/>
            <a:chExt cx="3657600" cy="877824"/>
          </a:xfrm>
        </p:grpSpPr>
        <p:sp>
          <p:nvSpPr>
            <p:cNvPr name="Freeform 24" id="24"/>
            <p:cNvSpPr/>
            <p:nvPr/>
          </p:nvSpPr>
          <p:spPr>
            <a:xfrm flipH="false" flipV="false" rot="0">
              <a:off x="0" y="0"/>
              <a:ext cx="3657600" cy="877824"/>
            </a:xfrm>
            <a:custGeom>
              <a:avLst/>
              <a:gdLst/>
              <a:ahLst/>
              <a:cxnLst/>
              <a:rect r="r" b="b" t="t" l="l"/>
              <a:pathLst>
                <a:path h="877824" w="3657600">
                  <a:moveTo>
                    <a:pt x="0" y="0"/>
                  </a:moveTo>
                  <a:lnTo>
                    <a:pt x="3657600" y="0"/>
                  </a:lnTo>
                  <a:lnTo>
                    <a:pt x="3657600" y="877824"/>
                  </a:lnTo>
                  <a:lnTo>
                    <a:pt x="0" y="877824"/>
                  </a:lnTo>
                  <a:close/>
                </a:path>
              </a:pathLst>
            </a:custGeom>
            <a:blipFill>
              <a:blip r:embed="rId2">
                <a:alphaModFix amt="0"/>
              </a:blip>
              <a:stretch>
                <a:fillRect l="0" t="-31187" r="0" b="-31187"/>
              </a:stretch>
            </a:blipFill>
          </p:spPr>
        </p:sp>
        <p:sp>
          <p:nvSpPr>
            <p:cNvPr name="TextBox 25" id="25"/>
            <p:cNvSpPr txBox="true"/>
            <p:nvPr/>
          </p:nvSpPr>
          <p:spPr>
            <a:xfrm>
              <a:off x="0" y="-19050"/>
              <a:ext cx="3657600" cy="896874"/>
            </a:xfrm>
            <a:prstGeom prst="rect">
              <a:avLst/>
            </a:prstGeom>
          </p:spPr>
          <p:txBody>
            <a:bodyPr anchor="ctr" rtlCol="false" tIns="0" lIns="0" bIns="0" rIns="0"/>
            <a:lstStyle/>
            <a:p>
              <a:pPr algn="l">
                <a:lnSpc>
                  <a:spcPts val="5280"/>
                </a:lnSpc>
              </a:pPr>
              <a:r>
                <a:rPr lang="en-US" sz="4400" b="true">
                  <a:solidFill>
                    <a:srgbClr val="FF5757"/>
                  </a:solidFill>
                  <a:latin typeface="Arial Bold"/>
                  <a:ea typeface="Arial Bold"/>
                  <a:cs typeface="Arial Bold"/>
                  <a:sym typeface="Arial Bold"/>
                </a:rPr>
                <a:t>93.4%</a:t>
              </a:r>
            </a:p>
          </p:txBody>
        </p:sp>
      </p:grpSp>
      <p:grpSp>
        <p:nvGrpSpPr>
          <p:cNvPr name="Group 26" id="26"/>
          <p:cNvGrpSpPr/>
          <p:nvPr/>
        </p:nvGrpSpPr>
        <p:grpSpPr>
          <a:xfrm rot="0">
            <a:off x="10540898" y="3273081"/>
            <a:ext cx="7012846" cy="519470"/>
            <a:chOff x="0" y="0"/>
            <a:chExt cx="9217152" cy="682752"/>
          </a:xfrm>
        </p:grpSpPr>
        <p:sp>
          <p:nvSpPr>
            <p:cNvPr name="Freeform 27" id="27"/>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2">
                <a:alphaModFix amt="0"/>
              </a:blip>
              <a:stretch>
                <a:fillRect l="0" t="-213048" r="0" b="-213048"/>
              </a:stretch>
            </a:blipFill>
          </p:spPr>
        </p:sp>
        <p:sp>
          <p:nvSpPr>
            <p:cNvPr name="TextBox 28" id="28"/>
            <p:cNvSpPr txBox="true"/>
            <p:nvPr/>
          </p:nvSpPr>
          <p:spPr>
            <a:xfrm>
              <a:off x="0" y="-38100"/>
              <a:ext cx="9217152" cy="720852"/>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F1 score — LitMind + Gemini</a:t>
              </a:r>
            </a:p>
          </p:txBody>
        </p:sp>
      </p:grpSp>
      <p:grpSp>
        <p:nvGrpSpPr>
          <p:cNvPr name="Group 29" id="29"/>
          <p:cNvGrpSpPr/>
          <p:nvPr/>
        </p:nvGrpSpPr>
        <p:grpSpPr>
          <a:xfrm rot="0">
            <a:off x="10311823" y="4082946"/>
            <a:ext cx="7433881" cy="1311556"/>
            <a:chOff x="0" y="0"/>
            <a:chExt cx="9770529" cy="1723809"/>
          </a:xfrm>
        </p:grpSpPr>
        <p:sp>
          <p:nvSpPr>
            <p:cNvPr name="Freeform 30" id="30"/>
            <p:cNvSpPr/>
            <p:nvPr/>
          </p:nvSpPr>
          <p:spPr>
            <a:xfrm flipH="false" flipV="false" rot="0">
              <a:off x="0" y="0"/>
              <a:ext cx="9770491" cy="1723771"/>
            </a:xfrm>
            <a:custGeom>
              <a:avLst/>
              <a:gdLst/>
              <a:ahLst/>
              <a:cxnLst/>
              <a:rect r="r" b="b" t="t" l="l"/>
              <a:pathLst>
                <a:path h="1723771" w="9770491">
                  <a:moveTo>
                    <a:pt x="0" y="0"/>
                  </a:moveTo>
                  <a:lnTo>
                    <a:pt x="9770491" y="0"/>
                  </a:lnTo>
                  <a:lnTo>
                    <a:pt x="9770491" y="1723771"/>
                  </a:lnTo>
                  <a:lnTo>
                    <a:pt x="0" y="1723771"/>
                  </a:lnTo>
                  <a:close/>
                </a:path>
              </a:pathLst>
            </a:custGeom>
            <a:solidFill>
              <a:srgbClr val="16161A"/>
            </a:solidFill>
            <a:ln w="12700" cap="sq">
              <a:solidFill>
                <a:srgbClr val="2E2E34"/>
              </a:solidFill>
              <a:prstDash val="solid"/>
              <a:miter/>
            </a:ln>
          </p:spPr>
        </p:sp>
      </p:grpSp>
      <p:grpSp>
        <p:nvGrpSpPr>
          <p:cNvPr name="Group 31" id="31"/>
          <p:cNvGrpSpPr/>
          <p:nvPr/>
        </p:nvGrpSpPr>
        <p:grpSpPr>
          <a:xfrm rot="0">
            <a:off x="10424160" y="4151376"/>
            <a:ext cx="109728" cy="1280160"/>
            <a:chOff x="0" y="0"/>
            <a:chExt cx="146304" cy="1706880"/>
          </a:xfrm>
        </p:grpSpPr>
        <p:sp>
          <p:nvSpPr>
            <p:cNvPr name="Freeform 32" id="32"/>
            <p:cNvSpPr/>
            <p:nvPr/>
          </p:nvSpPr>
          <p:spPr>
            <a:xfrm flipH="false" flipV="false" rot="0">
              <a:off x="0" y="0"/>
              <a:ext cx="146304" cy="1706880"/>
            </a:xfrm>
            <a:custGeom>
              <a:avLst/>
              <a:gdLst/>
              <a:ahLst/>
              <a:cxnLst/>
              <a:rect r="r" b="b" t="t" l="l"/>
              <a:pathLst>
                <a:path h="1706880" w="146304">
                  <a:moveTo>
                    <a:pt x="0" y="0"/>
                  </a:moveTo>
                  <a:lnTo>
                    <a:pt x="146304" y="0"/>
                  </a:lnTo>
                  <a:lnTo>
                    <a:pt x="146304" y="1706880"/>
                  </a:lnTo>
                  <a:lnTo>
                    <a:pt x="0" y="1706880"/>
                  </a:lnTo>
                  <a:close/>
                </a:path>
              </a:pathLst>
            </a:custGeom>
            <a:solidFill>
              <a:srgbClr val="B83232"/>
            </a:solidFill>
          </p:spPr>
        </p:sp>
      </p:grpSp>
      <p:grpSp>
        <p:nvGrpSpPr>
          <p:cNvPr name="Group 33" id="33"/>
          <p:cNvGrpSpPr/>
          <p:nvPr/>
        </p:nvGrpSpPr>
        <p:grpSpPr>
          <a:xfrm rot="0">
            <a:off x="10540898" y="4163601"/>
            <a:ext cx="2782875" cy="667890"/>
            <a:chOff x="0" y="0"/>
            <a:chExt cx="3657600" cy="877824"/>
          </a:xfrm>
        </p:grpSpPr>
        <p:sp>
          <p:nvSpPr>
            <p:cNvPr name="Freeform 34" id="34"/>
            <p:cNvSpPr/>
            <p:nvPr/>
          </p:nvSpPr>
          <p:spPr>
            <a:xfrm flipH="false" flipV="false" rot="0">
              <a:off x="0" y="0"/>
              <a:ext cx="3657600" cy="877824"/>
            </a:xfrm>
            <a:custGeom>
              <a:avLst/>
              <a:gdLst/>
              <a:ahLst/>
              <a:cxnLst/>
              <a:rect r="r" b="b" t="t" l="l"/>
              <a:pathLst>
                <a:path h="877824" w="3657600">
                  <a:moveTo>
                    <a:pt x="0" y="0"/>
                  </a:moveTo>
                  <a:lnTo>
                    <a:pt x="3657600" y="0"/>
                  </a:lnTo>
                  <a:lnTo>
                    <a:pt x="3657600" y="877824"/>
                  </a:lnTo>
                  <a:lnTo>
                    <a:pt x="0" y="877824"/>
                  </a:lnTo>
                  <a:close/>
                </a:path>
              </a:pathLst>
            </a:custGeom>
            <a:blipFill>
              <a:blip r:embed="rId2">
                <a:alphaModFix amt="0"/>
              </a:blip>
              <a:stretch>
                <a:fillRect l="0" t="-31187" r="0" b="-31187"/>
              </a:stretch>
            </a:blipFill>
          </p:spPr>
        </p:sp>
        <p:sp>
          <p:nvSpPr>
            <p:cNvPr name="TextBox 35" id="35"/>
            <p:cNvSpPr txBox="true"/>
            <p:nvPr/>
          </p:nvSpPr>
          <p:spPr>
            <a:xfrm>
              <a:off x="0" y="-19050"/>
              <a:ext cx="3657600" cy="896874"/>
            </a:xfrm>
            <a:prstGeom prst="rect">
              <a:avLst/>
            </a:prstGeom>
          </p:spPr>
          <p:txBody>
            <a:bodyPr anchor="ctr" rtlCol="false" tIns="0" lIns="0" bIns="0" rIns="0"/>
            <a:lstStyle/>
            <a:p>
              <a:pPr algn="l">
                <a:lnSpc>
                  <a:spcPts val="5280"/>
                </a:lnSpc>
              </a:pPr>
              <a:r>
                <a:rPr lang="en-US" sz="4400" b="true">
                  <a:solidFill>
                    <a:srgbClr val="FF5757"/>
                  </a:solidFill>
                  <a:latin typeface="Arial Bold"/>
                  <a:ea typeface="Arial Bold"/>
                  <a:cs typeface="Arial Bold"/>
                  <a:sym typeface="Arial Bold"/>
                </a:rPr>
                <a:t>+21%</a:t>
              </a:r>
            </a:p>
          </p:txBody>
        </p:sp>
      </p:grpSp>
      <p:grpSp>
        <p:nvGrpSpPr>
          <p:cNvPr name="Group 36" id="36"/>
          <p:cNvGrpSpPr/>
          <p:nvPr/>
        </p:nvGrpSpPr>
        <p:grpSpPr>
          <a:xfrm rot="0">
            <a:off x="10540898" y="4794386"/>
            <a:ext cx="7012846" cy="519470"/>
            <a:chOff x="0" y="0"/>
            <a:chExt cx="9217152" cy="682752"/>
          </a:xfrm>
        </p:grpSpPr>
        <p:sp>
          <p:nvSpPr>
            <p:cNvPr name="Freeform 37" id="37"/>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2">
                <a:alphaModFix amt="0"/>
              </a:blip>
              <a:stretch>
                <a:fillRect l="0" t="-213048" r="0" b="-213048"/>
              </a:stretch>
            </a:blipFill>
          </p:spPr>
        </p:sp>
        <p:sp>
          <p:nvSpPr>
            <p:cNvPr name="TextBox 38" id="38"/>
            <p:cNvSpPr txBox="true"/>
            <p:nvPr/>
          </p:nvSpPr>
          <p:spPr>
            <a:xfrm>
              <a:off x="0" y="-38100"/>
              <a:ext cx="9217152" cy="720852"/>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improvement over spaCy alone</a:t>
              </a:r>
            </a:p>
          </p:txBody>
        </p:sp>
      </p:grpSp>
      <p:grpSp>
        <p:nvGrpSpPr>
          <p:cNvPr name="Group 39" id="39"/>
          <p:cNvGrpSpPr/>
          <p:nvPr/>
        </p:nvGrpSpPr>
        <p:grpSpPr>
          <a:xfrm rot="0">
            <a:off x="10311823" y="5604251"/>
            <a:ext cx="7433881" cy="1311556"/>
            <a:chOff x="0" y="0"/>
            <a:chExt cx="9770529" cy="1723809"/>
          </a:xfrm>
        </p:grpSpPr>
        <p:sp>
          <p:nvSpPr>
            <p:cNvPr name="Freeform 40" id="40"/>
            <p:cNvSpPr/>
            <p:nvPr/>
          </p:nvSpPr>
          <p:spPr>
            <a:xfrm flipH="false" flipV="false" rot="0">
              <a:off x="0" y="0"/>
              <a:ext cx="9770491" cy="1723771"/>
            </a:xfrm>
            <a:custGeom>
              <a:avLst/>
              <a:gdLst/>
              <a:ahLst/>
              <a:cxnLst/>
              <a:rect r="r" b="b" t="t" l="l"/>
              <a:pathLst>
                <a:path h="1723771" w="9770491">
                  <a:moveTo>
                    <a:pt x="0" y="0"/>
                  </a:moveTo>
                  <a:lnTo>
                    <a:pt x="9770491" y="0"/>
                  </a:lnTo>
                  <a:lnTo>
                    <a:pt x="9770491" y="1723771"/>
                  </a:lnTo>
                  <a:lnTo>
                    <a:pt x="0" y="1723771"/>
                  </a:lnTo>
                  <a:close/>
                </a:path>
              </a:pathLst>
            </a:custGeom>
            <a:solidFill>
              <a:srgbClr val="16161A"/>
            </a:solidFill>
            <a:ln w="12700" cap="sq">
              <a:solidFill>
                <a:srgbClr val="2E2E34"/>
              </a:solidFill>
              <a:prstDash val="solid"/>
              <a:miter/>
            </a:ln>
          </p:spPr>
        </p:sp>
      </p:grpSp>
      <p:grpSp>
        <p:nvGrpSpPr>
          <p:cNvPr name="Group 41" id="41"/>
          <p:cNvGrpSpPr/>
          <p:nvPr/>
        </p:nvGrpSpPr>
        <p:grpSpPr>
          <a:xfrm rot="0">
            <a:off x="10424160" y="5650992"/>
            <a:ext cx="109728" cy="1280160"/>
            <a:chOff x="0" y="0"/>
            <a:chExt cx="146304" cy="1706880"/>
          </a:xfrm>
        </p:grpSpPr>
        <p:sp>
          <p:nvSpPr>
            <p:cNvPr name="Freeform 42" id="42"/>
            <p:cNvSpPr/>
            <p:nvPr/>
          </p:nvSpPr>
          <p:spPr>
            <a:xfrm flipH="false" flipV="false" rot="0">
              <a:off x="0" y="0"/>
              <a:ext cx="146304" cy="1706880"/>
            </a:xfrm>
            <a:custGeom>
              <a:avLst/>
              <a:gdLst/>
              <a:ahLst/>
              <a:cxnLst/>
              <a:rect r="r" b="b" t="t" l="l"/>
              <a:pathLst>
                <a:path h="1706880" w="146304">
                  <a:moveTo>
                    <a:pt x="0" y="0"/>
                  </a:moveTo>
                  <a:lnTo>
                    <a:pt x="146304" y="0"/>
                  </a:lnTo>
                  <a:lnTo>
                    <a:pt x="146304" y="1706880"/>
                  </a:lnTo>
                  <a:lnTo>
                    <a:pt x="0" y="1706880"/>
                  </a:lnTo>
                  <a:close/>
                </a:path>
              </a:pathLst>
            </a:custGeom>
            <a:solidFill>
              <a:srgbClr val="2B2B30"/>
            </a:solidFill>
          </p:spPr>
        </p:sp>
      </p:grpSp>
      <p:grpSp>
        <p:nvGrpSpPr>
          <p:cNvPr name="Group 43" id="43"/>
          <p:cNvGrpSpPr/>
          <p:nvPr/>
        </p:nvGrpSpPr>
        <p:grpSpPr>
          <a:xfrm rot="0">
            <a:off x="10540898" y="5684906"/>
            <a:ext cx="2782875" cy="667890"/>
            <a:chOff x="0" y="0"/>
            <a:chExt cx="3657600" cy="877824"/>
          </a:xfrm>
        </p:grpSpPr>
        <p:sp>
          <p:nvSpPr>
            <p:cNvPr name="Freeform 44" id="44"/>
            <p:cNvSpPr/>
            <p:nvPr/>
          </p:nvSpPr>
          <p:spPr>
            <a:xfrm flipH="false" flipV="false" rot="0">
              <a:off x="0" y="0"/>
              <a:ext cx="3657600" cy="877824"/>
            </a:xfrm>
            <a:custGeom>
              <a:avLst/>
              <a:gdLst/>
              <a:ahLst/>
              <a:cxnLst/>
              <a:rect r="r" b="b" t="t" l="l"/>
              <a:pathLst>
                <a:path h="877824" w="3657600">
                  <a:moveTo>
                    <a:pt x="0" y="0"/>
                  </a:moveTo>
                  <a:lnTo>
                    <a:pt x="3657600" y="0"/>
                  </a:lnTo>
                  <a:lnTo>
                    <a:pt x="3657600" y="877824"/>
                  </a:lnTo>
                  <a:lnTo>
                    <a:pt x="0" y="877824"/>
                  </a:lnTo>
                  <a:close/>
                </a:path>
              </a:pathLst>
            </a:custGeom>
            <a:blipFill>
              <a:blip r:embed="rId2">
                <a:alphaModFix amt="0"/>
              </a:blip>
              <a:stretch>
                <a:fillRect l="0" t="-31187" r="0" b="-31187"/>
              </a:stretch>
            </a:blipFill>
          </p:spPr>
        </p:sp>
        <p:sp>
          <p:nvSpPr>
            <p:cNvPr name="TextBox 45" id="45"/>
            <p:cNvSpPr txBox="true"/>
            <p:nvPr/>
          </p:nvSpPr>
          <p:spPr>
            <a:xfrm>
              <a:off x="0" y="-19050"/>
              <a:ext cx="3657600" cy="896874"/>
            </a:xfrm>
            <a:prstGeom prst="rect">
              <a:avLst/>
            </a:prstGeom>
          </p:spPr>
          <p:txBody>
            <a:bodyPr anchor="ctr" rtlCol="false" tIns="0" lIns="0" bIns="0" rIns="0"/>
            <a:lstStyle/>
            <a:p>
              <a:pPr algn="l">
                <a:lnSpc>
                  <a:spcPts val="5280"/>
                </a:lnSpc>
              </a:pPr>
              <a:r>
                <a:rPr lang="en-US" sz="4400" b="true">
                  <a:solidFill>
                    <a:srgbClr val="FFFFFF"/>
                  </a:solidFill>
                  <a:latin typeface="Arial Bold"/>
                  <a:ea typeface="Arial Bold"/>
                  <a:cs typeface="Arial Bold"/>
                  <a:sym typeface="Arial Bold"/>
                </a:rPr>
                <a:t>30</a:t>
              </a:r>
            </a:p>
          </p:txBody>
        </p:sp>
      </p:grpSp>
      <p:grpSp>
        <p:nvGrpSpPr>
          <p:cNvPr name="Group 46" id="46"/>
          <p:cNvGrpSpPr/>
          <p:nvPr/>
        </p:nvGrpSpPr>
        <p:grpSpPr>
          <a:xfrm rot="0">
            <a:off x="10540898" y="6315691"/>
            <a:ext cx="7012846" cy="519470"/>
            <a:chOff x="0" y="0"/>
            <a:chExt cx="9217152" cy="682752"/>
          </a:xfrm>
        </p:grpSpPr>
        <p:sp>
          <p:nvSpPr>
            <p:cNvPr name="Freeform 47" id="47"/>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2">
                <a:alphaModFix amt="0"/>
              </a:blip>
              <a:stretch>
                <a:fillRect l="0" t="-213048" r="0" b="-213048"/>
              </a:stretch>
            </a:blipFill>
          </p:spPr>
        </p:sp>
        <p:sp>
          <p:nvSpPr>
            <p:cNvPr name="TextBox 48" id="48"/>
            <p:cNvSpPr txBox="true"/>
            <p:nvPr/>
          </p:nvSpPr>
          <p:spPr>
            <a:xfrm>
              <a:off x="0" y="-38100"/>
              <a:ext cx="9217152" cy="720852"/>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novels used in test corpus</a:t>
              </a:r>
            </a:p>
          </p:txBody>
        </p:sp>
      </p:grpSp>
      <p:grpSp>
        <p:nvGrpSpPr>
          <p:cNvPr name="Group 49" id="49"/>
          <p:cNvGrpSpPr/>
          <p:nvPr/>
        </p:nvGrpSpPr>
        <p:grpSpPr>
          <a:xfrm rot="0">
            <a:off x="10311823" y="7125556"/>
            <a:ext cx="7433881" cy="1311556"/>
            <a:chOff x="0" y="0"/>
            <a:chExt cx="9770529" cy="1723809"/>
          </a:xfrm>
        </p:grpSpPr>
        <p:sp>
          <p:nvSpPr>
            <p:cNvPr name="Freeform 50" id="50"/>
            <p:cNvSpPr/>
            <p:nvPr/>
          </p:nvSpPr>
          <p:spPr>
            <a:xfrm flipH="false" flipV="false" rot="0">
              <a:off x="0" y="0"/>
              <a:ext cx="9770491" cy="1723771"/>
            </a:xfrm>
            <a:custGeom>
              <a:avLst/>
              <a:gdLst/>
              <a:ahLst/>
              <a:cxnLst/>
              <a:rect r="r" b="b" t="t" l="l"/>
              <a:pathLst>
                <a:path h="1723771" w="9770491">
                  <a:moveTo>
                    <a:pt x="0" y="0"/>
                  </a:moveTo>
                  <a:lnTo>
                    <a:pt x="9770491" y="0"/>
                  </a:lnTo>
                  <a:lnTo>
                    <a:pt x="9770491" y="1723771"/>
                  </a:lnTo>
                  <a:lnTo>
                    <a:pt x="0" y="1723771"/>
                  </a:lnTo>
                  <a:close/>
                </a:path>
              </a:pathLst>
            </a:custGeom>
            <a:solidFill>
              <a:srgbClr val="16161A"/>
            </a:solidFill>
            <a:ln w="12700" cap="sq">
              <a:solidFill>
                <a:srgbClr val="2E2E34"/>
              </a:solidFill>
              <a:prstDash val="solid"/>
              <a:miter/>
            </a:ln>
          </p:spPr>
        </p:sp>
      </p:grpSp>
      <p:grpSp>
        <p:nvGrpSpPr>
          <p:cNvPr name="Group 51" id="51"/>
          <p:cNvGrpSpPr/>
          <p:nvPr/>
        </p:nvGrpSpPr>
        <p:grpSpPr>
          <a:xfrm rot="0">
            <a:off x="10424160" y="7150608"/>
            <a:ext cx="109728" cy="1280160"/>
            <a:chOff x="0" y="0"/>
            <a:chExt cx="146304" cy="1706880"/>
          </a:xfrm>
        </p:grpSpPr>
        <p:sp>
          <p:nvSpPr>
            <p:cNvPr name="Freeform 52" id="52"/>
            <p:cNvSpPr/>
            <p:nvPr/>
          </p:nvSpPr>
          <p:spPr>
            <a:xfrm flipH="false" flipV="false" rot="0">
              <a:off x="0" y="0"/>
              <a:ext cx="146304" cy="1706880"/>
            </a:xfrm>
            <a:custGeom>
              <a:avLst/>
              <a:gdLst/>
              <a:ahLst/>
              <a:cxnLst/>
              <a:rect r="r" b="b" t="t" l="l"/>
              <a:pathLst>
                <a:path h="1706880" w="146304">
                  <a:moveTo>
                    <a:pt x="0" y="0"/>
                  </a:moveTo>
                  <a:lnTo>
                    <a:pt x="146304" y="0"/>
                  </a:lnTo>
                  <a:lnTo>
                    <a:pt x="146304" y="1706880"/>
                  </a:lnTo>
                  <a:lnTo>
                    <a:pt x="0" y="1706880"/>
                  </a:lnTo>
                  <a:close/>
                </a:path>
              </a:pathLst>
            </a:custGeom>
            <a:solidFill>
              <a:srgbClr val="8F2A2A"/>
            </a:solidFill>
          </p:spPr>
        </p:sp>
      </p:grpSp>
      <p:grpSp>
        <p:nvGrpSpPr>
          <p:cNvPr name="Group 53" id="53"/>
          <p:cNvGrpSpPr/>
          <p:nvPr/>
        </p:nvGrpSpPr>
        <p:grpSpPr>
          <a:xfrm rot="0">
            <a:off x="10540898" y="7206211"/>
            <a:ext cx="2782875" cy="667890"/>
            <a:chOff x="0" y="0"/>
            <a:chExt cx="3657600" cy="877824"/>
          </a:xfrm>
        </p:grpSpPr>
        <p:sp>
          <p:nvSpPr>
            <p:cNvPr name="Freeform 54" id="54"/>
            <p:cNvSpPr/>
            <p:nvPr/>
          </p:nvSpPr>
          <p:spPr>
            <a:xfrm flipH="false" flipV="false" rot="0">
              <a:off x="0" y="0"/>
              <a:ext cx="3657600" cy="877824"/>
            </a:xfrm>
            <a:custGeom>
              <a:avLst/>
              <a:gdLst/>
              <a:ahLst/>
              <a:cxnLst/>
              <a:rect r="r" b="b" t="t" l="l"/>
              <a:pathLst>
                <a:path h="877824" w="3657600">
                  <a:moveTo>
                    <a:pt x="0" y="0"/>
                  </a:moveTo>
                  <a:lnTo>
                    <a:pt x="3657600" y="0"/>
                  </a:lnTo>
                  <a:lnTo>
                    <a:pt x="3657600" y="877824"/>
                  </a:lnTo>
                  <a:lnTo>
                    <a:pt x="0" y="877824"/>
                  </a:lnTo>
                  <a:close/>
                </a:path>
              </a:pathLst>
            </a:custGeom>
            <a:blipFill>
              <a:blip r:embed="rId2">
                <a:alphaModFix amt="0"/>
              </a:blip>
              <a:stretch>
                <a:fillRect l="0" t="-31187" r="0" b="-31187"/>
              </a:stretch>
            </a:blipFill>
          </p:spPr>
        </p:sp>
        <p:sp>
          <p:nvSpPr>
            <p:cNvPr name="TextBox 55" id="55"/>
            <p:cNvSpPr txBox="true"/>
            <p:nvPr/>
          </p:nvSpPr>
          <p:spPr>
            <a:xfrm>
              <a:off x="0" y="-19050"/>
              <a:ext cx="3657600" cy="896874"/>
            </a:xfrm>
            <a:prstGeom prst="rect">
              <a:avLst/>
            </a:prstGeom>
          </p:spPr>
          <p:txBody>
            <a:bodyPr anchor="ctr" rtlCol="false" tIns="0" lIns="0" bIns="0" rIns="0"/>
            <a:lstStyle/>
            <a:p>
              <a:pPr algn="l">
                <a:lnSpc>
                  <a:spcPts val="5280"/>
                </a:lnSpc>
              </a:pPr>
              <a:r>
                <a:rPr lang="en-US" sz="4400" b="true">
                  <a:solidFill>
                    <a:srgbClr val="FF8A8A"/>
                  </a:solidFill>
                  <a:latin typeface="Arial Bold"/>
                  <a:ea typeface="Arial Bold"/>
                  <a:cs typeface="Arial Bold"/>
                  <a:sym typeface="Arial Bold"/>
                </a:rPr>
                <a:t>&lt;2s</a:t>
              </a:r>
            </a:p>
          </p:txBody>
        </p:sp>
      </p:grpSp>
      <p:grpSp>
        <p:nvGrpSpPr>
          <p:cNvPr name="Group 56" id="56"/>
          <p:cNvGrpSpPr/>
          <p:nvPr/>
        </p:nvGrpSpPr>
        <p:grpSpPr>
          <a:xfrm rot="0">
            <a:off x="10540898" y="7836996"/>
            <a:ext cx="7012846" cy="519470"/>
            <a:chOff x="0" y="0"/>
            <a:chExt cx="9217152" cy="682752"/>
          </a:xfrm>
        </p:grpSpPr>
        <p:sp>
          <p:nvSpPr>
            <p:cNvPr name="Freeform 57" id="57"/>
            <p:cNvSpPr/>
            <p:nvPr/>
          </p:nvSpPr>
          <p:spPr>
            <a:xfrm flipH="false" flipV="false" rot="0">
              <a:off x="0" y="0"/>
              <a:ext cx="9217152" cy="682752"/>
            </a:xfrm>
            <a:custGeom>
              <a:avLst/>
              <a:gdLst/>
              <a:ahLst/>
              <a:cxnLst/>
              <a:rect r="r" b="b" t="t" l="l"/>
              <a:pathLst>
                <a:path h="682752" w="9217152">
                  <a:moveTo>
                    <a:pt x="0" y="0"/>
                  </a:moveTo>
                  <a:lnTo>
                    <a:pt x="9217152" y="0"/>
                  </a:lnTo>
                  <a:lnTo>
                    <a:pt x="9217152" y="682752"/>
                  </a:lnTo>
                  <a:lnTo>
                    <a:pt x="0" y="682752"/>
                  </a:lnTo>
                  <a:close/>
                </a:path>
              </a:pathLst>
            </a:custGeom>
            <a:blipFill>
              <a:blip r:embed="rId2">
                <a:alphaModFix amt="0"/>
              </a:blip>
              <a:stretch>
                <a:fillRect l="0" t="-213048" r="0" b="-213048"/>
              </a:stretch>
            </a:blipFill>
          </p:spPr>
        </p:sp>
        <p:sp>
          <p:nvSpPr>
            <p:cNvPr name="TextBox 58" id="58"/>
            <p:cNvSpPr txBox="true"/>
            <p:nvPr/>
          </p:nvSpPr>
          <p:spPr>
            <a:xfrm>
              <a:off x="0" y="-38100"/>
              <a:ext cx="9217152" cy="720852"/>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average processing time per chapter</a:t>
              </a:r>
            </a:p>
          </p:txBody>
        </p:sp>
      </p:grpSp>
      <p:sp>
        <p:nvSpPr>
          <p:cNvPr name="Freeform 59" id="59"/>
          <p:cNvSpPr/>
          <p:nvPr/>
        </p:nvSpPr>
        <p:spPr>
          <a:xfrm flipH="false" flipV="false" rot="0">
            <a:off x="529472" y="1733223"/>
            <a:ext cx="9192508" cy="7194896"/>
          </a:xfrm>
          <a:custGeom>
            <a:avLst/>
            <a:gdLst/>
            <a:ahLst/>
            <a:cxnLst/>
            <a:rect r="r" b="b" t="t" l="l"/>
            <a:pathLst>
              <a:path h="7194896" w="9192508">
                <a:moveTo>
                  <a:pt x="0" y="0"/>
                </a:moveTo>
                <a:lnTo>
                  <a:pt x="9192508" y="0"/>
                </a:lnTo>
                <a:lnTo>
                  <a:pt x="9192508" y="7194896"/>
                </a:lnTo>
                <a:lnTo>
                  <a:pt x="0" y="7194896"/>
                </a:lnTo>
                <a:lnTo>
                  <a:pt x="0" y="0"/>
                </a:lnTo>
                <a:close/>
              </a:path>
            </a:pathLst>
          </a:custGeom>
          <a:blipFill>
            <a:blip r:embed="rId3"/>
            <a:stretch>
              <a:fillRect l="0" t="-47" r="-918" b="-47"/>
            </a:stretch>
          </a:blipFill>
        </p:spPr>
      </p:sp>
      <p:sp>
        <p:nvSpPr>
          <p:cNvPr name="TextBox 60" id="60"/>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8F2A2A"/>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LitMind in Action — Character Analysis</a:t>
              </a:r>
            </a:p>
          </p:txBody>
        </p:sp>
      </p:grpSp>
      <p:grpSp>
        <p:nvGrpSpPr>
          <p:cNvPr name="Group 14" id="14"/>
          <p:cNvGrpSpPr/>
          <p:nvPr/>
        </p:nvGrpSpPr>
        <p:grpSpPr>
          <a:xfrm rot="0">
            <a:off x="389639" y="1724663"/>
            <a:ext cx="8072123" cy="2768603"/>
            <a:chOff x="0" y="0"/>
            <a:chExt cx="10762831" cy="3691471"/>
          </a:xfrm>
        </p:grpSpPr>
        <p:sp>
          <p:nvSpPr>
            <p:cNvPr name="Freeform 15" id="15"/>
            <p:cNvSpPr/>
            <p:nvPr/>
          </p:nvSpPr>
          <p:spPr>
            <a:xfrm flipH="false" flipV="false" rot="0">
              <a:off x="0" y="0"/>
              <a:ext cx="10762869" cy="3691509"/>
            </a:xfrm>
            <a:custGeom>
              <a:avLst/>
              <a:gdLst/>
              <a:ahLst/>
              <a:cxnLst/>
              <a:rect r="r" b="b" t="t" l="l"/>
              <a:pathLst>
                <a:path h="3691509" w="10762869">
                  <a:moveTo>
                    <a:pt x="0" y="0"/>
                  </a:moveTo>
                  <a:lnTo>
                    <a:pt x="10762869" y="0"/>
                  </a:lnTo>
                  <a:lnTo>
                    <a:pt x="10762869" y="3691509"/>
                  </a:lnTo>
                  <a:lnTo>
                    <a:pt x="0" y="3691509"/>
                  </a:lnTo>
                  <a:close/>
                </a:path>
              </a:pathLst>
            </a:custGeom>
            <a:solidFill>
              <a:srgbClr val="1A1A1E"/>
            </a:solidFill>
            <a:ln w="25400" cap="sq">
              <a:solidFill>
                <a:srgbClr val="C94545"/>
              </a:solidFill>
              <a:prstDash val="solid"/>
              <a:miter/>
            </a:ln>
          </p:spPr>
        </p:sp>
      </p:grpSp>
      <p:grpSp>
        <p:nvGrpSpPr>
          <p:cNvPr name="Group 16" id="16"/>
          <p:cNvGrpSpPr/>
          <p:nvPr/>
        </p:nvGrpSpPr>
        <p:grpSpPr>
          <a:xfrm rot="0">
            <a:off x="548640" y="1828800"/>
            <a:ext cx="7717536" cy="2523744"/>
            <a:chOff x="0" y="0"/>
            <a:chExt cx="10290048" cy="3364992"/>
          </a:xfrm>
        </p:grpSpPr>
        <p:sp>
          <p:nvSpPr>
            <p:cNvPr name="Freeform 17" id="17"/>
            <p:cNvSpPr/>
            <p:nvPr/>
          </p:nvSpPr>
          <p:spPr>
            <a:xfrm flipH="false" flipV="false" rot="0">
              <a:off x="0" y="0"/>
              <a:ext cx="10290048" cy="3364992"/>
            </a:xfrm>
            <a:custGeom>
              <a:avLst/>
              <a:gdLst/>
              <a:ahLst/>
              <a:cxnLst/>
              <a:rect r="r" b="b" t="t" l="l"/>
              <a:pathLst>
                <a:path h="3364992" w="10290048">
                  <a:moveTo>
                    <a:pt x="0" y="0"/>
                  </a:moveTo>
                  <a:lnTo>
                    <a:pt x="10290048" y="0"/>
                  </a:lnTo>
                  <a:lnTo>
                    <a:pt x="10290048" y="3364992"/>
                  </a:lnTo>
                  <a:lnTo>
                    <a:pt x="0" y="3364992"/>
                  </a:lnTo>
                  <a:close/>
                </a:path>
              </a:pathLst>
            </a:custGeom>
            <a:blipFill>
              <a:blip r:embed="rId2">
                <a:alphaModFix amt="0"/>
              </a:blip>
              <a:stretch>
                <a:fillRect l="0" t="-9584" r="0" b="-9584"/>
              </a:stretch>
            </a:blipFill>
          </p:spPr>
        </p:sp>
        <p:sp>
          <p:nvSpPr>
            <p:cNvPr name="TextBox 18" id="18"/>
            <p:cNvSpPr txBox="true"/>
            <p:nvPr/>
          </p:nvSpPr>
          <p:spPr>
            <a:xfrm>
              <a:off x="0" y="-38100"/>
              <a:ext cx="10290048" cy="3403092"/>
            </a:xfrm>
            <a:prstGeom prst="rect">
              <a:avLst/>
            </a:prstGeom>
          </p:spPr>
          <p:txBody>
            <a:bodyPr anchor="ctr" rtlCol="false" tIns="0" lIns="0" bIns="0" rIns="0"/>
            <a:lstStyle/>
            <a:p>
              <a:pPr algn="l">
                <a:lnSpc>
                  <a:spcPts val="2879"/>
                </a:lnSpc>
              </a:pPr>
              <a:r>
                <a:rPr lang="en-US" sz="2400" b="true">
                  <a:solidFill>
                    <a:srgbClr val="FF5757"/>
                  </a:solidFill>
                  <a:latin typeface="Calibri (MS) Bold"/>
                  <a:ea typeface="Calibri (MS) Bold"/>
                  <a:cs typeface="Calibri (MS) Bold"/>
                  <a:sym typeface="Calibri (MS) Bold"/>
                </a:rPr>
                <a:t>What it shows:</a:t>
              </a:r>
            </a:p>
            <a:p>
              <a:pPr algn="l">
                <a:lnSpc>
                  <a:spcPts val="2639"/>
                </a:lnSpc>
              </a:pPr>
              <a:r>
                <a:rPr lang="en-US" sz="2199">
                  <a:solidFill>
                    <a:srgbClr val="D9D9D9"/>
                  </a:solidFill>
                  <a:latin typeface="Calibri (MS)"/>
                  <a:ea typeface="Calibri (MS)"/>
                  <a:cs typeface="Calibri (MS)"/>
                  <a:sym typeface="Calibri (MS)"/>
                </a:rPr>
                <a:t>• All characters identified in the uploaded book</a:t>
              </a:r>
            </a:p>
            <a:p>
              <a:pPr algn="l">
                <a:lnSpc>
                  <a:spcPts val="2639"/>
                </a:lnSpc>
              </a:pPr>
              <a:r>
                <a:rPr lang="en-US" sz="2199">
                  <a:solidFill>
                    <a:srgbClr val="D9D9D9"/>
                  </a:solidFill>
                  <a:latin typeface="Calibri (MS)"/>
                  <a:ea typeface="Calibri (MS)"/>
                  <a:cs typeface="Calibri (MS)"/>
                  <a:sym typeface="Calibri (MS)"/>
                </a:rPr>
                <a:t>• Each character's mention frequency</a:t>
              </a:r>
            </a:p>
            <a:p>
              <a:pPr algn="l">
                <a:lnSpc>
                  <a:spcPts val="2639"/>
                </a:lnSpc>
              </a:pPr>
              <a:r>
                <a:rPr lang="en-US" sz="2199">
                  <a:solidFill>
                    <a:srgbClr val="D9D9D9"/>
                  </a:solidFill>
                  <a:latin typeface="Calibri (MS)"/>
                  <a:ea typeface="Calibri (MS)"/>
                  <a:cs typeface="Calibri (MS)"/>
                  <a:sym typeface="Calibri (MS)"/>
                </a:rPr>
                <a:t>• Role classification (protagonist / supporting)</a:t>
              </a:r>
            </a:p>
            <a:p>
              <a:pPr algn="l">
                <a:lnSpc>
                  <a:spcPts val="2639"/>
                </a:lnSpc>
              </a:pPr>
              <a:r>
                <a:rPr lang="en-US" sz="2199">
                  <a:solidFill>
                    <a:srgbClr val="D9D9D9"/>
                  </a:solidFill>
                  <a:latin typeface="Calibri (MS)"/>
                  <a:ea typeface="Calibri (MS)"/>
                  <a:cs typeface="Calibri (MS)"/>
                  <a:sym typeface="Calibri (MS)"/>
                </a:rPr>
                <a:t>• Sentiment polarity per character</a:t>
              </a:r>
            </a:p>
          </p:txBody>
        </p:sp>
      </p:grpSp>
      <p:grpSp>
        <p:nvGrpSpPr>
          <p:cNvPr name="Group 19" id="19"/>
          <p:cNvGrpSpPr/>
          <p:nvPr/>
        </p:nvGrpSpPr>
        <p:grpSpPr>
          <a:xfrm rot="0">
            <a:off x="395983" y="8369551"/>
            <a:ext cx="17386297" cy="1329433"/>
            <a:chOff x="0" y="0"/>
            <a:chExt cx="23181729" cy="1772577"/>
          </a:xfrm>
        </p:grpSpPr>
        <p:sp>
          <p:nvSpPr>
            <p:cNvPr name="Freeform 20" id="20"/>
            <p:cNvSpPr/>
            <p:nvPr/>
          </p:nvSpPr>
          <p:spPr>
            <a:xfrm flipH="false" flipV="false" rot="0">
              <a:off x="0" y="0"/>
              <a:ext cx="23181690" cy="1772539"/>
            </a:xfrm>
            <a:custGeom>
              <a:avLst/>
              <a:gdLst/>
              <a:ahLst/>
              <a:cxnLst/>
              <a:rect r="r" b="b" t="t" l="l"/>
              <a:pathLst>
                <a:path h="1772539" w="23181690">
                  <a:moveTo>
                    <a:pt x="0" y="0"/>
                  </a:moveTo>
                  <a:lnTo>
                    <a:pt x="23181690" y="0"/>
                  </a:lnTo>
                  <a:lnTo>
                    <a:pt x="23181690" y="1772539"/>
                  </a:lnTo>
                  <a:lnTo>
                    <a:pt x="0" y="1772539"/>
                  </a:lnTo>
                  <a:close/>
                </a:path>
              </a:pathLst>
            </a:custGeom>
            <a:solidFill>
              <a:srgbClr val="16161A"/>
            </a:solidFill>
            <a:ln w="12700" cap="sq">
              <a:solidFill>
                <a:srgbClr val="2E2E34"/>
              </a:solidFill>
              <a:prstDash val="solid"/>
              <a:miter/>
            </a:ln>
          </p:spPr>
        </p:sp>
      </p:grpSp>
      <p:grpSp>
        <p:nvGrpSpPr>
          <p:cNvPr name="Group 21" id="21"/>
          <p:cNvGrpSpPr/>
          <p:nvPr/>
        </p:nvGrpSpPr>
        <p:grpSpPr>
          <a:xfrm rot="0">
            <a:off x="548640" y="8412480"/>
            <a:ext cx="2743200" cy="512064"/>
            <a:chOff x="0" y="0"/>
            <a:chExt cx="3657600" cy="682752"/>
          </a:xfrm>
        </p:grpSpPr>
        <p:sp>
          <p:nvSpPr>
            <p:cNvPr name="Freeform 22" id="22"/>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2">
                <a:alphaModFix amt="0"/>
              </a:blip>
              <a:stretch>
                <a:fillRect l="0" t="-54384" r="0" b="-54384"/>
              </a:stretch>
            </a:blipFill>
          </p:spPr>
        </p:sp>
        <p:sp>
          <p:nvSpPr>
            <p:cNvPr name="TextBox 23" id="23"/>
            <p:cNvSpPr txBox="true"/>
            <p:nvPr/>
          </p:nvSpPr>
          <p:spPr>
            <a:xfrm>
              <a:off x="0" y="-19050"/>
              <a:ext cx="3657600"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How it works: </a:t>
              </a:r>
            </a:p>
          </p:txBody>
        </p:sp>
      </p:grpSp>
      <p:grpSp>
        <p:nvGrpSpPr>
          <p:cNvPr name="Group 24" id="24"/>
          <p:cNvGrpSpPr/>
          <p:nvPr/>
        </p:nvGrpSpPr>
        <p:grpSpPr>
          <a:xfrm rot="0">
            <a:off x="548640" y="8924544"/>
            <a:ext cx="17007840" cy="658368"/>
            <a:chOff x="0" y="0"/>
            <a:chExt cx="22677120" cy="877824"/>
          </a:xfrm>
        </p:grpSpPr>
        <p:sp>
          <p:nvSpPr>
            <p:cNvPr name="Freeform 25" id="25"/>
            <p:cNvSpPr/>
            <p:nvPr/>
          </p:nvSpPr>
          <p:spPr>
            <a:xfrm flipH="false" flipV="false" rot="0">
              <a:off x="0" y="0"/>
              <a:ext cx="22677120" cy="877824"/>
            </a:xfrm>
            <a:custGeom>
              <a:avLst/>
              <a:gdLst/>
              <a:ahLst/>
              <a:cxnLst/>
              <a:rect r="r" b="b" t="t" l="l"/>
              <a:pathLst>
                <a:path h="877824" w="22677120">
                  <a:moveTo>
                    <a:pt x="0" y="0"/>
                  </a:moveTo>
                  <a:lnTo>
                    <a:pt x="22677120" y="0"/>
                  </a:lnTo>
                  <a:lnTo>
                    <a:pt x="22677120" y="877824"/>
                  </a:lnTo>
                  <a:lnTo>
                    <a:pt x="0" y="877824"/>
                  </a:lnTo>
                  <a:close/>
                </a:path>
              </a:pathLst>
            </a:custGeom>
            <a:blipFill>
              <a:blip r:embed="rId2">
                <a:alphaModFix amt="0"/>
              </a:blip>
              <a:stretch>
                <a:fillRect l="0" t="-453363" r="0" b="-453363"/>
              </a:stretch>
            </a:blipFill>
          </p:spPr>
        </p:sp>
        <p:sp>
          <p:nvSpPr>
            <p:cNvPr name="TextBox 26" id="26"/>
            <p:cNvSpPr txBox="true"/>
            <p:nvPr/>
          </p:nvSpPr>
          <p:spPr>
            <a:xfrm>
              <a:off x="0" y="-38100"/>
              <a:ext cx="22677120"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Text is chunked → spaCy + CoreNLP NER runs on each chunk → results merged using majority-vote approach → characters ranked by WAB score → results displayed as interactive table + bar chart.</a:t>
              </a:r>
            </a:p>
          </p:txBody>
        </p:sp>
      </p:grpSp>
      <p:grpSp>
        <p:nvGrpSpPr>
          <p:cNvPr name="Group 27" id="27"/>
          <p:cNvGrpSpPr/>
          <p:nvPr/>
        </p:nvGrpSpPr>
        <p:grpSpPr>
          <a:xfrm rot="0">
            <a:off x="383286" y="4644390"/>
            <a:ext cx="8084820" cy="3549396"/>
            <a:chOff x="0" y="0"/>
            <a:chExt cx="10779760" cy="4732528"/>
          </a:xfrm>
        </p:grpSpPr>
        <p:sp>
          <p:nvSpPr>
            <p:cNvPr name="Freeform 28" id="28"/>
            <p:cNvSpPr/>
            <p:nvPr/>
          </p:nvSpPr>
          <p:spPr>
            <a:xfrm flipH="false" flipV="false" rot="0">
              <a:off x="0" y="0"/>
              <a:ext cx="10779760" cy="4732528"/>
            </a:xfrm>
            <a:custGeom>
              <a:avLst/>
              <a:gdLst/>
              <a:ahLst/>
              <a:cxnLst/>
              <a:rect r="r" b="b" t="t" l="l"/>
              <a:pathLst>
                <a:path h="4732528" w="10779760">
                  <a:moveTo>
                    <a:pt x="0" y="0"/>
                  </a:moveTo>
                  <a:lnTo>
                    <a:pt x="10779760" y="0"/>
                  </a:lnTo>
                  <a:lnTo>
                    <a:pt x="10779760" y="4732528"/>
                  </a:lnTo>
                  <a:lnTo>
                    <a:pt x="0" y="4732528"/>
                  </a:lnTo>
                  <a:close/>
                </a:path>
              </a:pathLst>
            </a:custGeom>
            <a:blipFill>
              <a:blip r:embed="rId3"/>
              <a:stretch>
                <a:fillRect l="0" t="-1904" r="0" b="-1904"/>
              </a:stretch>
            </a:blipFill>
            <a:ln w="38100" cap="sq">
              <a:solidFill>
                <a:srgbClr val="C94545"/>
              </a:solidFill>
              <a:prstDash val="dash"/>
              <a:miter/>
            </a:ln>
          </p:spPr>
        </p:sp>
      </p:grpSp>
      <p:sp>
        <p:nvSpPr>
          <p:cNvPr name="Freeform 29" id="29"/>
          <p:cNvSpPr/>
          <p:nvPr/>
        </p:nvSpPr>
        <p:spPr>
          <a:xfrm flipH="false" flipV="false" rot="0">
            <a:off x="8630031" y="4895733"/>
            <a:ext cx="8628321" cy="3320679"/>
          </a:xfrm>
          <a:custGeom>
            <a:avLst/>
            <a:gdLst/>
            <a:ahLst/>
            <a:cxnLst/>
            <a:rect r="r" b="b" t="t" l="l"/>
            <a:pathLst>
              <a:path h="3320679" w="8628321">
                <a:moveTo>
                  <a:pt x="0" y="0"/>
                </a:moveTo>
                <a:lnTo>
                  <a:pt x="8628321" y="0"/>
                </a:lnTo>
                <a:lnTo>
                  <a:pt x="8628321" y="3320679"/>
                </a:lnTo>
                <a:lnTo>
                  <a:pt x="0" y="3320679"/>
                </a:lnTo>
                <a:lnTo>
                  <a:pt x="0" y="0"/>
                </a:lnTo>
                <a:close/>
              </a:path>
            </a:pathLst>
          </a:custGeom>
          <a:blipFill>
            <a:blip r:embed="rId4"/>
            <a:stretch>
              <a:fillRect l="0" t="0" r="0" b="0"/>
            </a:stretch>
          </a:blipFill>
        </p:spPr>
      </p:sp>
      <p:sp>
        <p:nvSpPr>
          <p:cNvPr name="Freeform 30" id="30"/>
          <p:cNvSpPr/>
          <p:nvPr/>
        </p:nvSpPr>
        <p:spPr>
          <a:xfrm flipH="false" flipV="false" rot="0">
            <a:off x="8639556" y="1641113"/>
            <a:ext cx="8619744" cy="3161911"/>
          </a:xfrm>
          <a:custGeom>
            <a:avLst/>
            <a:gdLst/>
            <a:ahLst/>
            <a:cxnLst/>
            <a:rect r="r" b="b" t="t" l="l"/>
            <a:pathLst>
              <a:path h="3161911" w="8619744">
                <a:moveTo>
                  <a:pt x="0" y="0"/>
                </a:moveTo>
                <a:lnTo>
                  <a:pt x="8619744" y="0"/>
                </a:lnTo>
                <a:lnTo>
                  <a:pt x="8619744" y="3161911"/>
                </a:lnTo>
                <a:lnTo>
                  <a:pt x="0" y="3161911"/>
                </a:lnTo>
                <a:lnTo>
                  <a:pt x="0" y="0"/>
                </a:lnTo>
                <a:close/>
              </a:path>
            </a:pathLst>
          </a:custGeom>
          <a:blipFill>
            <a:blip r:embed="rId5"/>
            <a:stretch>
              <a:fillRect l="0" t="-296" r="0" b="0"/>
            </a:stretch>
          </a:blipFill>
        </p:spPr>
      </p:sp>
      <p:sp>
        <p:nvSpPr>
          <p:cNvPr name="TextBox 31" id="31"/>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8F2A2A"/>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LitMind in Action — Summary &amp; Genre Detection</a:t>
              </a:r>
            </a:p>
          </p:txBody>
        </p:sp>
      </p:grpSp>
      <p:grpSp>
        <p:nvGrpSpPr>
          <p:cNvPr name="Group 14" id="14"/>
          <p:cNvGrpSpPr/>
          <p:nvPr/>
        </p:nvGrpSpPr>
        <p:grpSpPr>
          <a:xfrm rot="0">
            <a:off x="389639" y="2061191"/>
            <a:ext cx="5980145" cy="2374485"/>
            <a:chOff x="0" y="0"/>
            <a:chExt cx="8949729" cy="3553591"/>
          </a:xfrm>
        </p:grpSpPr>
        <p:sp>
          <p:nvSpPr>
            <p:cNvPr name="Freeform 15" id="15"/>
            <p:cNvSpPr/>
            <p:nvPr/>
          </p:nvSpPr>
          <p:spPr>
            <a:xfrm flipH="false" flipV="false" rot="0">
              <a:off x="0" y="0"/>
              <a:ext cx="8949767" cy="3553630"/>
            </a:xfrm>
            <a:custGeom>
              <a:avLst/>
              <a:gdLst/>
              <a:ahLst/>
              <a:cxnLst/>
              <a:rect r="r" b="b" t="t" l="l"/>
              <a:pathLst>
                <a:path h="3553630" w="8949767">
                  <a:moveTo>
                    <a:pt x="0" y="0"/>
                  </a:moveTo>
                  <a:lnTo>
                    <a:pt x="8949767" y="0"/>
                  </a:lnTo>
                  <a:lnTo>
                    <a:pt x="8949767" y="3553630"/>
                  </a:lnTo>
                  <a:lnTo>
                    <a:pt x="0" y="3553630"/>
                  </a:lnTo>
                  <a:close/>
                </a:path>
              </a:pathLst>
            </a:custGeom>
            <a:solidFill>
              <a:srgbClr val="1A1A1E"/>
            </a:solidFill>
            <a:ln w="25400" cap="sq">
              <a:solidFill>
                <a:srgbClr val="C94545"/>
              </a:solidFill>
              <a:prstDash val="solid"/>
              <a:miter/>
            </a:ln>
          </p:spPr>
        </p:sp>
      </p:grpSp>
      <p:grpSp>
        <p:nvGrpSpPr>
          <p:cNvPr name="Group 16" id="16"/>
          <p:cNvGrpSpPr/>
          <p:nvPr/>
        </p:nvGrpSpPr>
        <p:grpSpPr>
          <a:xfrm rot="0">
            <a:off x="548640" y="1828800"/>
            <a:ext cx="5821145" cy="2779776"/>
            <a:chOff x="0" y="0"/>
            <a:chExt cx="7761526" cy="3706368"/>
          </a:xfrm>
        </p:grpSpPr>
        <p:sp>
          <p:nvSpPr>
            <p:cNvPr name="Freeform 17" id="17"/>
            <p:cNvSpPr/>
            <p:nvPr/>
          </p:nvSpPr>
          <p:spPr>
            <a:xfrm flipH="false" flipV="false" rot="0">
              <a:off x="0" y="0"/>
              <a:ext cx="7761526" cy="3706368"/>
            </a:xfrm>
            <a:custGeom>
              <a:avLst/>
              <a:gdLst/>
              <a:ahLst/>
              <a:cxnLst/>
              <a:rect r="r" b="b" t="t" l="l"/>
              <a:pathLst>
                <a:path h="3706368" w="7761526">
                  <a:moveTo>
                    <a:pt x="0" y="0"/>
                  </a:moveTo>
                  <a:lnTo>
                    <a:pt x="7761526" y="0"/>
                  </a:lnTo>
                  <a:lnTo>
                    <a:pt x="7761526" y="3706368"/>
                  </a:lnTo>
                  <a:lnTo>
                    <a:pt x="0" y="3706368"/>
                  </a:lnTo>
                  <a:close/>
                </a:path>
              </a:pathLst>
            </a:custGeom>
            <a:blipFill>
              <a:blip r:embed="rId2">
                <a:alphaModFix amt="0"/>
              </a:blip>
              <a:stretch>
                <a:fillRect l="0" t="-4096" r="-32577" b="-4096"/>
              </a:stretch>
            </a:blipFill>
          </p:spPr>
        </p:sp>
        <p:sp>
          <p:nvSpPr>
            <p:cNvPr name="TextBox 18" id="18"/>
            <p:cNvSpPr txBox="true"/>
            <p:nvPr/>
          </p:nvSpPr>
          <p:spPr>
            <a:xfrm>
              <a:off x="0" y="-38100"/>
              <a:ext cx="7761526" cy="3744468"/>
            </a:xfrm>
            <a:prstGeom prst="rect">
              <a:avLst/>
            </a:prstGeom>
          </p:spPr>
          <p:txBody>
            <a:bodyPr anchor="ctr" rtlCol="false" tIns="0" lIns="0" bIns="0" rIns="0"/>
            <a:lstStyle/>
            <a:p>
              <a:pPr algn="l">
                <a:lnSpc>
                  <a:spcPts val="2879"/>
                </a:lnSpc>
              </a:pPr>
              <a:r>
                <a:rPr lang="en-US" sz="2400" b="true">
                  <a:solidFill>
                    <a:srgbClr val="FF5757"/>
                  </a:solidFill>
                  <a:latin typeface="Calibri (MS) Bold"/>
                  <a:ea typeface="Calibri (MS) Bold"/>
                  <a:cs typeface="Calibri (MS) Bold"/>
                  <a:sym typeface="Calibri (MS) Bold"/>
                </a:rPr>
                <a:t>What it shows:</a:t>
              </a:r>
            </a:p>
            <a:p>
              <a:pPr algn="l">
                <a:lnSpc>
                  <a:spcPts val="2639"/>
                </a:lnSpc>
              </a:pPr>
              <a:r>
                <a:rPr lang="en-US" sz="2199">
                  <a:solidFill>
                    <a:srgbClr val="D9D9D9"/>
                  </a:solidFill>
                  <a:latin typeface="Calibri (MS)"/>
                  <a:ea typeface="Calibri (MS)"/>
                  <a:cs typeface="Calibri (MS)"/>
                  <a:sym typeface="Calibri (MS)"/>
                </a:rPr>
                <a:t>• Concise AI-generated summary of the full book</a:t>
              </a:r>
            </a:p>
            <a:p>
              <a:pPr algn="l">
                <a:lnSpc>
                  <a:spcPts val="2639"/>
                </a:lnSpc>
              </a:pPr>
              <a:r>
                <a:rPr lang="en-US" sz="2199">
                  <a:solidFill>
                    <a:srgbClr val="D9D9D9"/>
                  </a:solidFill>
                  <a:latin typeface="Calibri (MS)"/>
                  <a:ea typeface="Calibri (MS)"/>
                  <a:cs typeface="Calibri (MS)"/>
                  <a:sym typeface="Calibri (MS)"/>
                </a:rPr>
                <a:t>• Chapter-by-chapter summary breakdown</a:t>
              </a:r>
            </a:p>
            <a:p>
              <a:pPr algn="l">
                <a:lnSpc>
                  <a:spcPts val="2639"/>
                </a:lnSpc>
              </a:pPr>
              <a:r>
                <a:rPr lang="en-US" sz="2199">
                  <a:solidFill>
                    <a:srgbClr val="D9D9D9"/>
                  </a:solidFill>
                  <a:latin typeface="Calibri (MS)"/>
                  <a:ea typeface="Calibri (MS)"/>
                  <a:cs typeface="Calibri (MS)"/>
                  <a:sym typeface="Calibri (MS)"/>
                </a:rPr>
                <a:t>• Detected genre (with confidence %)</a:t>
              </a:r>
            </a:p>
            <a:p>
              <a:pPr algn="l">
                <a:lnSpc>
                  <a:spcPts val="2639"/>
                </a:lnSpc>
              </a:pPr>
              <a:r>
                <a:rPr lang="en-US" sz="2199">
                  <a:solidFill>
                    <a:srgbClr val="D9D9D9"/>
                  </a:solidFill>
                  <a:latin typeface="Calibri (MS)"/>
                  <a:ea typeface="Calibri (MS)"/>
                  <a:cs typeface="Calibri (MS)"/>
                  <a:sym typeface="Calibri (MS)"/>
                </a:rPr>
                <a:t>• Key themes and writing style notes</a:t>
              </a:r>
            </a:p>
            <a:p>
              <a:pPr algn="l">
                <a:lnSpc>
                  <a:spcPts val="2639"/>
                </a:lnSpc>
              </a:pPr>
              <a:r>
                <a:rPr lang="en-US" sz="2199">
                  <a:solidFill>
                    <a:srgbClr val="D9D9D9"/>
                  </a:solidFill>
                  <a:latin typeface="Calibri (MS)"/>
                  <a:ea typeface="Calibri (MS)"/>
                  <a:cs typeface="Calibri (MS)"/>
                  <a:sym typeface="Calibri (MS)"/>
                </a:rPr>
                <a:t>• Comparable books from same genre</a:t>
              </a:r>
            </a:p>
          </p:txBody>
        </p:sp>
      </p:grpSp>
      <p:grpSp>
        <p:nvGrpSpPr>
          <p:cNvPr name="Group 19" id="19"/>
          <p:cNvGrpSpPr/>
          <p:nvPr/>
        </p:nvGrpSpPr>
        <p:grpSpPr>
          <a:xfrm rot="0">
            <a:off x="6883736" y="2061191"/>
            <a:ext cx="11054125" cy="5875140"/>
            <a:chOff x="0" y="0"/>
            <a:chExt cx="10779760" cy="5729319"/>
          </a:xfrm>
        </p:grpSpPr>
        <p:sp>
          <p:nvSpPr>
            <p:cNvPr name="Freeform 20" id="20"/>
            <p:cNvSpPr/>
            <p:nvPr/>
          </p:nvSpPr>
          <p:spPr>
            <a:xfrm flipH="false" flipV="false" rot="0">
              <a:off x="0" y="0"/>
              <a:ext cx="10779760" cy="5729319"/>
            </a:xfrm>
            <a:custGeom>
              <a:avLst/>
              <a:gdLst/>
              <a:ahLst/>
              <a:cxnLst/>
              <a:rect r="r" b="b" t="t" l="l"/>
              <a:pathLst>
                <a:path h="5729319" w="10779760">
                  <a:moveTo>
                    <a:pt x="0" y="0"/>
                  </a:moveTo>
                  <a:lnTo>
                    <a:pt x="10779760" y="0"/>
                  </a:lnTo>
                  <a:lnTo>
                    <a:pt x="10779760" y="5729319"/>
                  </a:lnTo>
                  <a:lnTo>
                    <a:pt x="0" y="5729319"/>
                  </a:lnTo>
                  <a:close/>
                </a:path>
              </a:pathLst>
            </a:custGeom>
            <a:blipFill>
              <a:blip r:embed="rId3"/>
              <a:stretch>
                <a:fillRect l="-693" t="0" r="-693" b="0"/>
              </a:stretch>
            </a:blipFill>
            <a:ln w="38100" cap="sq">
              <a:solidFill>
                <a:srgbClr val="C94545"/>
              </a:solidFill>
              <a:prstDash val="dash"/>
              <a:miter/>
            </a:ln>
          </p:spPr>
        </p:sp>
      </p:grpSp>
      <p:grpSp>
        <p:nvGrpSpPr>
          <p:cNvPr name="Group 21" id="21"/>
          <p:cNvGrpSpPr/>
          <p:nvPr/>
        </p:nvGrpSpPr>
        <p:grpSpPr>
          <a:xfrm rot="0">
            <a:off x="395983" y="8605410"/>
            <a:ext cx="17386297" cy="1103376"/>
            <a:chOff x="0" y="0"/>
            <a:chExt cx="23181729" cy="1471168"/>
          </a:xfrm>
        </p:grpSpPr>
        <p:sp>
          <p:nvSpPr>
            <p:cNvPr name="Freeform 22" id="22"/>
            <p:cNvSpPr/>
            <p:nvPr/>
          </p:nvSpPr>
          <p:spPr>
            <a:xfrm flipH="false" flipV="false" rot="0">
              <a:off x="0" y="0"/>
              <a:ext cx="23181690" cy="1471136"/>
            </a:xfrm>
            <a:custGeom>
              <a:avLst/>
              <a:gdLst/>
              <a:ahLst/>
              <a:cxnLst/>
              <a:rect r="r" b="b" t="t" l="l"/>
              <a:pathLst>
                <a:path h="1471136" w="23181690">
                  <a:moveTo>
                    <a:pt x="0" y="0"/>
                  </a:moveTo>
                  <a:lnTo>
                    <a:pt x="23181690" y="0"/>
                  </a:lnTo>
                  <a:lnTo>
                    <a:pt x="23181690" y="1471136"/>
                  </a:lnTo>
                  <a:lnTo>
                    <a:pt x="0" y="1471136"/>
                  </a:lnTo>
                  <a:close/>
                </a:path>
              </a:pathLst>
            </a:custGeom>
            <a:solidFill>
              <a:srgbClr val="16161A"/>
            </a:solidFill>
            <a:ln w="12700" cap="sq">
              <a:solidFill>
                <a:srgbClr val="2E2E34"/>
              </a:solidFill>
              <a:prstDash val="solid"/>
              <a:miter/>
            </a:ln>
          </p:spPr>
        </p:sp>
      </p:grpSp>
      <p:grpSp>
        <p:nvGrpSpPr>
          <p:cNvPr name="Group 23" id="23"/>
          <p:cNvGrpSpPr/>
          <p:nvPr/>
        </p:nvGrpSpPr>
        <p:grpSpPr>
          <a:xfrm rot="0">
            <a:off x="548640" y="8538354"/>
            <a:ext cx="2743200" cy="512064"/>
            <a:chOff x="0" y="0"/>
            <a:chExt cx="3657600" cy="682752"/>
          </a:xfrm>
        </p:grpSpPr>
        <p:sp>
          <p:nvSpPr>
            <p:cNvPr name="Freeform 24" id="24"/>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2">
                <a:alphaModFix amt="0"/>
              </a:blip>
              <a:stretch>
                <a:fillRect l="0" t="-54384" r="0" b="-54384"/>
              </a:stretch>
            </a:blipFill>
          </p:spPr>
        </p:sp>
        <p:sp>
          <p:nvSpPr>
            <p:cNvPr name="TextBox 25" id="25"/>
            <p:cNvSpPr txBox="true"/>
            <p:nvPr/>
          </p:nvSpPr>
          <p:spPr>
            <a:xfrm>
              <a:off x="0" y="-19050"/>
              <a:ext cx="3657600"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How it works: </a:t>
              </a:r>
            </a:p>
          </p:txBody>
        </p:sp>
      </p:grpSp>
      <p:grpSp>
        <p:nvGrpSpPr>
          <p:cNvPr name="Group 26" id="26"/>
          <p:cNvGrpSpPr/>
          <p:nvPr/>
        </p:nvGrpSpPr>
        <p:grpSpPr>
          <a:xfrm rot="0">
            <a:off x="548640" y="9050418"/>
            <a:ext cx="17007840" cy="658368"/>
            <a:chOff x="0" y="0"/>
            <a:chExt cx="22677120" cy="877824"/>
          </a:xfrm>
        </p:grpSpPr>
        <p:sp>
          <p:nvSpPr>
            <p:cNvPr name="Freeform 27" id="27"/>
            <p:cNvSpPr/>
            <p:nvPr/>
          </p:nvSpPr>
          <p:spPr>
            <a:xfrm flipH="false" flipV="false" rot="0">
              <a:off x="0" y="0"/>
              <a:ext cx="22677120" cy="877824"/>
            </a:xfrm>
            <a:custGeom>
              <a:avLst/>
              <a:gdLst/>
              <a:ahLst/>
              <a:cxnLst/>
              <a:rect r="r" b="b" t="t" l="l"/>
              <a:pathLst>
                <a:path h="877824" w="22677120">
                  <a:moveTo>
                    <a:pt x="0" y="0"/>
                  </a:moveTo>
                  <a:lnTo>
                    <a:pt x="22677120" y="0"/>
                  </a:lnTo>
                  <a:lnTo>
                    <a:pt x="22677120" y="877824"/>
                  </a:lnTo>
                  <a:lnTo>
                    <a:pt x="0" y="877824"/>
                  </a:lnTo>
                  <a:close/>
                </a:path>
              </a:pathLst>
            </a:custGeom>
            <a:blipFill>
              <a:blip r:embed="rId2">
                <a:alphaModFix amt="0"/>
              </a:blip>
              <a:stretch>
                <a:fillRect l="0" t="-453363" r="0" b="-453363"/>
              </a:stretch>
            </a:blipFill>
          </p:spPr>
        </p:sp>
        <p:sp>
          <p:nvSpPr>
            <p:cNvPr name="TextBox 28" id="28"/>
            <p:cNvSpPr txBox="true"/>
            <p:nvPr/>
          </p:nvSpPr>
          <p:spPr>
            <a:xfrm>
              <a:off x="0" y="-38100"/>
              <a:ext cx="22677120" cy="915924"/>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Book text is chunked into sections → each chunk sent to Gemini API with a structured summary prompt → genre labels extracted from model output → parsed via Pydantic → displayed with confidence scores.</a:t>
              </a:r>
            </a:p>
          </p:txBody>
        </p:sp>
      </p:grpSp>
      <p:sp>
        <p:nvSpPr>
          <p:cNvPr name="Freeform 29" id="29"/>
          <p:cNvSpPr/>
          <p:nvPr/>
        </p:nvSpPr>
        <p:spPr>
          <a:xfrm flipH="false" flipV="false" rot="0">
            <a:off x="402336" y="4832404"/>
            <a:ext cx="6309950" cy="3429725"/>
          </a:xfrm>
          <a:custGeom>
            <a:avLst/>
            <a:gdLst/>
            <a:ahLst/>
            <a:cxnLst/>
            <a:rect r="r" b="b" t="t" l="l"/>
            <a:pathLst>
              <a:path h="3429725" w="6309950">
                <a:moveTo>
                  <a:pt x="0" y="0"/>
                </a:moveTo>
                <a:lnTo>
                  <a:pt x="6309950" y="0"/>
                </a:lnTo>
                <a:lnTo>
                  <a:pt x="6309950" y="3429725"/>
                </a:lnTo>
                <a:lnTo>
                  <a:pt x="0" y="3429725"/>
                </a:lnTo>
                <a:lnTo>
                  <a:pt x="0" y="0"/>
                </a:lnTo>
                <a:close/>
              </a:path>
            </a:pathLst>
          </a:custGeom>
          <a:blipFill>
            <a:blip r:embed="rId4"/>
            <a:stretch>
              <a:fillRect l="0" t="-552" r="0" b="-552"/>
            </a:stretch>
          </a:blipFill>
        </p:spPr>
      </p:sp>
      <p:sp>
        <p:nvSpPr>
          <p:cNvPr name="TextBox 30" id="30"/>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LitMind in Action — Corpus Analysis &amp; Book Recommendations</a:t>
              </a:r>
            </a:p>
          </p:txBody>
        </p:sp>
      </p:grpSp>
      <p:grpSp>
        <p:nvGrpSpPr>
          <p:cNvPr name="Group 14" id="14"/>
          <p:cNvGrpSpPr/>
          <p:nvPr/>
        </p:nvGrpSpPr>
        <p:grpSpPr>
          <a:xfrm rot="0">
            <a:off x="402336" y="1737360"/>
            <a:ext cx="8321040" cy="640080"/>
            <a:chOff x="0" y="0"/>
            <a:chExt cx="11094720" cy="853440"/>
          </a:xfrm>
        </p:grpSpPr>
        <p:sp>
          <p:nvSpPr>
            <p:cNvPr name="Freeform 15" id="15"/>
            <p:cNvSpPr/>
            <p:nvPr/>
          </p:nvSpPr>
          <p:spPr>
            <a:xfrm flipH="false" flipV="false" rot="0">
              <a:off x="0" y="0"/>
              <a:ext cx="11094720" cy="853440"/>
            </a:xfrm>
            <a:custGeom>
              <a:avLst/>
              <a:gdLst/>
              <a:ahLst/>
              <a:cxnLst/>
              <a:rect r="r" b="b" t="t" l="l"/>
              <a:pathLst>
                <a:path h="853440" w="11094720">
                  <a:moveTo>
                    <a:pt x="0" y="0"/>
                  </a:moveTo>
                  <a:lnTo>
                    <a:pt x="11094720" y="0"/>
                  </a:lnTo>
                  <a:lnTo>
                    <a:pt x="11094720" y="853440"/>
                  </a:lnTo>
                  <a:lnTo>
                    <a:pt x="0" y="853440"/>
                  </a:lnTo>
                  <a:close/>
                </a:path>
              </a:pathLst>
            </a:custGeom>
            <a:solidFill>
              <a:srgbClr val="2B2B30"/>
            </a:solidFill>
          </p:spPr>
        </p:sp>
      </p:grpSp>
      <p:grpSp>
        <p:nvGrpSpPr>
          <p:cNvPr name="Group 16" id="16"/>
          <p:cNvGrpSpPr/>
          <p:nvPr/>
        </p:nvGrpSpPr>
        <p:grpSpPr>
          <a:xfrm rot="0">
            <a:off x="402336" y="1737360"/>
            <a:ext cx="8321040" cy="640080"/>
            <a:chOff x="0" y="0"/>
            <a:chExt cx="11094720" cy="853440"/>
          </a:xfrm>
        </p:grpSpPr>
        <p:sp>
          <p:nvSpPr>
            <p:cNvPr name="Freeform 17" id="17"/>
            <p:cNvSpPr/>
            <p:nvPr/>
          </p:nvSpPr>
          <p:spPr>
            <a:xfrm flipH="false" flipV="false" rot="0">
              <a:off x="0" y="0"/>
              <a:ext cx="11094720" cy="853440"/>
            </a:xfrm>
            <a:custGeom>
              <a:avLst/>
              <a:gdLst/>
              <a:ahLst/>
              <a:cxnLst/>
              <a:rect r="r" b="b" t="t" l="l"/>
              <a:pathLst>
                <a:path h="853440" w="11094720">
                  <a:moveTo>
                    <a:pt x="0" y="0"/>
                  </a:moveTo>
                  <a:lnTo>
                    <a:pt x="11094720" y="0"/>
                  </a:lnTo>
                  <a:lnTo>
                    <a:pt x="11094720" y="853440"/>
                  </a:lnTo>
                  <a:lnTo>
                    <a:pt x="0" y="853440"/>
                  </a:lnTo>
                  <a:close/>
                </a:path>
              </a:pathLst>
            </a:custGeom>
            <a:blipFill>
              <a:blip r:embed="rId2">
                <a:alphaModFix amt="0"/>
              </a:blip>
              <a:stretch>
                <a:fillRect l="0" t="-203305" r="0" b="-203305"/>
              </a:stretch>
            </a:blipFill>
          </p:spPr>
        </p:sp>
        <p:sp>
          <p:nvSpPr>
            <p:cNvPr name="TextBox 18" id="18"/>
            <p:cNvSpPr txBox="true"/>
            <p:nvPr/>
          </p:nvSpPr>
          <p:spPr>
            <a:xfrm>
              <a:off x="0" y="-9525"/>
              <a:ext cx="1109472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Corpus Validation</a:t>
              </a:r>
            </a:p>
          </p:txBody>
        </p:sp>
      </p:grpSp>
      <p:grpSp>
        <p:nvGrpSpPr>
          <p:cNvPr name="Group 19" id="19"/>
          <p:cNvGrpSpPr/>
          <p:nvPr/>
        </p:nvGrpSpPr>
        <p:grpSpPr>
          <a:xfrm rot="0">
            <a:off x="548640" y="2523744"/>
            <a:ext cx="7863840" cy="694944"/>
            <a:chOff x="0" y="0"/>
            <a:chExt cx="10485120" cy="926592"/>
          </a:xfrm>
        </p:grpSpPr>
        <p:sp>
          <p:nvSpPr>
            <p:cNvPr name="Freeform 20" id="20"/>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21" id="21"/>
            <p:cNvSpPr txBox="true"/>
            <p:nvPr/>
          </p:nvSpPr>
          <p:spPr>
            <a:xfrm>
              <a:off x="0" y="-47625"/>
              <a:ext cx="10485120"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Total word count &amp; unique vocabulary size</a:t>
              </a:r>
            </a:p>
          </p:txBody>
        </p:sp>
      </p:grpSp>
      <p:grpSp>
        <p:nvGrpSpPr>
          <p:cNvPr name="Group 22" id="22"/>
          <p:cNvGrpSpPr/>
          <p:nvPr/>
        </p:nvGrpSpPr>
        <p:grpSpPr>
          <a:xfrm rot="0">
            <a:off x="548640" y="3291840"/>
            <a:ext cx="7863840" cy="694944"/>
            <a:chOff x="0" y="0"/>
            <a:chExt cx="10485120" cy="926592"/>
          </a:xfrm>
        </p:grpSpPr>
        <p:sp>
          <p:nvSpPr>
            <p:cNvPr name="Freeform 23" id="23"/>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24" id="24"/>
            <p:cNvSpPr txBox="true"/>
            <p:nvPr/>
          </p:nvSpPr>
          <p:spPr>
            <a:xfrm>
              <a:off x="0" y="-47625"/>
              <a:ext cx="10485120"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Average sentence length (readability proxy)</a:t>
              </a:r>
            </a:p>
          </p:txBody>
        </p:sp>
      </p:grpSp>
      <p:grpSp>
        <p:nvGrpSpPr>
          <p:cNvPr name="Group 25" id="25"/>
          <p:cNvGrpSpPr/>
          <p:nvPr/>
        </p:nvGrpSpPr>
        <p:grpSpPr>
          <a:xfrm rot="0">
            <a:off x="548640" y="4059936"/>
            <a:ext cx="7863840" cy="694944"/>
            <a:chOff x="0" y="0"/>
            <a:chExt cx="10485120" cy="926592"/>
          </a:xfrm>
        </p:grpSpPr>
        <p:sp>
          <p:nvSpPr>
            <p:cNvPr name="Freeform 26" id="26"/>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27" id="27"/>
            <p:cNvSpPr txBox="true"/>
            <p:nvPr/>
          </p:nvSpPr>
          <p:spPr>
            <a:xfrm>
              <a:off x="0" y="-47625"/>
              <a:ext cx="10485120"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Vocabulary richness score (TTR)</a:t>
              </a:r>
            </a:p>
          </p:txBody>
        </p:sp>
      </p:grpSp>
      <p:grpSp>
        <p:nvGrpSpPr>
          <p:cNvPr name="Group 28" id="28"/>
          <p:cNvGrpSpPr/>
          <p:nvPr/>
        </p:nvGrpSpPr>
        <p:grpSpPr>
          <a:xfrm rot="0">
            <a:off x="548640" y="4828032"/>
            <a:ext cx="7863840" cy="694944"/>
            <a:chOff x="0" y="0"/>
            <a:chExt cx="10485120" cy="926592"/>
          </a:xfrm>
        </p:grpSpPr>
        <p:sp>
          <p:nvSpPr>
            <p:cNvPr name="Freeform 29" id="29"/>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30" id="30"/>
            <p:cNvSpPr txBox="true"/>
            <p:nvPr/>
          </p:nvSpPr>
          <p:spPr>
            <a:xfrm>
              <a:off x="0" y="-47625"/>
              <a:ext cx="10485120"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Most frequent non-stop words</a:t>
              </a:r>
            </a:p>
          </p:txBody>
        </p:sp>
      </p:grpSp>
      <p:grpSp>
        <p:nvGrpSpPr>
          <p:cNvPr name="Group 31" id="31"/>
          <p:cNvGrpSpPr/>
          <p:nvPr/>
        </p:nvGrpSpPr>
        <p:grpSpPr>
          <a:xfrm rot="0">
            <a:off x="548640" y="5596128"/>
            <a:ext cx="7863840" cy="694944"/>
            <a:chOff x="0" y="0"/>
            <a:chExt cx="10485120" cy="926592"/>
          </a:xfrm>
        </p:grpSpPr>
        <p:sp>
          <p:nvSpPr>
            <p:cNvPr name="Freeform 32" id="32"/>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33" id="33"/>
            <p:cNvSpPr txBox="true"/>
            <p:nvPr/>
          </p:nvSpPr>
          <p:spPr>
            <a:xfrm>
              <a:off x="0" y="-47625"/>
              <a:ext cx="10485120"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Named entity distribution (persons, places, orgs)</a:t>
              </a:r>
            </a:p>
          </p:txBody>
        </p:sp>
      </p:grpSp>
      <p:grpSp>
        <p:nvGrpSpPr>
          <p:cNvPr name="Group 34" id="34"/>
          <p:cNvGrpSpPr/>
          <p:nvPr/>
        </p:nvGrpSpPr>
        <p:grpSpPr>
          <a:xfrm rot="0">
            <a:off x="9144000" y="1737360"/>
            <a:ext cx="8631936" cy="640080"/>
            <a:chOff x="0" y="0"/>
            <a:chExt cx="11509248" cy="853440"/>
          </a:xfrm>
        </p:grpSpPr>
        <p:sp>
          <p:nvSpPr>
            <p:cNvPr name="Freeform 35" id="35"/>
            <p:cNvSpPr/>
            <p:nvPr/>
          </p:nvSpPr>
          <p:spPr>
            <a:xfrm flipH="false" flipV="false" rot="0">
              <a:off x="0" y="0"/>
              <a:ext cx="11509248" cy="853440"/>
            </a:xfrm>
            <a:custGeom>
              <a:avLst/>
              <a:gdLst/>
              <a:ahLst/>
              <a:cxnLst/>
              <a:rect r="r" b="b" t="t" l="l"/>
              <a:pathLst>
                <a:path h="853440" w="11509248">
                  <a:moveTo>
                    <a:pt x="0" y="0"/>
                  </a:moveTo>
                  <a:lnTo>
                    <a:pt x="11509248" y="0"/>
                  </a:lnTo>
                  <a:lnTo>
                    <a:pt x="11509248" y="853440"/>
                  </a:lnTo>
                  <a:lnTo>
                    <a:pt x="0" y="853440"/>
                  </a:lnTo>
                  <a:close/>
                </a:path>
              </a:pathLst>
            </a:custGeom>
            <a:solidFill>
              <a:srgbClr val="D63C3C"/>
            </a:solidFill>
          </p:spPr>
        </p:sp>
      </p:grpSp>
      <p:grpSp>
        <p:nvGrpSpPr>
          <p:cNvPr name="Group 36" id="36"/>
          <p:cNvGrpSpPr/>
          <p:nvPr/>
        </p:nvGrpSpPr>
        <p:grpSpPr>
          <a:xfrm rot="0">
            <a:off x="9144000" y="1737360"/>
            <a:ext cx="8631936" cy="640080"/>
            <a:chOff x="0" y="0"/>
            <a:chExt cx="11509248" cy="853440"/>
          </a:xfrm>
        </p:grpSpPr>
        <p:sp>
          <p:nvSpPr>
            <p:cNvPr name="Freeform 37" id="37"/>
            <p:cNvSpPr/>
            <p:nvPr/>
          </p:nvSpPr>
          <p:spPr>
            <a:xfrm flipH="false" flipV="false" rot="0">
              <a:off x="0" y="0"/>
              <a:ext cx="11509248" cy="853440"/>
            </a:xfrm>
            <a:custGeom>
              <a:avLst/>
              <a:gdLst/>
              <a:ahLst/>
              <a:cxnLst/>
              <a:rect r="r" b="b" t="t" l="l"/>
              <a:pathLst>
                <a:path h="853440" w="11509248">
                  <a:moveTo>
                    <a:pt x="0" y="0"/>
                  </a:moveTo>
                  <a:lnTo>
                    <a:pt x="11509248" y="0"/>
                  </a:lnTo>
                  <a:lnTo>
                    <a:pt x="11509248" y="853440"/>
                  </a:lnTo>
                  <a:lnTo>
                    <a:pt x="0" y="853440"/>
                  </a:lnTo>
                  <a:close/>
                </a:path>
              </a:pathLst>
            </a:custGeom>
            <a:blipFill>
              <a:blip r:embed="rId2">
                <a:alphaModFix amt="0"/>
              </a:blip>
              <a:stretch>
                <a:fillRect l="0" t="-212769" r="0" b="-212769"/>
              </a:stretch>
            </a:blipFill>
          </p:spPr>
        </p:sp>
        <p:sp>
          <p:nvSpPr>
            <p:cNvPr name="TextBox 38" id="38"/>
            <p:cNvSpPr txBox="true"/>
            <p:nvPr/>
          </p:nvSpPr>
          <p:spPr>
            <a:xfrm>
              <a:off x="0" y="-9525"/>
              <a:ext cx="11509248"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Taste Match (Recommendations)</a:t>
              </a:r>
            </a:p>
          </p:txBody>
        </p:sp>
      </p:grpSp>
      <p:grpSp>
        <p:nvGrpSpPr>
          <p:cNvPr name="Group 39" id="39"/>
          <p:cNvGrpSpPr/>
          <p:nvPr/>
        </p:nvGrpSpPr>
        <p:grpSpPr>
          <a:xfrm rot="0">
            <a:off x="9290304" y="2523744"/>
            <a:ext cx="8302752" cy="694944"/>
            <a:chOff x="0" y="0"/>
            <a:chExt cx="11070336" cy="926592"/>
          </a:xfrm>
        </p:grpSpPr>
        <p:sp>
          <p:nvSpPr>
            <p:cNvPr name="Freeform 40" id="40"/>
            <p:cNvSpPr/>
            <p:nvPr/>
          </p:nvSpPr>
          <p:spPr>
            <a:xfrm flipH="false" flipV="false" rot="0">
              <a:off x="0" y="0"/>
              <a:ext cx="11070336" cy="926592"/>
            </a:xfrm>
            <a:custGeom>
              <a:avLst/>
              <a:gdLst/>
              <a:ahLst/>
              <a:cxnLst/>
              <a:rect r="r" b="b" t="t" l="l"/>
              <a:pathLst>
                <a:path h="926592" w="11070336">
                  <a:moveTo>
                    <a:pt x="0" y="0"/>
                  </a:moveTo>
                  <a:lnTo>
                    <a:pt x="11070336" y="0"/>
                  </a:lnTo>
                  <a:lnTo>
                    <a:pt x="11070336" y="926592"/>
                  </a:lnTo>
                  <a:lnTo>
                    <a:pt x="0" y="926592"/>
                  </a:lnTo>
                  <a:close/>
                </a:path>
              </a:pathLst>
            </a:custGeom>
            <a:blipFill>
              <a:blip r:embed="rId2">
                <a:alphaModFix amt="0"/>
              </a:blip>
              <a:stretch>
                <a:fillRect l="0" t="-182794" r="0" b="-182794"/>
              </a:stretch>
            </a:blipFill>
          </p:spPr>
        </p:sp>
        <p:sp>
          <p:nvSpPr>
            <p:cNvPr name="TextBox 41" id="41"/>
            <p:cNvSpPr txBox="true"/>
            <p:nvPr/>
          </p:nvSpPr>
          <p:spPr>
            <a:xfrm>
              <a:off x="0" y="-47625"/>
              <a:ext cx="11070336"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User marks books they've read and enjoyed</a:t>
              </a:r>
            </a:p>
          </p:txBody>
        </p:sp>
      </p:grpSp>
      <p:grpSp>
        <p:nvGrpSpPr>
          <p:cNvPr name="Group 42" id="42"/>
          <p:cNvGrpSpPr/>
          <p:nvPr/>
        </p:nvGrpSpPr>
        <p:grpSpPr>
          <a:xfrm rot="0">
            <a:off x="9290304" y="3291840"/>
            <a:ext cx="8302752" cy="694944"/>
            <a:chOff x="0" y="0"/>
            <a:chExt cx="11070336" cy="926592"/>
          </a:xfrm>
        </p:grpSpPr>
        <p:sp>
          <p:nvSpPr>
            <p:cNvPr name="Freeform 43" id="43"/>
            <p:cNvSpPr/>
            <p:nvPr/>
          </p:nvSpPr>
          <p:spPr>
            <a:xfrm flipH="false" flipV="false" rot="0">
              <a:off x="0" y="0"/>
              <a:ext cx="11070336" cy="926592"/>
            </a:xfrm>
            <a:custGeom>
              <a:avLst/>
              <a:gdLst/>
              <a:ahLst/>
              <a:cxnLst/>
              <a:rect r="r" b="b" t="t" l="l"/>
              <a:pathLst>
                <a:path h="926592" w="11070336">
                  <a:moveTo>
                    <a:pt x="0" y="0"/>
                  </a:moveTo>
                  <a:lnTo>
                    <a:pt x="11070336" y="0"/>
                  </a:lnTo>
                  <a:lnTo>
                    <a:pt x="11070336" y="926592"/>
                  </a:lnTo>
                  <a:lnTo>
                    <a:pt x="0" y="926592"/>
                  </a:lnTo>
                  <a:close/>
                </a:path>
              </a:pathLst>
            </a:custGeom>
            <a:blipFill>
              <a:blip r:embed="rId2">
                <a:alphaModFix amt="0"/>
              </a:blip>
              <a:stretch>
                <a:fillRect l="0" t="-182794" r="0" b="-182794"/>
              </a:stretch>
            </a:blipFill>
          </p:spPr>
        </p:sp>
        <p:sp>
          <p:nvSpPr>
            <p:cNvPr name="TextBox 44" id="44"/>
            <p:cNvSpPr txBox="true"/>
            <p:nvPr/>
          </p:nvSpPr>
          <p:spPr>
            <a:xfrm>
              <a:off x="0" y="-47625"/>
              <a:ext cx="11070336"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System builds a preference vector from features</a:t>
              </a:r>
            </a:p>
          </p:txBody>
        </p:sp>
      </p:grpSp>
      <p:grpSp>
        <p:nvGrpSpPr>
          <p:cNvPr name="Group 45" id="45"/>
          <p:cNvGrpSpPr/>
          <p:nvPr/>
        </p:nvGrpSpPr>
        <p:grpSpPr>
          <a:xfrm rot="0">
            <a:off x="9290304" y="4059936"/>
            <a:ext cx="8302752" cy="694944"/>
            <a:chOff x="0" y="0"/>
            <a:chExt cx="11070336" cy="926592"/>
          </a:xfrm>
        </p:grpSpPr>
        <p:sp>
          <p:nvSpPr>
            <p:cNvPr name="Freeform 46" id="46"/>
            <p:cNvSpPr/>
            <p:nvPr/>
          </p:nvSpPr>
          <p:spPr>
            <a:xfrm flipH="false" flipV="false" rot="0">
              <a:off x="0" y="0"/>
              <a:ext cx="11070336" cy="926592"/>
            </a:xfrm>
            <a:custGeom>
              <a:avLst/>
              <a:gdLst/>
              <a:ahLst/>
              <a:cxnLst/>
              <a:rect r="r" b="b" t="t" l="l"/>
              <a:pathLst>
                <a:path h="926592" w="11070336">
                  <a:moveTo>
                    <a:pt x="0" y="0"/>
                  </a:moveTo>
                  <a:lnTo>
                    <a:pt x="11070336" y="0"/>
                  </a:lnTo>
                  <a:lnTo>
                    <a:pt x="11070336" y="926592"/>
                  </a:lnTo>
                  <a:lnTo>
                    <a:pt x="0" y="926592"/>
                  </a:lnTo>
                  <a:close/>
                </a:path>
              </a:pathLst>
            </a:custGeom>
            <a:blipFill>
              <a:blip r:embed="rId2">
                <a:alphaModFix amt="0"/>
              </a:blip>
              <a:stretch>
                <a:fillRect l="0" t="-182794" r="0" b="-182794"/>
              </a:stretch>
            </a:blipFill>
          </p:spPr>
        </p:sp>
        <p:sp>
          <p:nvSpPr>
            <p:cNvPr name="TextBox 47" id="47"/>
            <p:cNvSpPr txBox="true"/>
            <p:nvPr/>
          </p:nvSpPr>
          <p:spPr>
            <a:xfrm>
              <a:off x="0" y="-47625"/>
              <a:ext cx="11070336"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Cosine similarity finds closest unread matches</a:t>
              </a:r>
            </a:p>
          </p:txBody>
        </p:sp>
      </p:grpSp>
      <p:grpSp>
        <p:nvGrpSpPr>
          <p:cNvPr name="Group 48" id="48"/>
          <p:cNvGrpSpPr/>
          <p:nvPr/>
        </p:nvGrpSpPr>
        <p:grpSpPr>
          <a:xfrm rot="0">
            <a:off x="9290304" y="4828032"/>
            <a:ext cx="8302752" cy="694944"/>
            <a:chOff x="0" y="0"/>
            <a:chExt cx="11070336" cy="926592"/>
          </a:xfrm>
        </p:grpSpPr>
        <p:sp>
          <p:nvSpPr>
            <p:cNvPr name="Freeform 49" id="49"/>
            <p:cNvSpPr/>
            <p:nvPr/>
          </p:nvSpPr>
          <p:spPr>
            <a:xfrm flipH="false" flipV="false" rot="0">
              <a:off x="0" y="0"/>
              <a:ext cx="11070336" cy="926592"/>
            </a:xfrm>
            <a:custGeom>
              <a:avLst/>
              <a:gdLst/>
              <a:ahLst/>
              <a:cxnLst/>
              <a:rect r="r" b="b" t="t" l="l"/>
              <a:pathLst>
                <a:path h="926592" w="11070336">
                  <a:moveTo>
                    <a:pt x="0" y="0"/>
                  </a:moveTo>
                  <a:lnTo>
                    <a:pt x="11070336" y="0"/>
                  </a:lnTo>
                  <a:lnTo>
                    <a:pt x="11070336" y="926592"/>
                  </a:lnTo>
                  <a:lnTo>
                    <a:pt x="0" y="926592"/>
                  </a:lnTo>
                  <a:close/>
                </a:path>
              </a:pathLst>
            </a:custGeom>
            <a:blipFill>
              <a:blip r:embed="rId2">
                <a:alphaModFix amt="0"/>
              </a:blip>
              <a:stretch>
                <a:fillRect l="0" t="-182794" r="0" b="-182794"/>
              </a:stretch>
            </a:blipFill>
          </p:spPr>
        </p:sp>
        <p:sp>
          <p:nvSpPr>
            <p:cNvPr name="TextBox 50" id="50"/>
            <p:cNvSpPr txBox="true"/>
            <p:nvPr/>
          </p:nvSpPr>
          <p:spPr>
            <a:xfrm>
              <a:off x="0" y="-47625"/>
              <a:ext cx="11070336"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Results shown with match % and genre tags</a:t>
              </a:r>
            </a:p>
          </p:txBody>
        </p:sp>
      </p:grpSp>
      <p:grpSp>
        <p:nvGrpSpPr>
          <p:cNvPr name="Group 51" id="51"/>
          <p:cNvGrpSpPr/>
          <p:nvPr/>
        </p:nvGrpSpPr>
        <p:grpSpPr>
          <a:xfrm rot="0">
            <a:off x="9290304" y="5596128"/>
            <a:ext cx="8302752" cy="694944"/>
            <a:chOff x="0" y="0"/>
            <a:chExt cx="11070336" cy="926592"/>
          </a:xfrm>
        </p:grpSpPr>
        <p:sp>
          <p:nvSpPr>
            <p:cNvPr name="Freeform 52" id="52"/>
            <p:cNvSpPr/>
            <p:nvPr/>
          </p:nvSpPr>
          <p:spPr>
            <a:xfrm flipH="false" flipV="false" rot="0">
              <a:off x="0" y="0"/>
              <a:ext cx="11070336" cy="926592"/>
            </a:xfrm>
            <a:custGeom>
              <a:avLst/>
              <a:gdLst/>
              <a:ahLst/>
              <a:cxnLst/>
              <a:rect r="r" b="b" t="t" l="l"/>
              <a:pathLst>
                <a:path h="926592" w="11070336">
                  <a:moveTo>
                    <a:pt x="0" y="0"/>
                  </a:moveTo>
                  <a:lnTo>
                    <a:pt x="11070336" y="0"/>
                  </a:lnTo>
                  <a:lnTo>
                    <a:pt x="11070336" y="926592"/>
                  </a:lnTo>
                  <a:lnTo>
                    <a:pt x="0" y="926592"/>
                  </a:lnTo>
                  <a:close/>
                </a:path>
              </a:pathLst>
            </a:custGeom>
            <a:blipFill>
              <a:blip r:embed="rId2">
                <a:alphaModFix amt="0"/>
              </a:blip>
              <a:stretch>
                <a:fillRect l="0" t="-182794" r="0" b="-182794"/>
              </a:stretch>
            </a:blipFill>
          </p:spPr>
        </p:sp>
        <p:sp>
          <p:nvSpPr>
            <p:cNvPr name="TextBox 53" id="53"/>
            <p:cNvSpPr txBox="true"/>
            <p:nvPr/>
          </p:nvSpPr>
          <p:spPr>
            <a:xfrm>
              <a:off x="0" y="-47625"/>
              <a:ext cx="11070336" cy="974217"/>
            </a:xfrm>
            <a:prstGeom prst="rect">
              <a:avLst/>
            </a:prstGeom>
          </p:spPr>
          <p:txBody>
            <a:bodyPr anchor="ctr" rtlCol="false" tIns="0" lIns="0" bIns="0" rIns="0"/>
            <a:lstStyle/>
            <a:p>
              <a:pPr algn="l">
                <a:lnSpc>
                  <a:spcPts val="2639"/>
                </a:lnSpc>
              </a:pPr>
              <a:r>
                <a:rPr lang="en-US" sz="2199">
                  <a:solidFill>
                    <a:srgbClr val="D9D9D9"/>
                  </a:solidFill>
                  <a:latin typeface="Calibri (MS)"/>
                  <a:ea typeface="Calibri (MS)"/>
                  <a:cs typeface="Calibri (MS)"/>
                  <a:sym typeface="Calibri (MS)"/>
                </a:rPr>
                <a:t>›  Works on physical corpus you upload yourself</a:t>
              </a:r>
            </a:p>
          </p:txBody>
        </p:sp>
      </p:grpSp>
      <p:sp>
        <p:nvSpPr>
          <p:cNvPr name="Freeform 54" id="54"/>
          <p:cNvSpPr/>
          <p:nvPr/>
        </p:nvSpPr>
        <p:spPr>
          <a:xfrm flipH="false" flipV="false" rot="0">
            <a:off x="9290304" y="6472047"/>
            <a:ext cx="8664553" cy="2190580"/>
          </a:xfrm>
          <a:custGeom>
            <a:avLst/>
            <a:gdLst/>
            <a:ahLst/>
            <a:cxnLst/>
            <a:rect r="r" b="b" t="t" l="l"/>
            <a:pathLst>
              <a:path h="2190580" w="8664553">
                <a:moveTo>
                  <a:pt x="0" y="0"/>
                </a:moveTo>
                <a:lnTo>
                  <a:pt x="8664553" y="0"/>
                </a:lnTo>
                <a:lnTo>
                  <a:pt x="8664553" y="2190580"/>
                </a:lnTo>
                <a:lnTo>
                  <a:pt x="0" y="2190580"/>
                </a:lnTo>
                <a:lnTo>
                  <a:pt x="0" y="0"/>
                </a:lnTo>
                <a:close/>
              </a:path>
            </a:pathLst>
          </a:custGeom>
          <a:blipFill>
            <a:blip r:embed="rId3"/>
            <a:stretch>
              <a:fillRect l="-2859" t="0" r="-2524" b="0"/>
            </a:stretch>
          </a:blipFill>
        </p:spPr>
      </p:sp>
      <p:sp>
        <p:nvSpPr>
          <p:cNvPr name="Freeform 55" id="55"/>
          <p:cNvSpPr/>
          <p:nvPr/>
        </p:nvSpPr>
        <p:spPr>
          <a:xfrm flipH="false" flipV="false" rot="0">
            <a:off x="548640" y="6394390"/>
            <a:ext cx="8363213" cy="3377812"/>
          </a:xfrm>
          <a:custGeom>
            <a:avLst/>
            <a:gdLst/>
            <a:ahLst/>
            <a:cxnLst/>
            <a:rect r="r" b="b" t="t" l="l"/>
            <a:pathLst>
              <a:path h="3377812" w="8363213">
                <a:moveTo>
                  <a:pt x="0" y="0"/>
                </a:moveTo>
                <a:lnTo>
                  <a:pt x="8363213" y="0"/>
                </a:lnTo>
                <a:lnTo>
                  <a:pt x="8363213" y="3377812"/>
                </a:lnTo>
                <a:lnTo>
                  <a:pt x="0" y="3377812"/>
                </a:lnTo>
                <a:lnTo>
                  <a:pt x="0" y="0"/>
                </a:lnTo>
                <a:close/>
              </a:path>
            </a:pathLst>
          </a:custGeom>
          <a:blipFill>
            <a:blip r:embed="rId4"/>
            <a:stretch>
              <a:fillRect l="0" t="0" r="0" b="0"/>
            </a:stretch>
          </a:blipFill>
        </p:spPr>
      </p:sp>
      <p:sp>
        <p:nvSpPr>
          <p:cNvPr name="TextBox 56" id="56"/>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219456" cy="10287000"/>
            <a:chOff x="0" y="0"/>
            <a:chExt cx="292608" cy="13716000"/>
          </a:xfrm>
        </p:grpSpPr>
        <p:sp>
          <p:nvSpPr>
            <p:cNvPr name="Freeform 3" id="3"/>
            <p:cNvSpPr/>
            <p:nvPr/>
          </p:nvSpPr>
          <p:spPr>
            <a:xfrm flipH="false" flipV="false" rot="0">
              <a:off x="0" y="0"/>
              <a:ext cx="292608" cy="13716000"/>
            </a:xfrm>
            <a:custGeom>
              <a:avLst/>
              <a:gdLst/>
              <a:ahLst/>
              <a:cxnLst/>
              <a:rect r="r" b="b" t="t" l="l"/>
              <a:pathLst>
                <a:path h="13716000" w="292608">
                  <a:moveTo>
                    <a:pt x="0" y="0"/>
                  </a:moveTo>
                  <a:lnTo>
                    <a:pt x="292608" y="0"/>
                  </a:lnTo>
                  <a:lnTo>
                    <a:pt x="292608" y="13716000"/>
                  </a:lnTo>
                  <a:lnTo>
                    <a:pt x="0" y="13716000"/>
                  </a:lnTo>
                  <a:close/>
                </a:path>
              </a:pathLst>
            </a:custGeom>
            <a:solidFill>
              <a:srgbClr val="FF5757"/>
            </a:solidFill>
          </p:spPr>
        </p:sp>
      </p:grpSp>
      <p:grpSp>
        <p:nvGrpSpPr>
          <p:cNvPr name="Group 4" id="4"/>
          <p:cNvGrpSpPr/>
          <p:nvPr/>
        </p:nvGrpSpPr>
        <p:grpSpPr>
          <a:xfrm rot="0">
            <a:off x="219456" y="0"/>
            <a:ext cx="18068544" cy="1554480"/>
            <a:chOff x="0" y="0"/>
            <a:chExt cx="24091392" cy="2072640"/>
          </a:xfrm>
        </p:grpSpPr>
        <p:sp>
          <p:nvSpPr>
            <p:cNvPr name="Freeform 5" id="5"/>
            <p:cNvSpPr/>
            <p:nvPr/>
          </p:nvSpPr>
          <p:spPr>
            <a:xfrm flipH="false" flipV="false" rot="0">
              <a:off x="0" y="0"/>
              <a:ext cx="24091392" cy="2072640"/>
            </a:xfrm>
            <a:custGeom>
              <a:avLst/>
              <a:gdLst/>
              <a:ahLst/>
              <a:cxnLst/>
              <a:rect r="r" b="b" t="t" l="l"/>
              <a:pathLst>
                <a:path h="2072640" w="24091392">
                  <a:moveTo>
                    <a:pt x="0" y="0"/>
                  </a:moveTo>
                  <a:lnTo>
                    <a:pt x="24091392" y="0"/>
                  </a:lnTo>
                  <a:lnTo>
                    <a:pt x="24091392" y="2072640"/>
                  </a:lnTo>
                  <a:lnTo>
                    <a:pt x="0" y="2072640"/>
                  </a:lnTo>
                  <a:close/>
                </a:path>
              </a:pathLst>
            </a:custGeom>
            <a:solidFill>
              <a:srgbClr val="111113"/>
            </a:solidFill>
          </p:spPr>
        </p:sp>
      </p:grpSp>
      <p:grpSp>
        <p:nvGrpSpPr>
          <p:cNvPr name="Group 6" id="6"/>
          <p:cNvGrpSpPr/>
          <p:nvPr/>
        </p:nvGrpSpPr>
        <p:grpSpPr>
          <a:xfrm rot="0">
            <a:off x="219456" y="9875520"/>
            <a:ext cx="18068544" cy="411480"/>
            <a:chOff x="0" y="0"/>
            <a:chExt cx="24091392" cy="548640"/>
          </a:xfrm>
        </p:grpSpPr>
        <p:sp>
          <p:nvSpPr>
            <p:cNvPr name="Freeform 7" id="7"/>
            <p:cNvSpPr/>
            <p:nvPr/>
          </p:nvSpPr>
          <p:spPr>
            <a:xfrm flipH="false" flipV="false" rot="0">
              <a:off x="0" y="0"/>
              <a:ext cx="24091392" cy="548640"/>
            </a:xfrm>
            <a:custGeom>
              <a:avLst/>
              <a:gdLst/>
              <a:ahLst/>
              <a:cxnLst/>
              <a:rect r="r" b="b" t="t" l="l"/>
              <a:pathLst>
                <a:path h="548640" w="24091392">
                  <a:moveTo>
                    <a:pt x="0" y="0"/>
                  </a:moveTo>
                  <a:lnTo>
                    <a:pt x="24091392" y="0"/>
                  </a:lnTo>
                  <a:lnTo>
                    <a:pt x="24091392" y="548640"/>
                  </a:lnTo>
                  <a:lnTo>
                    <a:pt x="0" y="548640"/>
                  </a:lnTo>
                  <a:close/>
                </a:path>
              </a:pathLst>
            </a:custGeom>
            <a:solidFill>
              <a:srgbClr val="16161A"/>
            </a:solidFill>
          </p:spPr>
        </p:sp>
      </p:grpSp>
      <p:grpSp>
        <p:nvGrpSpPr>
          <p:cNvPr name="Group 8" id="8"/>
          <p:cNvGrpSpPr/>
          <p:nvPr/>
        </p:nvGrpSpPr>
        <p:grpSpPr>
          <a:xfrm rot="0">
            <a:off x="402336" y="9930384"/>
            <a:ext cx="10972800" cy="329184"/>
            <a:chOff x="0" y="0"/>
            <a:chExt cx="14630400" cy="438912"/>
          </a:xfrm>
        </p:grpSpPr>
        <p:sp>
          <p:nvSpPr>
            <p:cNvPr name="Freeform 9" id="9"/>
            <p:cNvSpPr/>
            <p:nvPr/>
          </p:nvSpPr>
          <p:spPr>
            <a:xfrm flipH="false" flipV="false" rot="0">
              <a:off x="0" y="0"/>
              <a:ext cx="14630400" cy="438912"/>
            </a:xfrm>
            <a:custGeom>
              <a:avLst/>
              <a:gdLst/>
              <a:ahLst/>
              <a:cxnLst/>
              <a:rect r="r" b="b" t="t" l="l"/>
              <a:pathLst>
                <a:path h="438912" w="14630400">
                  <a:moveTo>
                    <a:pt x="0" y="0"/>
                  </a:moveTo>
                  <a:lnTo>
                    <a:pt x="14630400" y="0"/>
                  </a:lnTo>
                  <a:lnTo>
                    <a:pt x="14630400" y="438912"/>
                  </a:lnTo>
                  <a:lnTo>
                    <a:pt x="0" y="438912"/>
                  </a:lnTo>
                  <a:close/>
                </a:path>
              </a:pathLst>
            </a:custGeom>
            <a:blipFill>
              <a:blip r:embed="rId2">
                <a:alphaModFix amt="0"/>
              </a:blip>
              <a:stretch>
                <a:fillRect l="0" t="-599501" r="0" b="-599501"/>
              </a:stretch>
            </a:blipFill>
          </p:spPr>
        </p:sp>
        <p:sp>
          <p:nvSpPr>
            <p:cNvPr name="TextBox 10" id="10"/>
            <p:cNvSpPr txBox="true"/>
            <p:nvPr/>
          </p:nvSpPr>
          <p:spPr>
            <a:xfrm>
              <a:off x="0" y="-28575"/>
              <a:ext cx="14630400" cy="467487"/>
            </a:xfrm>
            <a:prstGeom prst="rect">
              <a:avLst/>
            </a:prstGeom>
          </p:spPr>
          <p:txBody>
            <a:bodyPr anchor="ctr" rtlCol="false" tIns="0" lIns="0" bIns="0" rIns="0"/>
            <a:lstStyle/>
            <a:p>
              <a:pPr algn="l">
                <a:lnSpc>
                  <a:spcPts val="1919"/>
                </a:lnSpc>
              </a:pPr>
              <a:r>
                <a:rPr lang="en-US" sz="1599">
                  <a:solidFill>
                    <a:srgbClr val="A0A0A0"/>
                  </a:solidFill>
                  <a:latin typeface="Calibri (MS)"/>
                  <a:ea typeface="Calibri (MS)"/>
                  <a:cs typeface="Calibri (MS)"/>
                  <a:sym typeface="Calibri (MS)"/>
                </a:rPr>
                <a:t>LitMind — Literary Intelligence System</a:t>
              </a:r>
            </a:p>
          </p:txBody>
        </p:sp>
      </p:grpSp>
      <p:grpSp>
        <p:nvGrpSpPr>
          <p:cNvPr name="Group 11" id="11"/>
          <p:cNvGrpSpPr/>
          <p:nvPr/>
        </p:nvGrpSpPr>
        <p:grpSpPr>
          <a:xfrm rot="0">
            <a:off x="402336" y="182880"/>
            <a:ext cx="17373600" cy="1188720"/>
            <a:chOff x="0" y="0"/>
            <a:chExt cx="23164800" cy="1584960"/>
          </a:xfrm>
        </p:grpSpPr>
        <p:sp>
          <p:nvSpPr>
            <p:cNvPr name="Freeform 12" id="12"/>
            <p:cNvSpPr/>
            <p:nvPr/>
          </p:nvSpPr>
          <p:spPr>
            <a:xfrm flipH="false" flipV="false" rot="0">
              <a:off x="0" y="0"/>
              <a:ext cx="23164800" cy="1584960"/>
            </a:xfrm>
            <a:custGeom>
              <a:avLst/>
              <a:gdLst/>
              <a:ahLst/>
              <a:cxnLst/>
              <a:rect r="r" b="b" t="t" l="l"/>
              <a:pathLst>
                <a:path h="1584960" w="23164800">
                  <a:moveTo>
                    <a:pt x="0" y="0"/>
                  </a:moveTo>
                  <a:lnTo>
                    <a:pt x="23164800" y="0"/>
                  </a:lnTo>
                  <a:lnTo>
                    <a:pt x="23164800" y="1584960"/>
                  </a:lnTo>
                  <a:lnTo>
                    <a:pt x="0" y="1584960"/>
                  </a:lnTo>
                  <a:close/>
                </a:path>
              </a:pathLst>
            </a:custGeom>
            <a:blipFill>
              <a:blip r:embed="rId2">
                <a:alphaModFix amt="0"/>
              </a:blip>
              <a:stretch>
                <a:fillRect l="0" t="-234781" r="0" b="-234781"/>
              </a:stretch>
            </a:blipFill>
          </p:spPr>
        </p:sp>
        <p:sp>
          <p:nvSpPr>
            <p:cNvPr name="TextBox 13" id="13"/>
            <p:cNvSpPr txBox="true"/>
            <p:nvPr/>
          </p:nvSpPr>
          <p:spPr>
            <a:xfrm>
              <a:off x="0" y="-19050"/>
              <a:ext cx="23164800" cy="1604010"/>
            </a:xfrm>
            <a:prstGeom prst="rect">
              <a:avLst/>
            </a:prstGeom>
          </p:spPr>
          <p:txBody>
            <a:bodyPr anchor="ctr" rtlCol="false" tIns="0" lIns="0" bIns="0" rIns="0"/>
            <a:lstStyle/>
            <a:p>
              <a:pPr algn="ctr">
                <a:lnSpc>
                  <a:spcPts val="5280"/>
                </a:lnSpc>
              </a:pPr>
              <a:r>
                <a:rPr lang="en-US" sz="4400" b="true">
                  <a:solidFill>
                    <a:srgbClr val="FFFFFF"/>
                  </a:solidFill>
                  <a:latin typeface="Arial Bold"/>
                  <a:ea typeface="Arial Bold"/>
                  <a:cs typeface="Arial Bold"/>
                  <a:sym typeface="Arial Bold"/>
                </a:rPr>
                <a:t>Limitations &amp; Future Scope</a:t>
              </a:r>
            </a:p>
          </p:txBody>
        </p:sp>
      </p:grpSp>
      <p:grpSp>
        <p:nvGrpSpPr>
          <p:cNvPr name="Group 14" id="14"/>
          <p:cNvGrpSpPr/>
          <p:nvPr/>
        </p:nvGrpSpPr>
        <p:grpSpPr>
          <a:xfrm rot="0">
            <a:off x="402336" y="1737360"/>
            <a:ext cx="8229600" cy="640080"/>
            <a:chOff x="0" y="0"/>
            <a:chExt cx="10972800" cy="853440"/>
          </a:xfrm>
        </p:grpSpPr>
        <p:sp>
          <p:nvSpPr>
            <p:cNvPr name="Freeform 15" id="15"/>
            <p:cNvSpPr/>
            <p:nvPr/>
          </p:nvSpPr>
          <p:spPr>
            <a:xfrm flipH="false" flipV="false" rot="0">
              <a:off x="0" y="0"/>
              <a:ext cx="10972800" cy="853440"/>
            </a:xfrm>
            <a:custGeom>
              <a:avLst/>
              <a:gdLst/>
              <a:ahLst/>
              <a:cxnLst/>
              <a:rect r="r" b="b" t="t" l="l"/>
              <a:pathLst>
                <a:path h="853440" w="10972800">
                  <a:moveTo>
                    <a:pt x="0" y="0"/>
                  </a:moveTo>
                  <a:lnTo>
                    <a:pt x="10972800" y="0"/>
                  </a:lnTo>
                  <a:lnTo>
                    <a:pt x="10972800" y="853440"/>
                  </a:lnTo>
                  <a:lnTo>
                    <a:pt x="0" y="853440"/>
                  </a:lnTo>
                  <a:close/>
                </a:path>
              </a:pathLst>
            </a:custGeom>
            <a:solidFill>
              <a:srgbClr val="D63C3C"/>
            </a:solidFill>
          </p:spPr>
        </p:sp>
      </p:grpSp>
      <p:grpSp>
        <p:nvGrpSpPr>
          <p:cNvPr name="Group 16" id="16"/>
          <p:cNvGrpSpPr/>
          <p:nvPr/>
        </p:nvGrpSpPr>
        <p:grpSpPr>
          <a:xfrm rot="0">
            <a:off x="402336" y="1737360"/>
            <a:ext cx="8229600" cy="640080"/>
            <a:chOff x="0" y="0"/>
            <a:chExt cx="10972800" cy="853440"/>
          </a:xfrm>
        </p:grpSpPr>
        <p:sp>
          <p:nvSpPr>
            <p:cNvPr name="Freeform 17" id="17"/>
            <p:cNvSpPr/>
            <p:nvPr/>
          </p:nvSpPr>
          <p:spPr>
            <a:xfrm flipH="false" flipV="false" rot="0">
              <a:off x="0" y="0"/>
              <a:ext cx="10972800" cy="853440"/>
            </a:xfrm>
            <a:custGeom>
              <a:avLst/>
              <a:gdLst/>
              <a:ahLst/>
              <a:cxnLst/>
              <a:rect r="r" b="b" t="t" l="l"/>
              <a:pathLst>
                <a:path h="853440" w="10972800">
                  <a:moveTo>
                    <a:pt x="0" y="0"/>
                  </a:moveTo>
                  <a:lnTo>
                    <a:pt x="10972800" y="0"/>
                  </a:lnTo>
                  <a:lnTo>
                    <a:pt x="10972800" y="853440"/>
                  </a:lnTo>
                  <a:lnTo>
                    <a:pt x="0" y="853440"/>
                  </a:lnTo>
                  <a:close/>
                </a:path>
              </a:pathLst>
            </a:custGeom>
            <a:blipFill>
              <a:blip r:embed="rId2">
                <a:alphaModFix amt="0"/>
              </a:blip>
              <a:stretch>
                <a:fillRect l="0" t="-200521" r="0" b="-200521"/>
              </a:stretch>
            </a:blipFill>
          </p:spPr>
        </p:sp>
        <p:sp>
          <p:nvSpPr>
            <p:cNvPr name="TextBox 18" id="18"/>
            <p:cNvSpPr txBox="true"/>
            <p:nvPr/>
          </p:nvSpPr>
          <p:spPr>
            <a:xfrm>
              <a:off x="0" y="-9525"/>
              <a:ext cx="10972800"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Current Limitations</a:t>
              </a:r>
            </a:p>
          </p:txBody>
        </p:sp>
      </p:grpSp>
      <p:grpSp>
        <p:nvGrpSpPr>
          <p:cNvPr name="Group 19" id="19"/>
          <p:cNvGrpSpPr/>
          <p:nvPr/>
        </p:nvGrpSpPr>
        <p:grpSpPr>
          <a:xfrm rot="0">
            <a:off x="395983" y="2517391"/>
            <a:ext cx="8242297" cy="1402585"/>
            <a:chOff x="0" y="0"/>
            <a:chExt cx="10989729" cy="1870113"/>
          </a:xfrm>
        </p:grpSpPr>
        <p:sp>
          <p:nvSpPr>
            <p:cNvPr name="Freeform 20" id="20"/>
            <p:cNvSpPr/>
            <p:nvPr/>
          </p:nvSpPr>
          <p:spPr>
            <a:xfrm flipH="false" flipV="false" rot="0">
              <a:off x="0" y="0"/>
              <a:ext cx="10989691" cy="1870075"/>
            </a:xfrm>
            <a:custGeom>
              <a:avLst/>
              <a:gdLst/>
              <a:ahLst/>
              <a:cxnLst/>
              <a:rect r="r" b="b" t="t" l="l"/>
              <a:pathLst>
                <a:path h="1870075" w="10989691">
                  <a:moveTo>
                    <a:pt x="0" y="0"/>
                  </a:moveTo>
                  <a:lnTo>
                    <a:pt x="10989691" y="0"/>
                  </a:lnTo>
                  <a:lnTo>
                    <a:pt x="10989691" y="1870075"/>
                  </a:lnTo>
                  <a:lnTo>
                    <a:pt x="0" y="1870075"/>
                  </a:lnTo>
                  <a:close/>
                </a:path>
              </a:pathLst>
            </a:custGeom>
            <a:solidFill>
              <a:srgbClr val="241414"/>
            </a:solidFill>
            <a:ln w="12700" cap="sq">
              <a:solidFill>
                <a:srgbClr val="5A2A2A"/>
              </a:solidFill>
              <a:prstDash val="solid"/>
              <a:miter/>
            </a:ln>
          </p:spPr>
        </p:sp>
      </p:grpSp>
      <p:grpSp>
        <p:nvGrpSpPr>
          <p:cNvPr name="Group 21" id="21"/>
          <p:cNvGrpSpPr/>
          <p:nvPr/>
        </p:nvGrpSpPr>
        <p:grpSpPr>
          <a:xfrm rot="0">
            <a:off x="402336" y="2523744"/>
            <a:ext cx="109728" cy="1389888"/>
            <a:chOff x="0" y="0"/>
            <a:chExt cx="146304" cy="1853184"/>
          </a:xfrm>
        </p:grpSpPr>
        <p:sp>
          <p:nvSpPr>
            <p:cNvPr name="Freeform 22" id="22"/>
            <p:cNvSpPr/>
            <p:nvPr/>
          </p:nvSpPr>
          <p:spPr>
            <a:xfrm flipH="false" flipV="false" rot="0">
              <a:off x="0" y="0"/>
              <a:ext cx="146304" cy="1853184"/>
            </a:xfrm>
            <a:custGeom>
              <a:avLst/>
              <a:gdLst/>
              <a:ahLst/>
              <a:cxnLst/>
              <a:rect r="r" b="b" t="t" l="l"/>
              <a:pathLst>
                <a:path h="1853184" w="146304">
                  <a:moveTo>
                    <a:pt x="0" y="0"/>
                  </a:moveTo>
                  <a:lnTo>
                    <a:pt x="146304" y="0"/>
                  </a:lnTo>
                  <a:lnTo>
                    <a:pt x="146304" y="1853184"/>
                  </a:lnTo>
                  <a:lnTo>
                    <a:pt x="0" y="1853184"/>
                  </a:lnTo>
                  <a:close/>
                </a:path>
              </a:pathLst>
            </a:custGeom>
            <a:solidFill>
              <a:srgbClr val="D63C3C"/>
            </a:solidFill>
          </p:spPr>
        </p:sp>
      </p:grpSp>
      <p:grpSp>
        <p:nvGrpSpPr>
          <p:cNvPr name="Group 23" id="23"/>
          <p:cNvGrpSpPr/>
          <p:nvPr/>
        </p:nvGrpSpPr>
        <p:grpSpPr>
          <a:xfrm rot="0">
            <a:off x="621792" y="2596896"/>
            <a:ext cx="7827264" cy="512064"/>
            <a:chOff x="0" y="0"/>
            <a:chExt cx="10436352" cy="682752"/>
          </a:xfrm>
        </p:grpSpPr>
        <p:sp>
          <p:nvSpPr>
            <p:cNvPr name="Freeform 24" id="24"/>
            <p:cNvSpPr/>
            <p:nvPr/>
          </p:nvSpPr>
          <p:spPr>
            <a:xfrm flipH="false" flipV="false" rot="0">
              <a:off x="0" y="0"/>
              <a:ext cx="10436352" cy="682752"/>
            </a:xfrm>
            <a:custGeom>
              <a:avLst/>
              <a:gdLst/>
              <a:ahLst/>
              <a:cxnLst/>
              <a:rect r="r" b="b" t="t" l="l"/>
              <a:pathLst>
                <a:path h="682752" w="10436352">
                  <a:moveTo>
                    <a:pt x="0" y="0"/>
                  </a:moveTo>
                  <a:lnTo>
                    <a:pt x="10436352" y="0"/>
                  </a:lnTo>
                  <a:lnTo>
                    <a:pt x="10436352" y="682752"/>
                  </a:lnTo>
                  <a:lnTo>
                    <a:pt x="0" y="682752"/>
                  </a:lnTo>
                  <a:close/>
                </a:path>
              </a:pathLst>
            </a:custGeom>
            <a:blipFill>
              <a:blip r:embed="rId2">
                <a:alphaModFix amt="0"/>
              </a:blip>
              <a:stretch>
                <a:fillRect l="0" t="-247842" r="0" b="-247842"/>
              </a:stretch>
            </a:blipFill>
          </p:spPr>
        </p:sp>
        <p:sp>
          <p:nvSpPr>
            <p:cNvPr name="TextBox 25" id="25"/>
            <p:cNvSpPr txBox="true"/>
            <p:nvPr/>
          </p:nvSpPr>
          <p:spPr>
            <a:xfrm>
              <a:off x="0" y="-19050"/>
              <a:ext cx="10436352"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English-only support</a:t>
              </a:r>
            </a:p>
          </p:txBody>
        </p:sp>
      </p:grpSp>
      <p:grpSp>
        <p:nvGrpSpPr>
          <p:cNvPr name="Group 26" id="26"/>
          <p:cNvGrpSpPr/>
          <p:nvPr/>
        </p:nvGrpSpPr>
        <p:grpSpPr>
          <a:xfrm rot="0">
            <a:off x="621792" y="3072384"/>
            <a:ext cx="7827264" cy="768096"/>
            <a:chOff x="0" y="0"/>
            <a:chExt cx="10436352" cy="1024128"/>
          </a:xfrm>
        </p:grpSpPr>
        <p:sp>
          <p:nvSpPr>
            <p:cNvPr name="Freeform 27" id="27"/>
            <p:cNvSpPr/>
            <p:nvPr/>
          </p:nvSpPr>
          <p:spPr>
            <a:xfrm flipH="false" flipV="false" rot="0">
              <a:off x="0" y="0"/>
              <a:ext cx="10436352" cy="1024128"/>
            </a:xfrm>
            <a:custGeom>
              <a:avLst/>
              <a:gdLst/>
              <a:ahLst/>
              <a:cxnLst/>
              <a:rect r="r" b="b" t="t" l="l"/>
              <a:pathLst>
                <a:path h="1024128" w="10436352">
                  <a:moveTo>
                    <a:pt x="0" y="0"/>
                  </a:moveTo>
                  <a:lnTo>
                    <a:pt x="10436352" y="0"/>
                  </a:lnTo>
                  <a:lnTo>
                    <a:pt x="10436352" y="1024128"/>
                  </a:lnTo>
                  <a:lnTo>
                    <a:pt x="0" y="1024128"/>
                  </a:lnTo>
                  <a:close/>
                </a:path>
              </a:pathLst>
            </a:custGeom>
            <a:blipFill>
              <a:blip r:embed="rId2">
                <a:alphaModFix amt="0"/>
              </a:blip>
              <a:stretch>
                <a:fillRect l="0" t="-148561" r="0" b="-148561"/>
              </a:stretch>
            </a:blipFill>
          </p:spPr>
        </p:sp>
        <p:sp>
          <p:nvSpPr>
            <p:cNvPr name="TextBox 28" id="28"/>
            <p:cNvSpPr txBox="true"/>
            <p:nvPr/>
          </p:nvSpPr>
          <p:spPr>
            <a:xfrm>
              <a:off x="0" y="-38100"/>
              <a:ext cx="10436352" cy="1062228"/>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The NER models and Gemini prompts are currently tuned for English text only. Multi-language support would need significant retraining.</a:t>
              </a:r>
            </a:p>
          </p:txBody>
        </p:sp>
      </p:grpSp>
      <p:grpSp>
        <p:nvGrpSpPr>
          <p:cNvPr name="Group 29" id="29"/>
          <p:cNvGrpSpPr/>
          <p:nvPr/>
        </p:nvGrpSpPr>
        <p:grpSpPr>
          <a:xfrm rot="0">
            <a:off x="395983" y="4053583"/>
            <a:ext cx="8242297" cy="1402585"/>
            <a:chOff x="0" y="0"/>
            <a:chExt cx="10989729" cy="1870113"/>
          </a:xfrm>
        </p:grpSpPr>
        <p:sp>
          <p:nvSpPr>
            <p:cNvPr name="Freeform 30" id="30"/>
            <p:cNvSpPr/>
            <p:nvPr/>
          </p:nvSpPr>
          <p:spPr>
            <a:xfrm flipH="false" flipV="false" rot="0">
              <a:off x="0" y="0"/>
              <a:ext cx="10989691" cy="1870075"/>
            </a:xfrm>
            <a:custGeom>
              <a:avLst/>
              <a:gdLst/>
              <a:ahLst/>
              <a:cxnLst/>
              <a:rect r="r" b="b" t="t" l="l"/>
              <a:pathLst>
                <a:path h="1870075" w="10989691">
                  <a:moveTo>
                    <a:pt x="0" y="0"/>
                  </a:moveTo>
                  <a:lnTo>
                    <a:pt x="10989691" y="0"/>
                  </a:lnTo>
                  <a:lnTo>
                    <a:pt x="10989691" y="1870075"/>
                  </a:lnTo>
                  <a:lnTo>
                    <a:pt x="0" y="1870075"/>
                  </a:lnTo>
                  <a:close/>
                </a:path>
              </a:pathLst>
            </a:custGeom>
            <a:solidFill>
              <a:srgbClr val="241414"/>
            </a:solidFill>
            <a:ln w="12700" cap="sq">
              <a:solidFill>
                <a:srgbClr val="5A2A2A"/>
              </a:solidFill>
              <a:prstDash val="solid"/>
              <a:miter/>
            </a:ln>
          </p:spPr>
        </p:sp>
      </p:grpSp>
      <p:grpSp>
        <p:nvGrpSpPr>
          <p:cNvPr name="Group 31" id="31"/>
          <p:cNvGrpSpPr/>
          <p:nvPr/>
        </p:nvGrpSpPr>
        <p:grpSpPr>
          <a:xfrm rot="0">
            <a:off x="402336" y="4059936"/>
            <a:ext cx="109728" cy="1389888"/>
            <a:chOff x="0" y="0"/>
            <a:chExt cx="146304" cy="1853184"/>
          </a:xfrm>
        </p:grpSpPr>
        <p:sp>
          <p:nvSpPr>
            <p:cNvPr name="Freeform 32" id="32"/>
            <p:cNvSpPr/>
            <p:nvPr/>
          </p:nvSpPr>
          <p:spPr>
            <a:xfrm flipH="false" flipV="false" rot="0">
              <a:off x="0" y="0"/>
              <a:ext cx="146304" cy="1853184"/>
            </a:xfrm>
            <a:custGeom>
              <a:avLst/>
              <a:gdLst/>
              <a:ahLst/>
              <a:cxnLst/>
              <a:rect r="r" b="b" t="t" l="l"/>
              <a:pathLst>
                <a:path h="1853184" w="146304">
                  <a:moveTo>
                    <a:pt x="0" y="0"/>
                  </a:moveTo>
                  <a:lnTo>
                    <a:pt x="146304" y="0"/>
                  </a:lnTo>
                  <a:lnTo>
                    <a:pt x="146304" y="1853184"/>
                  </a:lnTo>
                  <a:lnTo>
                    <a:pt x="0" y="1853184"/>
                  </a:lnTo>
                  <a:close/>
                </a:path>
              </a:pathLst>
            </a:custGeom>
            <a:solidFill>
              <a:srgbClr val="D63C3C"/>
            </a:solidFill>
          </p:spPr>
        </p:sp>
      </p:grpSp>
      <p:grpSp>
        <p:nvGrpSpPr>
          <p:cNvPr name="Group 33" id="33"/>
          <p:cNvGrpSpPr/>
          <p:nvPr/>
        </p:nvGrpSpPr>
        <p:grpSpPr>
          <a:xfrm rot="0">
            <a:off x="621792" y="4133088"/>
            <a:ext cx="7827264" cy="512064"/>
            <a:chOff x="0" y="0"/>
            <a:chExt cx="10436352" cy="682752"/>
          </a:xfrm>
        </p:grpSpPr>
        <p:sp>
          <p:nvSpPr>
            <p:cNvPr name="Freeform 34" id="34"/>
            <p:cNvSpPr/>
            <p:nvPr/>
          </p:nvSpPr>
          <p:spPr>
            <a:xfrm flipH="false" flipV="false" rot="0">
              <a:off x="0" y="0"/>
              <a:ext cx="10436352" cy="682752"/>
            </a:xfrm>
            <a:custGeom>
              <a:avLst/>
              <a:gdLst/>
              <a:ahLst/>
              <a:cxnLst/>
              <a:rect r="r" b="b" t="t" l="l"/>
              <a:pathLst>
                <a:path h="682752" w="10436352">
                  <a:moveTo>
                    <a:pt x="0" y="0"/>
                  </a:moveTo>
                  <a:lnTo>
                    <a:pt x="10436352" y="0"/>
                  </a:lnTo>
                  <a:lnTo>
                    <a:pt x="10436352" y="682752"/>
                  </a:lnTo>
                  <a:lnTo>
                    <a:pt x="0" y="682752"/>
                  </a:lnTo>
                  <a:close/>
                </a:path>
              </a:pathLst>
            </a:custGeom>
            <a:blipFill>
              <a:blip r:embed="rId2">
                <a:alphaModFix amt="0"/>
              </a:blip>
              <a:stretch>
                <a:fillRect l="0" t="-247842" r="0" b="-247842"/>
              </a:stretch>
            </a:blipFill>
          </p:spPr>
        </p:sp>
        <p:sp>
          <p:nvSpPr>
            <p:cNvPr name="TextBox 35" id="35"/>
            <p:cNvSpPr txBox="true"/>
            <p:nvPr/>
          </p:nvSpPr>
          <p:spPr>
            <a:xfrm>
              <a:off x="0" y="-19050"/>
              <a:ext cx="10436352"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No physical corpus available</a:t>
              </a:r>
            </a:p>
          </p:txBody>
        </p:sp>
      </p:grpSp>
      <p:grpSp>
        <p:nvGrpSpPr>
          <p:cNvPr name="Group 36" id="36"/>
          <p:cNvGrpSpPr/>
          <p:nvPr/>
        </p:nvGrpSpPr>
        <p:grpSpPr>
          <a:xfrm rot="0">
            <a:off x="621792" y="4608576"/>
            <a:ext cx="7827264" cy="768096"/>
            <a:chOff x="0" y="0"/>
            <a:chExt cx="10436352" cy="1024128"/>
          </a:xfrm>
        </p:grpSpPr>
        <p:sp>
          <p:nvSpPr>
            <p:cNvPr name="Freeform 37" id="37"/>
            <p:cNvSpPr/>
            <p:nvPr/>
          </p:nvSpPr>
          <p:spPr>
            <a:xfrm flipH="false" flipV="false" rot="0">
              <a:off x="0" y="0"/>
              <a:ext cx="10436352" cy="1024128"/>
            </a:xfrm>
            <a:custGeom>
              <a:avLst/>
              <a:gdLst/>
              <a:ahLst/>
              <a:cxnLst/>
              <a:rect r="r" b="b" t="t" l="l"/>
              <a:pathLst>
                <a:path h="1024128" w="10436352">
                  <a:moveTo>
                    <a:pt x="0" y="0"/>
                  </a:moveTo>
                  <a:lnTo>
                    <a:pt x="10436352" y="0"/>
                  </a:lnTo>
                  <a:lnTo>
                    <a:pt x="10436352" y="1024128"/>
                  </a:lnTo>
                  <a:lnTo>
                    <a:pt x="0" y="1024128"/>
                  </a:lnTo>
                  <a:close/>
                </a:path>
              </a:pathLst>
            </a:custGeom>
            <a:blipFill>
              <a:blip r:embed="rId2">
                <a:alphaModFix amt="0"/>
              </a:blip>
              <a:stretch>
                <a:fillRect l="0" t="-148561" r="0" b="-148561"/>
              </a:stretch>
            </a:blipFill>
          </p:spPr>
        </p:sp>
        <p:sp>
          <p:nvSpPr>
            <p:cNvPr name="TextBox 38" id="38"/>
            <p:cNvSpPr txBox="true"/>
            <p:nvPr/>
          </p:nvSpPr>
          <p:spPr>
            <a:xfrm>
              <a:off x="0" y="-38100"/>
              <a:ext cx="10436352" cy="1062228"/>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We worked with digital PDFs for testing. A proper physical corpus (printed books) wasn't available during development — this would improve training data quality.</a:t>
              </a:r>
            </a:p>
          </p:txBody>
        </p:sp>
      </p:grpSp>
      <p:grpSp>
        <p:nvGrpSpPr>
          <p:cNvPr name="Group 39" id="39"/>
          <p:cNvGrpSpPr/>
          <p:nvPr/>
        </p:nvGrpSpPr>
        <p:grpSpPr>
          <a:xfrm rot="0">
            <a:off x="395983" y="5589775"/>
            <a:ext cx="8242297" cy="1402585"/>
            <a:chOff x="0" y="0"/>
            <a:chExt cx="10989729" cy="1870113"/>
          </a:xfrm>
        </p:grpSpPr>
        <p:sp>
          <p:nvSpPr>
            <p:cNvPr name="Freeform 40" id="40"/>
            <p:cNvSpPr/>
            <p:nvPr/>
          </p:nvSpPr>
          <p:spPr>
            <a:xfrm flipH="false" flipV="false" rot="0">
              <a:off x="0" y="0"/>
              <a:ext cx="10989691" cy="1870075"/>
            </a:xfrm>
            <a:custGeom>
              <a:avLst/>
              <a:gdLst/>
              <a:ahLst/>
              <a:cxnLst/>
              <a:rect r="r" b="b" t="t" l="l"/>
              <a:pathLst>
                <a:path h="1870075" w="10989691">
                  <a:moveTo>
                    <a:pt x="0" y="0"/>
                  </a:moveTo>
                  <a:lnTo>
                    <a:pt x="10989691" y="0"/>
                  </a:lnTo>
                  <a:lnTo>
                    <a:pt x="10989691" y="1870075"/>
                  </a:lnTo>
                  <a:lnTo>
                    <a:pt x="0" y="1870075"/>
                  </a:lnTo>
                  <a:close/>
                </a:path>
              </a:pathLst>
            </a:custGeom>
            <a:solidFill>
              <a:srgbClr val="241414"/>
            </a:solidFill>
            <a:ln w="12700" cap="sq">
              <a:solidFill>
                <a:srgbClr val="5A2A2A"/>
              </a:solidFill>
              <a:prstDash val="solid"/>
              <a:miter/>
            </a:ln>
          </p:spPr>
        </p:sp>
      </p:grpSp>
      <p:grpSp>
        <p:nvGrpSpPr>
          <p:cNvPr name="Group 41" id="41"/>
          <p:cNvGrpSpPr/>
          <p:nvPr/>
        </p:nvGrpSpPr>
        <p:grpSpPr>
          <a:xfrm rot="0">
            <a:off x="402336" y="5596128"/>
            <a:ext cx="109728" cy="1389888"/>
            <a:chOff x="0" y="0"/>
            <a:chExt cx="146304" cy="1853184"/>
          </a:xfrm>
        </p:grpSpPr>
        <p:sp>
          <p:nvSpPr>
            <p:cNvPr name="Freeform 42" id="42"/>
            <p:cNvSpPr/>
            <p:nvPr/>
          </p:nvSpPr>
          <p:spPr>
            <a:xfrm flipH="false" flipV="false" rot="0">
              <a:off x="0" y="0"/>
              <a:ext cx="146304" cy="1853184"/>
            </a:xfrm>
            <a:custGeom>
              <a:avLst/>
              <a:gdLst/>
              <a:ahLst/>
              <a:cxnLst/>
              <a:rect r="r" b="b" t="t" l="l"/>
              <a:pathLst>
                <a:path h="1853184" w="146304">
                  <a:moveTo>
                    <a:pt x="0" y="0"/>
                  </a:moveTo>
                  <a:lnTo>
                    <a:pt x="146304" y="0"/>
                  </a:lnTo>
                  <a:lnTo>
                    <a:pt x="146304" y="1853184"/>
                  </a:lnTo>
                  <a:lnTo>
                    <a:pt x="0" y="1853184"/>
                  </a:lnTo>
                  <a:close/>
                </a:path>
              </a:pathLst>
            </a:custGeom>
            <a:solidFill>
              <a:srgbClr val="D63C3C"/>
            </a:solidFill>
          </p:spPr>
        </p:sp>
      </p:grpSp>
      <p:grpSp>
        <p:nvGrpSpPr>
          <p:cNvPr name="Group 43" id="43"/>
          <p:cNvGrpSpPr/>
          <p:nvPr/>
        </p:nvGrpSpPr>
        <p:grpSpPr>
          <a:xfrm rot="0">
            <a:off x="621792" y="5669280"/>
            <a:ext cx="7827264" cy="512064"/>
            <a:chOff x="0" y="0"/>
            <a:chExt cx="10436352" cy="682752"/>
          </a:xfrm>
        </p:grpSpPr>
        <p:sp>
          <p:nvSpPr>
            <p:cNvPr name="Freeform 44" id="44"/>
            <p:cNvSpPr/>
            <p:nvPr/>
          </p:nvSpPr>
          <p:spPr>
            <a:xfrm flipH="false" flipV="false" rot="0">
              <a:off x="0" y="0"/>
              <a:ext cx="10436352" cy="682752"/>
            </a:xfrm>
            <a:custGeom>
              <a:avLst/>
              <a:gdLst/>
              <a:ahLst/>
              <a:cxnLst/>
              <a:rect r="r" b="b" t="t" l="l"/>
              <a:pathLst>
                <a:path h="682752" w="10436352">
                  <a:moveTo>
                    <a:pt x="0" y="0"/>
                  </a:moveTo>
                  <a:lnTo>
                    <a:pt x="10436352" y="0"/>
                  </a:lnTo>
                  <a:lnTo>
                    <a:pt x="10436352" y="682752"/>
                  </a:lnTo>
                  <a:lnTo>
                    <a:pt x="0" y="682752"/>
                  </a:lnTo>
                  <a:close/>
                </a:path>
              </a:pathLst>
            </a:custGeom>
            <a:blipFill>
              <a:blip r:embed="rId2">
                <a:alphaModFix amt="0"/>
              </a:blip>
              <a:stretch>
                <a:fillRect l="0" t="-247842" r="0" b="-247842"/>
              </a:stretch>
            </a:blipFill>
          </p:spPr>
        </p:sp>
        <p:sp>
          <p:nvSpPr>
            <p:cNvPr name="TextBox 45" id="45"/>
            <p:cNvSpPr txBox="true"/>
            <p:nvPr/>
          </p:nvSpPr>
          <p:spPr>
            <a:xfrm>
              <a:off x="0" y="-19050"/>
              <a:ext cx="10436352"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Gemini API rate limits</a:t>
              </a:r>
            </a:p>
          </p:txBody>
        </p:sp>
      </p:grpSp>
      <p:grpSp>
        <p:nvGrpSpPr>
          <p:cNvPr name="Group 46" id="46"/>
          <p:cNvGrpSpPr/>
          <p:nvPr/>
        </p:nvGrpSpPr>
        <p:grpSpPr>
          <a:xfrm rot="0">
            <a:off x="621792" y="6144768"/>
            <a:ext cx="7827264" cy="768096"/>
            <a:chOff x="0" y="0"/>
            <a:chExt cx="10436352" cy="1024128"/>
          </a:xfrm>
        </p:grpSpPr>
        <p:sp>
          <p:nvSpPr>
            <p:cNvPr name="Freeform 47" id="47"/>
            <p:cNvSpPr/>
            <p:nvPr/>
          </p:nvSpPr>
          <p:spPr>
            <a:xfrm flipH="false" flipV="false" rot="0">
              <a:off x="0" y="0"/>
              <a:ext cx="10436352" cy="1024128"/>
            </a:xfrm>
            <a:custGeom>
              <a:avLst/>
              <a:gdLst/>
              <a:ahLst/>
              <a:cxnLst/>
              <a:rect r="r" b="b" t="t" l="l"/>
              <a:pathLst>
                <a:path h="1024128" w="10436352">
                  <a:moveTo>
                    <a:pt x="0" y="0"/>
                  </a:moveTo>
                  <a:lnTo>
                    <a:pt x="10436352" y="0"/>
                  </a:lnTo>
                  <a:lnTo>
                    <a:pt x="10436352" y="1024128"/>
                  </a:lnTo>
                  <a:lnTo>
                    <a:pt x="0" y="1024128"/>
                  </a:lnTo>
                  <a:close/>
                </a:path>
              </a:pathLst>
            </a:custGeom>
            <a:blipFill>
              <a:blip r:embed="rId2">
                <a:alphaModFix amt="0"/>
              </a:blip>
              <a:stretch>
                <a:fillRect l="0" t="-148561" r="0" b="-148561"/>
              </a:stretch>
            </a:blipFill>
          </p:spPr>
        </p:sp>
        <p:sp>
          <p:nvSpPr>
            <p:cNvPr name="TextBox 48" id="48"/>
            <p:cNvSpPr txBox="true"/>
            <p:nvPr/>
          </p:nvSpPr>
          <p:spPr>
            <a:xfrm>
              <a:off x="0" y="-38100"/>
              <a:ext cx="10436352" cy="1062228"/>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For very long books (700+ pages), we hit API rate limits occasionally. The chunking strategy helps but isn't perfect.</a:t>
              </a:r>
            </a:p>
          </p:txBody>
        </p:sp>
      </p:grpSp>
      <p:grpSp>
        <p:nvGrpSpPr>
          <p:cNvPr name="Group 49" id="49"/>
          <p:cNvGrpSpPr/>
          <p:nvPr/>
        </p:nvGrpSpPr>
        <p:grpSpPr>
          <a:xfrm rot="0">
            <a:off x="395983" y="7125967"/>
            <a:ext cx="8242297" cy="1402585"/>
            <a:chOff x="0" y="0"/>
            <a:chExt cx="10989729" cy="1870113"/>
          </a:xfrm>
        </p:grpSpPr>
        <p:sp>
          <p:nvSpPr>
            <p:cNvPr name="Freeform 50" id="50"/>
            <p:cNvSpPr/>
            <p:nvPr/>
          </p:nvSpPr>
          <p:spPr>
            <a:xfrm flipH="false" flipV="false" rot="0">
              <a:off x="0" y="0"/>
              <a:ext cx="10989691" cy="1870075"/>
            </a:xfrm>
            <a:custGeom>
              <a:avLst/>
              <a:gdLst/>
              <a:ahLst/>
              <a:cxnLst/>
              <a:rect r="r" b="b" t="t" l="l"/>
              <a:pathLst>
                <a:path h="1870075" w="10989691">
                  <a:moveTo>
                    <a:pt x="0" y="0"/>
                  </a:moveTo>
                  <a:lnTo>
                    <a:pt x="10989691" y="0"/>
                  </a:lnTo>
                  <a:lnTo>
                    <a:pt x="10989691" y="1870075"/>
                  </a:lnTo>
                  <a:lnTo>
                    <a:pt x="0" y="1870075"/>
                  </a:lnTo>
                  <a:close/>
                </a:path>
              </a:pathLst>
            </a:custGeom>
            <a:solidFill>
              <a:srgbClr val="241414"/>
            </a:solidFill>
            <a:ln w="12700" cap="sq">
              <a:solidFill>
                <a:srgbClr val="5A2A2A"/>
              </a:solidFill>
              <a:prstDash val="solid"/>
              <a:miter/>
            </a:ln>
          </p:spPr>
        </p:sp>
      </p:grpSp>
      <p:grpSp>
        <p:nvGrpSpPr>
          <p:cNvPr name="Group 51" id="51"/>
          <p:cNvGrpSpPr/>
          <p:nvPr/>
        </p:nvGrpSpPr>
        <p:grpSpPr>
          <a:xfrm rot="0">
            <a:off x="402336" y="7132320"/>
            <a:ext cx="109728" cy="1389888"/>
            <a:chOff x="0" y="0"/>
            <a:chExt cx="146304" cy="1853184"/>
          </a:xfrm>
        </p:grpSpPr>
        <p:sp>
          <p:nvSpPr>
            <p:cNvPr name="Freeform 52" id="52"/>
            <p:cNvSpPr/>
            <p:nvPr/>
          </p:nvSpPr>
          <p:spPr>
            <a:xfrm flipH="false" flipV="false" rot="0">
              <a:off x="0" y="0"/>
              <a:ext cx="146304" cy="1853184"/>
            </a:xfrm>
            <a:custGeom>
              <a:avLst/>
              <a:gdLst/>
              <a:ahLst/>
              <a:cxnLst/>
              <a:rect r="r" b="b" t="t" l="l"/>
              <a:pathLst>
                <a:path h="1853184" w="146304">
                  <a:moveTo>
                    <a:pt x="0" y="0"/>
                  </a:moveTo>
                  <a:lnTo>
                    <a:pt x="146304" y="0"/>
                  </a:lnTo>
                  <a:lnTo>
                    <a:pt x="146304" y="1853184"/>
                  </a:lnTo>
                  <a:lnTo>
                    <a:pt x="0" y="1853184"/>
                  </a:lnTo>
                  <a:close/>
                </a:path>
              </a:pathLst>
            </a:custGeom>
            <a:solidFill>
              <a:srgbClr val="D63C3C"/>
            </a:solidFill>
          </p:spPr>
        </p:sp>
      </p:grpSp>
      <p:grpSp>
        <p:nvGrpSpPr>
          <p:cNvPr name="Group 53" id="53"/>
          <p:cNvGrpSpPr/>
          <p:nvPr/>
        </p:nvGrpSpPr>
        <p:grpSpPr>
          <a:xfrm rot="0">
            <a:off x="621792" y="7205472"/>
            <a:ext cx="7827264" cy="512064"/>
            <a:chOff x="0" y="0"/>
            <a:chExt cx="10436352" cy="682752"/>
          </a:xfrm>
        </p:grpSpPr>
        <p:sp>
          <p:nvSpPr>
            <p:cNvPr name="Freeform 54" id="54"/>
            <p:cNvSpPr/>
            <p:nvPr/>
          </p:nvSpPr>
          <p:spPr>
            <a:xfrm flipH="false" flipV="false" rot="0">
              <a:off x="0" y="0"/>
              <a:ext cx="10436352" cy="682752"/>
            </a:xfrm>
            <a:custGeom>
              <a:avLst/>
              <a:gdLst/>
              <a:ahLst/>
              <a:cxnLst/>
              <a:rect r="r" b="b" t="t" l="l"/>
              <a:pathLst>
                <a:path h="682752" w="10436352">
                  <a:moveTo>
                    <a:pt x="0" y="0"/>
                  </a:moveTo>
                  <a:lnTo>
                    <a:pt x="10436352" y="0"/>
                  </a:lnTo>
                  <a:lnTo>
                    <a:pt x="10436352" y="682752"/>
                  </a:lnTo>
                  <a:lnTo>
                    <a:pt x="0" y="682752"/>
                  </a:lnTo>
                  <a:close/>
                </a:path>
              </a:pathLst>
            </a:custGeom>
            <a:blipFill>
              <a:blip r:embed="rId2">
                <a:alphaModFix amt="0"/>
              </a:blip>
              <a:stretch>
                <a:fillRect l="0" t="-247842" r="0" b="-247842"/>
              </a:stretch>
            </a:blipFill>
          </p:spPr>
        </p:sp>
        <p:sp>
          <p:nvSpPr>
            <p:cNvPr name="TextBox 55" id="55"/>
            <p:cNvSpPr txBox="true"/>
            <p:nvPr/>
          </p:nvSpPr>
          <p:spPr>
            <a:xfrm>
              <a:off x="0" y="-19050"/>
              <a:ext cx="10436352"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Relationship accuracy</a:t>
              </a:r>
            </a:p>
          </p:txBody>
        </p:sp>
      </p:grpSp>
      <p:grpSp>
        <p:nvGrpSpPr>
          <p:cNvPr name="Group 56" id="56"/>
          <p:cNvGrpSpPr/>
          <p:nvPr/>
        </p:nvGrpSpPr>
        <p:grpSpPr>
          <a:xfrm rot="0">
            <a:off x="621792" y="7680960"/>
            <a:ext cx="7827264" cy="768096"/>
            <a:chOff x="0" y="0"/>
            <a:chExt cx="10436352" cy="1024128"/>
          </a:xfrm>
        </p:grpSpPr>
        <p:sp>
          <p:nvSpPr>
            <p:cNvPr name="Freeform 57" id="57"/>
            <p:cNvSpPr/>
            <p:nvPr/>
          </p:nvSpPr>
          <p:spPr>
            <a:xfrm flipH="false" flipV="false" rot="0">
              <a:off x="0" y="0"/>
              <a:ext cx="10436352" cy="1024128"/>
            </a:xfrm>
            <a:custGeom>
              <a:avLst/>
              <a:gdLst/>
              <a:ahLst/>
              <a:cxnLst/>
              <a:rect r="r" b="b" t="t" l="l"/>
              <a:pathLst>
                <a:path h="1024128" w="10436352">
                  <a:moveTo>
                    <a:pt x="0" y="0"/>
                  </a:moveTo>
                  <a:lnTo>
                    <a:pt x="10436352" y="0"/>
                  </a:lnTo>
                  <a:lnTo>
                    <a:pt x="10436352" y="1024128"/>
                  </a:lnTo>
                  <a:lnTo>
                    <a:pt x="0" y="1024128"/>
                  </a:lnTo>
                  <a:close/>
                </a:path>
              </a:pathLst>
            </a:custGeom>
            <a:blipFill>
              <a:blip r:embed="rId2">
                <a:alphaModFix amt="0"/>
              </a:blip>
              <a:stretch>
                <a:fillRect l="0" t="-148561" r="0" b="-148561"/>
              </a:stretch>
            </a:blipFill>
          </p:spPr>
        </p:sp>
        <p:sp>
          <p:nvSpPr>
            <p:cNvPr name="TextBox 58" id="58"/>
            <p:cNvSpPr txBox="true"/>
            <p:nvPr/>
          </p:nvSpPr>
          <p:spPr>
            <a:xfrm>
              <a:off x="0" y="-38100"/>
              <a:ext cx="10436352" cy="1062228"/>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Co-occurrence-based relationship mapping can miss implied relationships or misinterpret narrative distance as interaction.</a:t>
              </a:r>
            </a:p>
          </p:txBody>
        </p:sp>
      </p:grpSp>
      <p:grpSp>
        <p:nvGrpSpPr>
          <p:cNvPr name="Group 59" id="59"/>
          <p:cNvGrpSpPr/>
          <p:nvPr/>
        </p:nvGrpSpPr>
        <p:grpSpPr>
          <a:xfrm rot="0">
            <a:off x="9144000" y="1737360"/>
            <a:ext cx="8631936" cy="640080"/>
            <a:chOff x="0" y="0"/>
            <a:chExt cx="11509248" cy="853440"/>
          </a:xfrm>
        </p:grpSpPr>
        <p:sp>
          <p:nvSpPr>
            <p:cNvPr name="Freeform 60" id="60"/>
            <p:cNvSpPr/>
            <p:nvPr/>
          </p:nvSpPr>
          <p:spPr>
            <a:xfrm flipH="false" flipV="false" rot="0">
              <a:off x="0" y="0"/>
              <a:ext cx="11509248" cy="853440"/>
            </a:xfrm>
            <a:custGeom>
              <a:avLst/>
              <a:gdLst/>
              <a:ahLst/>
              <a:cxnLst/>
              <a:rect r="r" b="b" t="t" l="l"/>
              <a:pathLst>
                <a:path h="853440" w="11509248">
                  <a:moveTo>
                    <a:pt x="0" y="0"/>
                  </a:moveTo>
                  <a:lnTo>
                    <a:pt x="11509248" y="0"/>
                  </a:lnTo>
                  <a:lnTo>
                    <a:pt x="11509248" y="853440"/>
                  </a:lnTo>
                  <a:lnTo>
                    <a:pt x="0" y="853440"/>
                  </a:lnTo>
                  <a:close/>
                </a:path>
              </a:pathLst>
            </a:custGeom>
            <a:solidFill>
              <a:srgbClr val="B83232"/>
            </a:solidFill>
          </p:spPr>
        </p:sp>
      </p:grpSp>
      <p:grpSp>
        <p:nvGrpSpPr>
          <p:cNvPr name="Group 61" id="61"/>
          <p:cNvGrpSpPr/>
          <p:nvPr/>
        </p:nvGrpSpPr>
        <p:grpSpPr>
          <a:xfrm rot="0">
            <a:off x="9144000" y="1737360"/>
            <a:ext cx="8631936" cy="640080"/>
            <a:chOff x="0" y="0"/>
            <a:chExt cx="11509248" cy="853440"/>
          </a:xfrm>
        </p:grpSpPr>
        <p:sp>
          <p:nvSpPr>
            <p:cNvPr name="Freeform 62" id="62"/>
            <p:cNvSpPr/>
            <p:nvPr/>
          </p:nvSpPr>
          <p:spPr>
            <a:xfrm flipH="false" flipV="false" rot="0">
              <a:off x="0" y="0"/>
              <a:ext cx="11509248" cy="853440"/>
            </a:xfrm>
            <a:custGeom>
              <a:avLst/>
              <a:gdLst/>
              <a:ahLst/>
              <a:cxnLst/>
              <a:rect r="r" b="b" t="t" l="l"/>
              <a:pathLst>
                <a:path h="853440" w="11509248">
                  <a:moveTo>
                    <a:pt x="0" y="0"/>
                  </a:moveTo>
                  <a:lnTo>
                    <a:pt x="11509248" y="0"/>
                  </a:lnTo>
                  <a:lnTo>
                    <a:pt x="11509248" y="853440"/>
                  </a:lnTo>
                  <a:lnTo>
                    <a:pt x="0" y="853440"/>
                  </a:lnTo>
                  <a:close/>
                </a:path>
              </a:pathLst>
            </a:custGeom>
            <a:blipFill>
              <a:blip r:embed="rId2">
                <a:alphaModFix amt="0"/>
              </a:blip>
              <a:stretch>
                <a:fillRect l="0" t="-212769" r="0" b="-212769"/>
              </a:stretch>
            </a:blipFill>
          </p:spPr>
        </p:sp>
        <p:sp>
          <p:nvSpPr>
            <p:cNvPr name="TextBox 63" id="63"/>
            <p:cNvSpPr txBox="true"/>
            <p:nvPr/>
          </p:nvSpPr>
          <p:spPr>
            <a:xfrm>
              <a:off x="0" y="-9525"/>
              <a:ext cx="11509248" cy="862965"/>
            </a:xfrm>
            <a:prstGeom prst="rect">
              <a:avLst/>
            </a:prstGeom>
          </p:spPr>
          <p:txBody>
            <a:bodyPr anchor="ctr" rtlCol="false" tIns="0" lIns="0" bIns="0" rIns="0"/>
            <a:lstStyle/>
            <a:p>
              <a:pPr algn="l">
                <a:lnSpc>
                  <a:spcPts val="2879"/>
                </a:lnSpc>
              </a:pPr>
              <a:r>
                <a:rPr lang="en-US" sz="2400" b="true">
                  <a:solidFill>
                    <a:srgbClr val="FFFFFF"/>
                  </a:solidFill>
                  <a:latin typeface="Arial Bold"/>
                  <a:ea typeface="Arial Bold"/>
                  <a:cs typeface="Arial Bold"/>
                  <a:sym typeface="Arial Bold"/>
                </a:rPr>
                <a:t>Future Scope</a:t>
              </a:r>
            </a:p>
          </p:txBody>
        </p:sp>
      </p:grpSp>
      <p:grpSp>
        <p:nvGrpSpPr>
          <p:cNvPr name="Group 64" id="64"/>
          <p:cNvGrpSpPr/>
          <p:nvPr/>
        </p:nvGrpSpPr>
        <p:grpSpPr>
          <a:xfrm rot="0">
            <a:off x="9137647" y="2517391"/>
            <a:ext cx="8644633" cy="1256281"/>
            <a:chOff x="0" y="0"/>
            <a:chExt cx="11526177" cy="1675041"/>
          </a:xfrm>
        </p:grpSpPr>
        <p:sp>
          <p:nvSpPr>
            <p:cNvPr name="Freeform 65" id="65"/>
            <p:cNvSpPr/>
            <p:nvPr/>
          </p:nvSpPr>
          <p:spPr>
            <a:xfrm flipH="false" flipV="false" rot="0">
              <a:off x="0" y="0"/>
              <a:ext cx="11526139" cy="1675003"/>
            </a:xfrm>
            <a:custGeom>
              <a:avLst/>
              <a:gdLst/>
              <a:ahLst/>
              <a:cxnLst/>
              <a:rect r="r" b="b" t="t" l="l"/>
              <a:pathLst>
                <a:path h="1675003" w="11526139">
                  <a:moveTo>
                    <a:pt x="0" y="0"/>
                  </a:moveTo>
                  <a:lnTo>
                    <a:pt x="11526139" y="0"/>
                  </a:lnTo>
                  <a:lnTo>
                    <a:pt x="11526139" y="1675003"/>
                  </a:lnTo>
                  <a:lnTo>
                    <a:pt x="0" y="1675003"/>
                  </a:lnTo>
                  <a:close/>
                </a:path>
              </a:pathLst>
            </a:custGeom>
            <a:solidFill>
              <a:srgbClr val="1A1A1E"/>
            </a:solidFill>
            <a:ln w="12700" cap="sq">
              <a:solidFill>
                <a:srgbClr val="3A3A40"/>
              </a:solidFill>
              <a:prstDash val="solid"/>
              <a:miter/>
            </a:ln>
          </p:spPr>
        </p:sp>
      </p:grpSp>
      <p:grpSp>
        <p:nvGrpSpPr>
          <p:cNvPr name="Group 66" id="66"/>
          <p:cNvGrpSpPr/>
          <p:nvPr/>
        </p:nvGrpSpPr>
        <p:grpSpPr>
          <a:xfrm rot="0">
            <a:off x="9290304" y="2596896"/>
            <a:ext cx="731520" cy="1097280"/>
            <a:chOff x="0" y="0"/>
            <a:chExt cx="975360" cy="1463040"/>
          </a:xfrm>
        </p:grpSpPr>
        <p:sp>
          <p:nvSpPr>
            <p:cNvPr name="Freeform 67" id="67"/>
            <p:cNvSpPr/>
            <p:nvPr/>
          </p:nvSpPr>
          <p:spPr>
            <a:xfrm flipH="false" flipV="false" rot="0">
              <a:off x="0" y="0"/>
              <a:ext cx="975360" cy="1463040"/>
            </a:xfrm>
            <a:custGeom>
              <a:avLst/>
              <a:gdLst/>
              <a:ahLst/>
              <a:cxnLst/>
              <a:rect r="r" b="b" t="t" l="l"/>
              <a:pathLst>
                <a:path h="1463040" w="975360">
                  <a:moveTo>
                    <a:pt x="0" y="0"/>
                  </a:moveTo>
                  <a:lnTo>
                    <a:pt x="975360" y="0"/>
                  </a:lnTo>
                  <a:lnTo>
                    <a:pt x="975360" y="1463040"/>
                  </a:lnTo>
                  <a:lnTo>
                    <a:pt x="0" y="1463040"/>
                  </a:lnTo>
                  <a:close/>
                </a:path>
              </a:pathLst>
            </a:custGeom>
            <a:blipFill>
              <a:blip r:embed="rId2">
                <a:alphaModFix amt="0"/>
              </a:blip>
              <a:stretch>
                <a:fillRect l="-142455" t="0" r="-142455" b="0"/>
              </a:stretch>
            </a:blipFill>
          </p:spPr>
        </p:sp>
        <p:sp>
          <p:nvSpPr>
            <p:cNvPr name="TextBox 68" id="68"/>
            <p:cNvSpPr txBox="true"/>
            <p:nvPr/>
          </p:nvSpPr>
          <p:spPr>
            <a:xfrm>
              <a:off x="0" y="-57150"/>
              <a:ext cx="975360" cy="15201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69" id="69"/>
          <p:cNvGrpSpPr/>
          <p:nvPr/>
        </p:nvGrpSpPr>
        <p:grpSpPr>
          <a:xfrm rot="0">
            <a:off x="10094976" y="2596896"/>
            <a:ext cx="7534656" cy="512064"/>
            <a:chOff x="0" y="0"/>
            <a:chExt cx="10046208" cy="682752"/>
          </a:xfrm>
        </p:grpSpPr>
        <p:sp>
          <p:nvSpPr>
            <p:cNvPr name="Freeform 70" id="70"/>
            <p:cNvSpPr/>
            <p:nvPr/>
          </p:nvSpPr>
          <p:spPr>
            <a:xfrm flipH="false" flipV="false" rot="0">
              <a:off x="0" y="0"/>
              <a:ext cx="10046208" cy="682752"/>
            </a:xfrm>
            <a:custGeom>
              <a:avLst/>
              <a:gdLst/>
              <a:ahLst/>
              <a:cxnLst/>
              <a:rect r="r" b="b" t="t" l="l"/>
              <a:pathLst>
                <a:path h="682752" w="10046208">
                  <a:moveTo>
                    <a:pt x="0" y="0"/>
                  </a:moveTo>
                  <a:lnTo>
                    <a:pt x="10046208" y="0"/>
                  </a:lnTo>
                  <a:lnTo>
                    <a:pt x="10046208" y="682752"/>
                  </a:lnTo>
                  <a:lnTo>
                    <a:pt x="0" y="682752"/>
                  </a:lnTo>
                  <a:close/>
                </a:path>
              </a:pathLst>
            </a:custGeom>
            <a:blipFill>
              <a:blip r:embed="rId2">
                <a:alphaModFix amt="0"/>
              </a:blip>
              <a:stretch>
                <a:fillRect l="0" t="-236708" r="0" b="-236708"/>
              </a:stretch>
            </a:blipFill>
          </p:spPr>
        </p:sp>
        <p:sp>
          <p:nvSpPr>
            <p:cNvPr name="TextBox 71" id="71"/>
            <p:cNvSpPr txBox="true"/>
            <p:nvPr/>
          </p:nvSpPr>
          <p:spPr>
            <a:xfrm>
              <a:off x="0" y="-19050"/>
              <a:ext cx="10046208"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Multi-language NER</a:t>
              </a:r>
            </a:p>
          </p:txBody>
        </p:sp>
      </p:grpSp>
      <p:grpSp>
        <p:nvGrpSpPr>
          <p:cNvPr name="Group 72" id="72"/>
          <p:cNvGrpSpPr/>
          <p:nvPr/>
        </p:nvGrpSpPr>
        <p:grpSpPr>
          <a:xfrm rot="0">
            <a:off x="10094976" y="3072384"/>
            <a:ext cx="7534656" cy="621792"/>
            <a:chOff x="0" y="0"/>
            <a:chExt cx="10046208" cy="829056"/>
          </a:xfrm>
        </p:grpSpPr>
        <p:sp>
          <p:nvSpPr>
            <p:cNvPr name="Freeform 73" id="73"/>
            <p:cNvSpPr/>
            <p:nvPr/>
          </p:nvSpPr>
          <p:spPr>
            <a:xfrm flipH="false" flipV="false" rot="0">
              <a:off x="0" y="0"/>
              <a:ext cx="10046208" cy="829056"/>
            </a:xfrm>
            <a:custGeom>
              <a:avLst/>
              <a:gdLst/>
              <a:ahLst/>
              <a:cxnLst/>
              <a:rect r="r" b="b" t="t" l="l"/>
              <a:pathLst>
                <a:path h="829056" w="10046208">
                  <a:moveTo>
                    <a:pt x="0" y="0"/>
                  </a:moveTo>
                  <a:lnTo>
                    <a:pt x="10046208" y="0"/>
                  </a:lnTo>
                  <a:lnTo>
                    <a:pt x="10046208" y="829056"/>
                  </a:lnTo>
                  <a:lnTo>
                    <a:pt x="0" y="829056"/>
                  </a:lnTo>
                  <a:close/>
                </a:path>
              </a:pathLst>
            </a:custGeom>
            <a:blipFill>
              <a:blip r:embed="rId2">
                <a:alphaModFix amt="0"/>
              </a:blip>
              <a:stretch>
                <a:fillRect l="0" t="-186112" r="0" b="-186112"/>
              </a:stretch>
            </a:blipFill>
          </p:spPr>
        </p:sp>
        <p:sp>
          <p:nvSpPr>
            <p:cNvPr name="TextBox 74" id="74"/>
            <p:cNvSpPr txBox="true"/>
            <p:nvPr/>
          </p:nvSpPr>
          <p:spPr>
            <a:xfrm>
              <a:off x="0" y="-38100"/>
              <a:ext cx="10046208" cy="867156"/>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Extend to Hindi, French, Spanish using multilingual BERT</a:t>
              </a:r>
            </a:p>
          </p:txBody>
        </p:sp>
      </p:grpSp>
      <p:grpSp>
        <p:nvGrpSpPr>
          <p:cNvPr name="Group 75" id="75"/>
          <p:cNvGrpSpPr/>
          <p:nvPr/>
        </p:nvGrpSpPr>
        <p:grpSpPr>
          <a:xfrm rot="0">
            <a:off x="9137647" y="3907279"/>
            <a:ext cx="8644633" cy="1256281"/>
            <a:chOff x="0" y="0"/>
            <a:chExt cx="11526177" cy="1675041"/>
          </a:xfrm>
        </p:grpSpPr>
        <p:sp>
          <p:nvSpPr>
            <p:cNvPr name="Freeform 76" id="76"/>
            <p:cNvSpPr/>
            <p:nvPr/>
          </p:nvSpPr>
          <p:spPr>
            <a:xfrm flipH="false" flipV="false" rot="0">
              <a:off x="0" y="0"/>
              <a:ext cx="11526139" cy="1675003"/>
            </a:xfrm>
            <a:custGeom>
              <a:avLst/>
              <a:gdLst/>
              <a:ahLst/>
              <a:cxnLst/>
              <a:rect r="r" b="b" t="t" l="l"/>
              <a:pathLst>
                <a:path h="1675003" w="11526139">
                  <a:moveTo>
                    <a:pt x="0" y="0"/>
                  </a:moveTo>
                  <a:lnTo>
                    <a:pt x="11526139" y="0"/>
                  </a:lnTo>
                  <a:lnTo>
                    <a:pt x="11526139" y="1675003"/>
                  </a:lnTo>
                  <a:lnTo>
                    <a:pt x="0" y="1675003"/>
                  </a:lnTo>
                  <a:close/>
                </a:path>
              </a:pathLst>
            </a:custGeom>
            <a:solidFill>
              <a:srgbClr val="111113"/>
            </a:solidFill>
            <a:ln w="12700" cap="sq">
              <a:solidFill>
                <a:srgbClr val="3A3A40"/>
              </a:solidFill>
              <a:prstDash val="solid"/>
              <a:miter/>
            </a:ln>
          </p:spPr>
        </p:sp>
      </p:grpSp>
      <p:grpSp>
        <p:nvGrpSpPr>
          <p:cNvPr name="Group 77" id="77"/>
          <p:cNvGrpSpPr/>
          <p:nvPr/>
        </p:nvGrpSpPr>
        <p:grpSpPr>
          <a:xfrm rot="0">
            <a:off x="9290304" y="3986784"/>
            <a:ext cx="731520" cy="1097280"/>
            <a:chOff x="0" y="0"/>
            <a:chExt cx="975360" cy="1463040"/>
          </a:xfrm>
        </p:grpSpPr>
        <p:sp>
          <p:nvSpPr>
            <p:cNvPr name="Freeform 78" id="78"/>
            <p:cNvSpPr/>
            <p:nvPr/>
          </p:nvSpPr>
          <p:spPr>
            <a:xfrm flipH="false" flipV="false" rot="0">
              <a:off x="0" y="0"/>
              <a:ext cx="975360" cy="1463040"/>
            </a:xfrm>
            <a:custGeom>
              <a:avLst/>
              <a:gdLst/>
              <a:ahLst/>
              <a:cxnLst/>
              <a:rect r="r" b="b" t="t" l="l"/>
              <a:pathLst>
                <a:path h="1463040" w="975360">
                  <a:moveTo>
                    <a:pt x="0" y="0"/>
                  </a:moveTo>
                  <a:lnTo>
                    <a:pt x="975360" y="0"/>
                  </a:lnTo>
                  <a:lnTo>
                    <a:pt x="975360" y="1463040"/>
                  </a:lnTo>
                  <a:lnTo>
                    <a:pt x="0" y="1463040"/>
                  </a:lnTo>
                  <a:close/>
                </a:path>
              </a:pathLst>
            </a:custGeom>
            <a:blipFill>
              <a:blip r:embed="rId2">
                <a:alphaModFix amt="0"/>
              </a:blip>
              <a:stretch>
                <a:fillRect l="-142455" t="0" r="-142455" b="0"/>
              </a:stretch>
            </a:blipFill>
          </p:spPr>
        </p:sp>
        <p:sp>
          <p:nvSpPr>
            <p:cNvPr name="TextBox 79" id="79"/>
            <p:cNvSpPr txBox="true"/>
            <p:nvPr/>
          </p:nvSpPr>
          <p:spPr>
            <a:xfrm>
              <a:off x="0" y="-57150"/>
              <a:ext cx="975360" cy="15201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80" id="80"/>
          <p:cNvGrpSpPr/>
          <p:nvPr/>
        </p:nvGrpSpPr>
        <p:grpSpPr>
          <a:xfrm rot="0">
            <a:off x="10094976" y="3986784"/>
            <a:ext cx="7534656" cy="512064"/>
            <a:chOff x="0" y="0"/>
            <a:chExt cx="10046208" cy="682752"/>
          </a:xfrm>
        </p:grpSpPr>
        <p:sp>
          <p:nvSpPr>
            <p:cNvPr name="Freeform 81" id="81"/>
            <p:cNvSpPr/>
            <p:nvPr/>
          </p:nvSpPr>
          <p:spPr>
            <a:xfrm flipH="false" flipV="false" rot="0">
              <a:off x="0" y="0"/>
              <a:ext cx="10046208" cy="682752"/>
            </a:xfrm>
            <a:custGeom>
              <a:avLst/>
              <a:gdLst/>
              <a:ahLst/>
              <a:cxnLst/>
              <a:rect r="r" b="b" t="t" l="l"/>
              <a:pathLst>
                <a:path h="682752" w="10046208">
                  <a:moveTo>
                    <a:pt x="0" y="0"/>
                  </a:moveTo>
                  <a:lnTo>
                    <a:pt x="10046208" y="0"/>
                  </a:lnTo>
                  <a:lnTo>
                    <a:pt x="10046208" y="682752"/>
                  </a:lnTo>
                  <a:lnTo>
                    <a:pt x="0" y="682752"/>
                  </a:lnTo>
                  <a:close/>
                </a:path>
              </a:pathLst>
            </a:custGeom>
            <a:blipFill>
              <a:blip r:embed="rId2">
                <a:alphaModFix amt="0"/>
              </a:blip>
              <a:stretch>
                <a:fillRect l="0" t="-236708" r="0" b="-236708"/>
              </a:stretch>
            </a:blipFill>
          </p:spPr>
        </p:sp>
        <p:sp>
          <p:nvSpPr>
            <p:cNvPr name="TextBox 82" id="82"/>
            <p:cNvSpPr txBox="true"/>
            <p:nvPr/>
          </p:nvSpPr>
          <p:spPr>
            <a:xfrm>
              <a:off x="0" y="-19050"/>
              <a:ext cx="10046208"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Physical corpus integration</a:t>
              </a:r>
            </a:p>
          </p:txBody>
        </p:sp>
      </p:grpSp>
      <p:grpSp>
        <p:nvGrpSpPr>
          <p:cNvPr name="Group 83" id="83"/>
          <p:cNvGrpSpPr/>
          <p:nvPr/>
        </p:nvGrpSpPr>
        <p:grpSpPr>
          <a:xfrm rot="0">
            <a:off x="10094976" y="4462272"/>
            <a:ext cx="7534656" cy="621792"/>
            <a:chOff x="0" y="0"/>
            <a:chExt cx="10046208" cy="829056"/>
          </a:xfrm>
        </p:grpSpPr>
        <p:sp>
          <p:nvSpPr>
            <p:cNvPr name="Freeform 84" id="84"/>
            <p:cNvSpPr/>
            <p:nvPr/>
          </p:nvSpPr>
          <p:spPr>
            <a:xfrm flipH="false" flipV="false" rot="0">
              <a:off x="0" y="0"/>
              <a:ext cx="10046208" cy="829056"/>
            </a:xfrm>
            <a:custGeom>
              <a:avLst/>
              <a:gdLst/>
              <a:ahLst/>
              <a:cxnLst/>
              <a:rect r="r" b="b" t="t" l="l"/>
              <a:pathLst>
                <a:path h="829056" w="10046208">
                  <a:moveTo>
                    <a:pt x="0" y="0"/>
                  </a:moveTo>
                  <a:lnTo>
                    <a:pt x="10046208" y="0"/>
                  </a:lnTo>
                  <a:lnTo>
                    <a:pt x="10046208" y="829056"/>
                  </a:lnTo>
                  <a:lnTo>
                    <a:pt x="0" y="829056"/>
                  </a:lnTo>
                  <a:close/>
                </a:path>
              </a:pathLst>
            </a:custGeom>
            <a:blipFill>
              <a:blip r:embed="rId2">
                <a:alphaModFix amt="0"/>
              </a:blip>
              <a:stretch>
                <a:fillRect l="0" t="-186112" r="0" b="-186112"/>
              </a:stretch>
            </a:blipFill>
          </p:spPr>
        </p:sp>
        <p:sp>
          <p:nvSpPr>
            <p:cNvPr name="TextBox 85" id="85"/>
            <p:cNvSpPr txBox="true"/>
            <p:nvPr/>
          </p:nvSpPr>
          <p:spPr>
            <a:xfrm>
              <a:off x="0" y="-38100"/>
              <a:ext cx="10046208" cy="867156"/>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Add OCR pipeline to handle scanned/physical books directly</a:t>
              </a:r>
            </a:p>
          </p:txBody>
        </p:sp>
      </p:grpSp>
      <p:grpSp>
        <p:nvGrpSpPr>
          <p:cNvPr name="Group 86" id="86"/>
          <p:cNvGrpSpPr/>
          <p:nvPr/>
        </p:nvGrpSpPr>
        <p:grpSpPr>
          <a:xfrm rot="0">
            <a:off x="9137647" y="5297167"/>
            <a:ext cx="8644633" cy="1256281"/>
            <a:chOff x="0" y="0"/>
            <a:chExt cx="11526177" cy="1675041"/>
          </a:xfrm>
        </p:grpSpPr>
        <p:sp>
          <p:nvSpPr>
            <p:cNvPr name="Freeform 87" id="87"/>
            <p:cNvSpPr/>
            <p:nvPr/>
          </p:nvSpPr>
          <p:spPr>
            <a:xfrm flipH="false" flipV="false" rot="0">
              <a:off x="0" y="0"/>
              <a:ext cx="11526139" cy="1675003"/>
            </a:xfrm>
            <a:custGeom>
              <a:avLst/>
              <a:gdLst/>
              <a:ahLst/>
              <a:cxnLst/>
              <a:rect r="r" b="b" t="t" l="l"/>
              <a:pathLst>
                <a:path h="1675003" w="11526139">
                  <a:moveTo>
                    <a:pt x="0" y="0"/>
                  </a:moveTo>
                  <a:lnTo>
                    <a:pt x="11526139" y="0"/>
                  </a:lnTo>
                  <a:lnTo>
                    <a:pt x="11526139" y="1675003"/>
                  </a:lnTo>
                  <a:lnTo>
                    <a:pt x="0" y="1675003"/>
                  </a:lnTo>
                  <a:close/>
                </a:path>
              </a:pathLst>
            </a:custGeom>
            <a:solidFill>
              <a:srgbClr val="1A1A1E"/>
            </a:solidFill>
            <a:ln w="12700" cap="sq">
              <a:solidFill>
                <a:srgbClr val="3A3A40"/>
              </a:solidFill>
              <a:prstDash val="solid"/>
              <a:miter/>
            </a:ln>
          </p:spPr>
        </p:sp>
      </p:grpSp>
      <p:grpSp>
        <p:nvGrpSpPr>
          <p:cNvPr name="Group 88" id="88"/>
          <p:cNvGrpSpPr/>
          <p:nvPr/>
        </p:nvGrpSpPr>
        <p:grpSpPr>
          <a:xfrm rot="0">
            <a:off x="9290304" y="5376672"/>
            <a:ext cx="731520" cy="1097280"/>
            <a:chOff x="0" y="0"/>
            <a:chExt cx="975360" cy="1463040"/>
          </a:xfrm>
        </p:grpSpPr>
        <p:sp>
          <p:nvSpPr>
            <p:cNvPr name="Freeform 89" id="89"/>
            <p:cNvSpPr/>
            <p:nvPr/>
          </p:nvSpPr>
          <p:spPr>
            <a:xfrm flipH="false" flipV="false" rot="0">
              <a:off x="0" y="0"/>
              <a:ext cx="975360" cy="1463040"/>
            </a:xfrm>
            <a:custGeom>
              <a:avLst/>
              <a:gdLst/>
              <a:ahLst/>
              <a:cxnLst/>
              <a:rect r="r" b="b" t="t" l="l"/>
              <a:pathLst>
                <a:path h="1463040" w="975360">
                  <a:moveTo>
                    <a:pt x="0" y="0"/>
                  </a:moveTo>
                  <a:lnTo>
                    <a:pt x="975360" y="0"/>
                  </a:lnTo>
                  <a:lnTo>
                    <a:pt x="975360" y="1463040"/>
                  </a:lnTo>
                  <a:lnTo>
                    <a:pt x="0" y="1463040"/>
                  </a:lnTo>
                  <a:close/>
                </a:path>
              </a:pathLst>
            </a:custGeom>
            <a:blipFill>
              <a:blip r:embed="rId2">
                <a:alphaModFix amt="0"/>
              </a:blip>
              <a:stretch>
                <a:fillRect l="-142455" t="0" r="-142455" b="0"/>
              </a:stretch>
            </a:blipFill>
          </p:spPr>
        </p:sp>
        <p:sp>
          <p:nvSpPr>
            <p:cNvPr name="TextBox 90" id="90"/>
            <p:cNvSpPr txBox="true"/>
            <p:nvPr/>
          </p:nvSpPr>
          <p:spPr>
            <a:xfrm>
              <a:off x="0" y="-57150"/>
              <a:ext cx="975360" cy="15201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91" id="91"/>
          <p:cNvGrpSpPr/>
          <p:nvPr/>
        </p:nvGrpSpPr>
        <p:grpSpPr>
          <a:xfrm rot="0">
            <a:off x="10094976" y="5376672"/>
            <a:ext cx="7534656" cy="512064"/>
            <a:chOff x="0" y="0"/>
            <a:chExt cx="10046208" cy="682752"/>
          </a:xfrm>
        </p:grpSpPr>
        <p:sp>
          <p:nvSpPr>
            <p:cNvPr name="Freeform 92" id="92"/>
            <p:cNvSpPr/>
            <p:nvPr/>
          </p:nvSpPr>
          <p:spPr>
            <a:xfrm flipH="false" flipV="false" rot="0">
              <a:off x="0" y="0"/>
              <a:ext cx="10046208" cy="682752"/>
            </a:xfrm>
            <a:custGeom>
              <a:avLst/>
              <a:gdLst/>
              <a:ahLst/>
              <a:cxnLst/>
              <a:rect r="r" b="b" t="t" l="l"/>
              <a:pathLst>
                <a:path h="682752" w="10046208">
                  <a:moveTo>
                    <a:pt x="0" y="0"/>
                  </a:moveTo>
                  <a:lnTo>
                    <a:pt x="10046208" y="0"/>
                  </a:lnTo>
                  <a:lnTo>
                    <a:pt x="10046208" y="682752"/>
                  </a:lnTo>
                  <a:lnTo>
                    <a:pt x="0" y="682752"/>
                  </a:lnTo>
                  <a:close/>
                </a:path>
              </a:pathLst>
            </a:custGeom>
            <a:blipFill>
              <a:blip r:embed="rId2">
                <a:alphaModFix amt="0"/>
              </a:blip>
              <a:stretch>
                <a:fillRect l="0" t="-236708" r="0" b="-236708"/>
              </a:stretch>
            </a:blipFill>
          </p:spPr>
        </p:sp>
        <p:sp>
          <p:nvSpPr>
            <p:cNvPr name="TextBox 93" id="93"/>
            <p:cNvSpPr txBox="true"/>
            <p:nvPr/>
          </p:nvSpPr>
          <p:spPr>
            <a:xfrm>
              <a:off x="0" y="-19050"/>
              <a:ext cx="10046208"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Audiobook support</a:t>
              </a:r>
            </a:p>
          </p:txBody>
        </p:sp>
      </p:grpSp>
      <p:grpSp>
        <p:nvGrpSpPr>
          <p:cNvPr name="Group 94" id="94"/>
          <p:cNvGrpSpPr/>
          <p:nvPr/>
        </p:nvGrpSpPr>
        <p:grpSpPr>
          <a:xfrm rot="0">
            <a:off x="10094976" y="5852160"/>
            <a:ext cx="7534656" cy="621792"/>
            <a:chOff x="0" y="0"/>
            <a:chExt cx="10046208" cy="829056"/>
          </a:xfrm>
        </p:grpSpPr>
        <p:sp>
          <p:nvSpPr>
            <p:cNvPr name="Freeform 95" id="95"/>
            <p:cNvSpPr/>
            <p:nvPr/>
          </p:nvSpPr>
          <p:spPr>
            <a:xfrm flipH="false" flipV="false" rot="0">
              <a:off x="0" y="0"/>
              <a:ext cx="10046208" cy="829056"/>
            </a:xfrm>
            <a:custGeom>
              <a:avLst/>
              <a:gdLst/>
              <a:ahLst/>
              <a:cxnLst/>
              <a:rect r="r" b="b" t="t" l="l"/>
              <a:pathLst>
                <a:path h="829056" w="10046208">
                  <a:moveTo>
                    <a:pt x="0" y="0"/>
                  </a:moveTo>
                  <a:lnTo>
                    <a:pt x="10046208" y="0"/>
                  </a:lnTo>
                  <a:lnTo>
                    <a:pt x="10046208" y="829056"/>
                  </a:lnTo>
                  <a:lnTo>
                    <a:pt x="0" y="829056"/>
                  </a:lnTo>
                  <a:close/>
                </a:path>
              </a:pathLst>
            </a:custGeom>
            <a:blipFill>
              <a:blip r:embed="rId2">
                <a:alphaModFix amt="0"/>
              </a:blip>
              <a:stretch>
                <a:fillRect l="0" t="-186112" r="0" b="-186112"/>
              </a:stretch>
            </a:blipFill>
          </p:spPr>
        </p:sp>
        <p:sp>
          <p:nvSpPr>
            <p:cNvPr name="TextBox 96" id="96"/>
            <p:cNvSpPr txBox="true"/>
            <p:nvPr/>
          </p:nvSpPr>
          <p:spPr>
            <a:xfrm>
              <a:off x="0" y="-38100"/>
              <a:ext cx="10046208" cy="867156"/>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Process audio files via Whisper STT then run full analysis</a:t>
              </a:r>
            </a:p>
          </p:txBody>
        </p:sp>
      </p:grpSp>
      <p:grpSp>
        <p:nvGrpSpPr>
          <p:cNvPr name="Group 97" id="97"/>
          <p:cNvGrpSpPr/>
          <p:nvPr/>
        </p:nvGrpSpPr>
        <p:grpSpPr>
          <a:xfrm rot="0">
            <a:off x="9137647" y="6687055"/>
            <a:ext cx="8644633" cy="1256281"/>
            <a:chOff x="0" y="0"/>
            <a:chExt cx="11526177" cy="1675041"/>
          </a:xfrm>
        </p:grpSpPr>
        <p:sp>
          <p:nvSpPr>
            <p:cNvPr name="Freeform 98" id="98"/>
            <p:cNvSpPr/>
            <p:nvPr/>
          </p:nvSpPr>
          <p:spPr>
            <a:xfrm flipH="false" flipV="false" rot="0">
              <a:off x="0" y="0"/>
              <a:ext cx="11526139" cy="1675003"/>
            </a:xfrm>
            <a:custGeom>
              <a:avLst/>
              <a:gdLst/>
              <a:ahLst/>
              <a:cxnLst/>
              <a:rect r="r" b="b" t="t" l="l"/>
              <a:pathLst>
                <a:path h="1675003" w="11526139">
                  <a:moveTo>
                    <a:pt x="0" y="0"/>
                  </a:moveTo>
                  <a:lnTo>
                    <a:pt x="11526139" y="0"/>
                  </a:lnTo>
                  <a:lnTo>
                    <a:pt x="11526139" y="1675003"/>
                  </a:lnTo>
                  <a:lnTo>
                    <a:pt x="0" y="1675003"/>
                  </a:lnTo>
                  <a:close/>
                </a:path>
              </a:pathLst>
            </a:custGeom>
            <a:solidFill>
              <a:srgbClr val="111113"/>
            </a:solidFill>
            <a:ln w="12700" cap="sq">
              <a:solidFill>
                <a:srgbClr val="3A3A40"/>
              </a:solidFill>
              <a:prstDash val="solid"/>
              <a:miter/>
            </a:ln>
          </p:spPr>
        </p:sp>
      </p:grpSp>
      <p:grpSp>
        <p:nvGrpSpPr>
          <p:cNvPr name="Group 99" id="99"/>
          <p:cNvGrpSpPr/>
          <p:nvPr/>
        </p:nvGrpSpPr>
        <p:grpSpPr>
          <a:xfrm rot="0">
            <a:off x="9290304" y="6766560"/>
            <a:ext cx="731520" cy="1097280"/>
            <a:chOff x="0" y="0"/>
            <a:chExt cx="975360" cy="1463040"/>
          </a:xfrm>
        </p:grpSpPr>
        <p:sp>
          <p:nvSpPr>
            <p:cNvPr name="Freeform 100" id="100"/>
            <p:cNvSpPr/>
            <p:nvPr/>
          </p:nvSpPr>
          <p:spPr>
            <a:xfrm flipH="false" flipV="false" rot="0">
              <a:off x="0" y="0"/>
              <a:ext cx="975360" cy="1463040"/>
            </a:xfrm>
            <a:custGeom>
              <a:avLst/>
              <a:gdLst/>
              <a:ahLst/>
              <a:cxnLst/>
              <a:rect r="r" b="b" t="t" l="l"/>
              <a:pathLst>
                <a:path h="1463040" w="975360">
                  <a:moveTo>
                    <a:pt x="0" y="0"/>
                  </a:moveTo>
                  <a:lnTo>
                    <a:pt x="975360" y="0"/>
                  </a:lnTo>
                  <a:lnTo>
                    <a:pt x="975360" y="1463040"/>
                  </a:lnTo>
                  <a:lnTo>
                    <a:pt x="0" y="1463040"/>
                  </a:lnTo>
                  <a:close/>
                </a:path>
              </a:pathLst>
            </a:custGeom>
            <a:blipFill>
              <a:blip r:embed="rId2">
                <a:alphaModFix amt="0"/>
              </a:blip>
              <a:stretch>
                <a:fillRect l="-142455" t="0" r="-142455" b="0"/>
              </a:stretch>
            </a:blipFill>
          </p:spPr>
        </p:sp>
        <p:sp>
          <p:nvSpPr>
            <p:cNvPr name="TextBox 101" id="101"/>
            <p:cNvSpPr txBox="true"/>
            <p:nvPr/>
          </p:nvSpPr>
          <p:spPr>
            <a:xfrm>
              <a:off x="0" y="-57150"/>
              <a:ext cx="975360" cy="15201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102" id="102"/>
          <p:cNvGrpSpPr/>
          <p:nvPr/>
        </p:nvGrpSpPr>
        <p:grpSpPr>
          <a:xfrm rot="0">
            <a:off x="10094976" y="6766560"/>
            <a:ext cx="7534656" cy="512064"/>
            <a:chOff x="0" y="0"/>
            <a:chExt cx="10046208" cy="682752"/>
          </a:xfrm>
        </p:grpSpPr>
        <p:sp>
          <p:nvSpPr>
            <p:cNvPr name="Freeform 103" id="103"/>
            <p:cNvSpPr/>
            <p:nvPr/>
          </p:nvSpPr>
          <p:spPr>
            <a:xfrm flipH="false" flipV="false" rot="0">
              <a:off x="0" y="0"/>
              <a:ext cx="10046208" cy="682752"/>
            </a:xfrm>
            <a:custGeom>
              <a:avLst/>
              <a:gdLst/>
              <a:ahLst/>
              <a:cxnLst/>
              <a:rect r="r" b="b" t="t" l="l"/>
              <a:pathLst>
                <a:path h="682752" w="10046208">
                  <a:moveTo>
                    <a:pt x="0" y="0"/>
                  </a:moveTo>
                  <a:lnTo>
                    <a:pt x="10046208" y="0"/>
                  </a:lnTo>
                  <a:lnTo>
                    <a:pt x="10046208" y="682752"/>
                  </a:lnTo>
                  <a:lnTo>
                    <a:pt x="0" y="682752"/>
                  </a:lnTo>
                  <a:close/>
                </a:path>
              </a:pathLst>
            </a:custGeom>
            <a:blipFill>
              <a:blip r:embed="rId2">
                <a:alphaModFix amt="0"/>
              </a:blip>
              <a:stretch>
                <a:fillRect l="0" t="-236708" r="0" b="-236708"/>
              </a:stretch>
            </a:blipFill>
          </p:spPr>
        </p:sp>
        <p:sp>
          <p:nvSpPr>
            <p:cNvPr name="TextBox 104" id="104"/>
            <p:cNvSpPr txBox="true"/>
            <p:nvPr/>
          </p:nvSpPr>
          <p:spPr>
            <a:xfrm>
              <a:off x="0" y="-19050"/>
              <a:ext cx="10046208"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Social reading features</a:t>
              </a:r>
            </a:p>
          </p:txBody>
        </p:sp>
      </p:grpSp>
      <p:grpSp>
        <p:nvGrpSpPr>
          <p:cNvPr name="Group 105" id="105"/>
          <p:cNvGrpSpPr/>
          <p:nvPr/>
        </p:nvGrpSpPr>
        <p:grpSpPr>
          <a:xfrm rot="0">
            <a:off x="10094976" y="7242048"/>
            <a:ext cx="7534656" cy="621792"/>
            <a:chOff x="0" y="0"/>
            <a:chExt cx="10046208" cy="829056"/>
          </a:xfrm>
        </p:grpSpPr>
        <p:sp>
          <p:nvSpPr>
            <p:cNvPr name="Freeform 106" id="106"/>
            <p:cNvSpPr/>
            <p:nvPr/>
          </p:nvSpPr>
          <p:spPr>
            <a:xfrm flipH="false" flipV="false" rot="0">
              <a:off x="0" y="0"/>
              <a:ext cx="10046208" cy="829056"/>
            </a:xfrm>
            <a:custGeom>
              <a:avLst/>
              <a:gdLst/>
              <a:ahLst/>
              <a:cxnLst/>
              <a:rect r="r" b="b" t="t" l="l"/>
              <a:pathLst>
                <a:path h="829056" w="10046208">
                  <a:moveTo>
                    <a:pt x="0" y="0"/>
                  </a:moveTo>
                  <a:lnTo>
                    <a:pt x="10046208" y="0"/>
                  </a:lnTo>
                  <a:lnTo>
                    <a:pt x="10046208" y="829056"/>
                  </a:lnTo>
                  <a:lnTo>
                    <a:pt x="0" y="829056"/>
                  </a:lnTo>
                  <a:close/>
                </a:path>
              </a:pathLst>
            </a:custGeom>
            <a:blipFill>
              <a:blip r:embed="rId2">
                <a:alphaModFix amt="0"/>
              </a:blip>
              <a:stretch>
                <a:fillRect l="0" t="-186112" r="0" b="-186112"/>
              </a:stretch>
            </a:blipFill>
          </p:spPr>
        </p:sp>
        <p:sp>
          <p:nvSpPr>
            <p:cNvPr name="TextBox 107" id="107"/>
            <p:cNvSpPr txBox="true"/>
            <p:nvPr/>
          </p:nvSpPr>
          <p:spPr>
            <a:xfrm>
              <a:off x="0" y="-38100"/>
              <a:ext cx="10046208" cy="867156"/>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Let users share annotations and reading lists with friends</a:t>
              </a:r>
            </a:p>
          </p:txBody>
        </p:sp>
      </p:grpSp>
      <p:grpSp>
        <p:nvGrpSpPr>
          <p:cNvPr name="Group 108" id="108"/>
          <p:cNvGrpSpPr/>
          <p:nvPr/>
        </p:nvGrpSpPr>
        <p:grpSpPr>
          <a:xfrm rot="0">
            <a:off x="9137647" y="8076943"/>
            <a:ext cx="8644633" cy="1256281"/>
            <a:chOff x="0" y="0"/>
            <a:chExt cx="11526177" cy="1675041"/>
          </a:xfrm>
        </p:grpSpPr>
        <p:sp>
          <p:nvSpPr>
            <p:cNvPr name="Freeform 109" id="109"/>
            <p:cNvSpPr/>
            <p:nvPr/>
          </p:nvSpPr>
          <p:spPr>
            <a:xfrm flipH="false" flipV="false" rot="0">
              <a:off x="0" y="0"/>
              <a:ext cx="11526139" cy="1675003"/>
            </a:xfrm>
            <a:custGeom>
              <a:avLst/>
              <a:gdLst/>
              <a:ahLst/>
              <a:cxnLst/>
              <a:rect r="r" b="b" t="t" l="l"/>
              <a:pathLst>
                <a:path h="1675003" w="11526139">
                  <a:moveTo>
                    <a:pt x="0" y="0"/>
                  </a:moveTo>
                  <a:lnTo>
                    <a:pt x="11526139" y="0"/>
                  </a:lnTo>
                  <a:lnTo>
                    <a:pt x="11526139" y="1675003"/>
                  </a:lnTo>
                  <a:lnTo>
                    <a:pt x="0" y="1675003"/>
                  </a:lnTo>
                  <a:close/>
                </a:path>
              </a:pathLst>
            </a:custGeom>
            <a:solidFill>
              <a:srgbClr val="1A1A1E"/>
            </a:solidFill>
            <a:ln w="12700" cap="sq">
              <a:solidFill>
                <a:srgbClr val="3A3A40"/>
              </a:solidFill>
              <a:prstDash val="solid"/>
              <a:miter/>
            </a:ln>
          </p:spPr>
        </p:sp>
      </p:grpSp>
      <p:grpSp>
        <p:nvGrpSpPr>
          <p:cNvPr name="Group 110" id="110"/>
          <p:cNvGrpSpPr/>
          <p:nvPr/>
        </p:nvGrpSpPr>
        <p:grpSpPr>
          <a:xfrm rot="0">
            <a:off x="9290304" y="8156448"/>
            <a:ext cx="731520" cy="1097280"/>
            <a:chOff x="0" y="0"/>
            <a:chExt cx="975360" cy="1463040"/>
          </a:xfrm>
        </p:grpSpPr>
        <p:sp>
          <p:nvSpPr>
            <p:cNvPr name="Freeform 111" id="111"/>
            <p:cNvSpPr/>
            <p:nvPr/>
          </p:nvSpPr>
          <p:spPr>
            <a:xfrm flipH="false" flipV="false" rot="0">
              <a:off x="0" y="0"/>
              <a:ext cx="975360" cy="1463040"/>
            </a:xfrm>
            <a:custGeom>
              <a:avLst/>
              <a:gdLst/>
              <a:ahLst/>
              <a:cxnLst/>
              <a:rect r="r" b="b" t="t" l="l"/>
              <a:pathLst>
                <a:path h="1463040" w="975360">
                  <a:moveTo>
                    <a:pt x="0" y="0"/>
                  </a:moveTo>
                  <a:lnTo>
                    <a:pt x="975360" y="0"/>
                  </a:lnTo>
                  <a:lnTo>
                    <a:pt x="975360" y="1463040"/>
                  </a:lnTo>
                  <a:lnTo>
                    <a:pt x="0" y="1463040"/>
                  </a:lnTo>
                  <a:close/>
                </a:path>
              </a:pathLst>
            </a:custGeom>
            <a:blipFill>
              <a:blip r:embed="rId2">
                <a:alphaModFix amt="0"/>
              </a:blip>
              <a:stretch>
                <a:fillRect l="-142455" t="0" r="-142455" b="0"/>
              </a:stretch>
            </a:blipFill>
          </p:spPr>
        </p:sp>
        <p:sp>
          <p:nvSpPr>
            <p:cNvPr name="TextBox 112" id="112"/>
            <p:cNvSpPr txBox="true"/>
            <p:nvPr/>
          </p:nvSpPr>
          <p:spPr>
            <a:xfrm>
              <a:off x="0" y="-57150"/>
              <a:ext cx="975360" cy="1520190"/>
            </a:xfrm>
            <a:prstGeom prst="rect">
              <a:avLst/>
            </a:prstGeom>
          </p:spPr>
          <p:txBody>
            <a:bodyPr anchor="ctr" rtlCol="false" tIns="0" lIns="0" bIns="0" rIns="0"/>
            <a:lstStyle/>
            <a:p>
              <a:pPr algn="ctr">
                <a:lnSpc>
                  <a:spcPts val="3840"/>
                </a:lnSpc>
              </a:pPr>
              <a:r>
                <a:rPr lang="en-US" sz="3200">
                  <a:solidFill>
                    <a:srgbClr val="FFFFFF"/>
                  </a:solidFill>
                  <a:latin typeface="Calibri (MS)"/>
                  <a:ea typeface="Calibri (MS)"/>
                  <a:cs typeface="Calibri (MS)"/>
                  <a:sym typeface="Calibri (MS)"/>
                </a:rPr>
                <a:t>📱</a:t>
              </a:r>
            </a:p>
          </p:txBody>
        </p:sp>
      </p:grpSp>
      <p:grpSp>
        <p:nvGrpSpPr>
          <p:cNvPr name="Group 113" id="113"/>
          <p:cNvGrpSpPr/>
          <p:nvPr/>
        </p:nvGrpSpPr>
        <p:grpSpPr>
          <a:xfrm rot="0">
            <a:off x="10094976" y="8156448"/>
            <a:ext cx="7534656" cy="512064"/>
            <a:chOff x="0" y="0"/>
            <a:chExt cx="10046208" cy="682752"/>
          </a:xfrm>
        </p:grpSpPr>
        <p:sp>
          <p:nvSpPr>
            <p:cNvPr name="Freeform 114" id="114"/>
            <p:cNvSpPr/>
            <p:nvPr/>
          </p:nvSpPr>
          <p:spPr>
            <a:xfrm flipH="false" flipV="false" rot="0">
              <a:off x="0" y="0"/>
              <a:ext cx="10046208" cy="682752"/>
            </a:xfrm>
            <a:custGeom>
              <a:avLst/>
              <a:gdLst/>
              <a:ahLst/>
              <a:cxnLst/>
              <a:rect r="r" b="b" t="t" l="l"/>
              <a:pathLst>
                <a:path h="682752" w="10046208">
                  <a:moveTo>
                    <a:pt x="0" y="0"/>
                  </a:moveTo>
                  <a:lnTo>
                    <a:pt x="10046208" y="0"/>
                  </a:lnTo>
                  <a:lnTo>
                    <a:pt x="10046208" y="682752"/>
                  </a:lnTo>
                  <a:lnTo>
                    <a:pt x="0" y="682752"/>
                  </a:lnTo>
                  <a:close/>
                </a:path>
              </a:pathLst>
            </a:custGeom>
            <a:blipFill>
              <a:blip r:embed="rId2">
                <a:alphaModFix amt="0"/>
              </a:blip>
              <a:stretch>
                <a:fillRect l="0" t="-236708" r="0" b="-236708"/>
              </a:stretch>
            </a:blipFill>
          </p:spPr>
        </p:sp>
        <p:sp>
          <p:nvSpPr>
            <p:cNvPr name="TextBox 115" id="115"/>
            <p:cNvSpPr txBox="true"/>
            <p:nvPr/>
          </p:nvSpPr>
          <p:spPr>
            <a:xfrm>
              <a:off x="0" y="-19050"/>
              <a:ext cx="10046208" cy="701802"/>
            </a:xfrm>
            <a:prstGeom prst="rect">
              <a:avLst/>
            </a:prstGeom>
          </p:spPr>
          <p:txBody>
            <a:bodyPr anchor="ctr" rtlCol="false" tIns="0" lIns="0" bIns="0" rIns="0"/>
            <a:lstStyle/>
            <a:p>
              <a:pPr algn="l">
                <a:lnSpc>
                  <a:spcPts val="2639"/>
                </a:lnSpc>
              </a:pPr>
              <a:r>
                <a:rPr lang="en-US" sz="2199" b="true">
                  <a:solidFill>
                    <a:srgbClr val="FF5757"/>
                  </a:solidFill>
                  <a:latin typeface="Arial Bold"/>
                  <a:ea typeface="Arial Bold"/>
                  <a:cs typeface="Arial Bold"/>
                  <a:sym typeface="Arial Bold"/>
                </a:rPr>
                <a:t>Mobile app</a:t>
              </a:r>
            </a:p>
          </p:txBody>
        </p:sp>
      </p:grpSp>
      <p:grpSp>
        <p:nvGrpSpPr>
          <p:cNvPr name="Group 116" id="116"/>
          <p:cNvGrpSpPr/>
          <p:nvPr/>
        </p:nvGrpSpPr>
        <p:grpSpPr>
          <a:xfrm rot="0">
            <a:off x="10094976" y="8631936"/>
            <a:ext cx="7534656" cy="621792"/>
            <a:chOff x="0" y="0"/>
            <a:chExt cx="10046208" cy="829056"/>
          </a:xfrm>
        </p:grpSpPr>
        <p:sp>
          <p:nvSpPr>
            <p:cNvPr name="Freeform 117" id="117"/>
            <p:cNvSpPr/>
            <p:nvPr/>
          </p:nvSpPr>
          <p:spPr>
            <a:xfrm flipH="false" flipV="false" rot="0">
              <a:off x="0" y="0"/>
              <a:ext cx="10046208" cy="829056"/>
            </a:xfrm>
            <a:custGeom>
              <a:avLst/>
              <a:gdLst/>
              <a:ahLst/>
              <a:cxnLst/>
              <a:rect r="r" b="b" t="t" l="l"/>
              <a:pathLst>
                <a:path h="829056" w="10046208">
                  <a:moveTo>
                    <a:pt x="0" y="0"/>
                  </a:moveTo>
                  <a:lnTo>
                    <a:pt x="10046208" y="0"/>
                  </a:lnTo>
                  <a:lnTo>
                    <a:pt x="10046208" y="829056"/>
                  </a:lnTo>
                  <a:lnTo>
                    <a:pt x="0" y="829056"/>
                  </a:lnTo>
                  <a:close/>
                </a:path>
              </a:pathLst>
            </a:custGeom>
            <a:blipFill>
              <a:blip r:embed="rId2">
                <a:alphaModFix amt="0"/>
              </a:blip>
              <a:stretch>
                <a:fillRect l="0" t="-186112" r="0" b="-186112"/>
              </a:stretch>
            </a:blipFill>
          </p:spPr>
        </p:sp>
        <p:sp>
          <p:nvSpPr>
            <p:cNvPr name="TextBox 118" id="118"/>
            <p:cNvSpPr txBox="true"/>
            <p:nvPr/>
          </p:nvSpPr>
          <p:spPr>
            <a:xfrm>
              <a:off x="0" y="-38100"/>
              <a:ext cx="10046208" cy="867156"/>
            </a:xfrm>
            <a:prstGeom prst="rect">
              <a:avLst/>
            </a:prstGeom>
          </p:spPr>
          <p:txBody>
            <a:bodyPr anchor="ctr" rtlCol="false" tIns="0" lIns="0" bIns="0" rIns="0"/>
            <a:lstStyle/>
            <a:p>
              <a:pPr algn="l">
                <a:lnSpc>
                  <a:spcPts val="2400"/>
                </a:lnSpc>
              </a:pPr>
              <a:r>
                <a:rPr lang="en-US" sz="2000">
                  <a:solidFill>
                    <a:srgbClr val="D9D9D9"/>
                  </a:solidFill>
                  <a:latin typeface="Calibri (MS)"/>
                  <a:ea typeface="Calibri (MS)"/>
                  <a:cs typeface="Calibri (MS)"/>
                  <a:sym typeface="Calibri (MS)"/>
                </a:rPr>
                <a:t>React Native version for on-the-go book scanning and analysis</a:t>
              </a:r>
            </a:p>
          </p:txBody>
        </p:sp>
      </p:grpSp>
      <p:sp>
        <p:nvSpPr>
          <p:cNvPr name="TextBox 119" id="119"/>
          <p:cNvSpPr txBox="true"/>
          <p:nvPr/>
        </p:nvSpPr>
        <p:spPr>
          <a:xfrm rot="0">
            <a:off x="17465040" y="9947529"/>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10140696"/>
            <a:ext cx="18288000" cy="146304"/>
            <a:chOff x="0" y="0"/>
            <a:chExt cx="24384000" cy="195072"/>
          </a:xfrm>
        </p:grpSpPr>
        <p:sp>
          <p:nvSpPr>
            <p:cNvPr name="Freeform 3" id="3"/>
            <p:cNvSpPr/>
            <p:nvPr/>
          </p:nvSpPr>
          <p:spPr>
            <a:xfrm flipH="false" flipV="false" rot="0">
              <a:off x="0" y="0"/>
              <a:ext cx="24384000" cy="195072"/>
            </a:xfrm>
            <a:custGeom>
              <a:avLst/>
              <a:gdLst/>
              <a:ahLst/>
              <a:cxnLst/>
              <a:rect r="r" b="b" t="t" l="l"/>
              <a:pathLst>
                <a:path h="195072" w="24384000">
                  <a:moveTo>
                    <a:pt x="0" y="0"/>
                  </a:moveTo>
                  <a:lnTo>
                    <a:pt x="24384000" y="0"/>
                  </a:lnTo>
                  <a:lnTo>
                    <a:pt x="24384000" y="195072"/>
                  </a:lnTo>
                  <a:lnTo>
                    <a:pt x="0" y="195072"/>
                  </a:lnTo>
                  <a:close/>
                </a:path>
              </a:pathLst>
            </a:custGeom>
            <a:solidFill>
              <a:srgbClr val="FF5757"/>
            </a:solidFill>
          </p:spPr>
        </p:sp>
      </p:grpSp>
      <p:grpSp>
        <p:nvGrpSpPr>
          <p:cNvPr name="Group 4" id="4"/>
          <p:cNvGrpSpPr/>
          <p:nvPr/>
        </p:nvGrpSpPr>
        <p:grpSpPr>
          <a:xfrm rot="0">
            <a:off x="15544800" y="0"/>
            <a:ext cx="2743200" cy="2743200"/>
            <a:chOff x="0" y="0"/>
            <a:chExt cx="3657600" cy="3657600"/>
          </a:xfrm>
        </p:grpSpPr>
        <p:sp>
          <p:nvSpPr>
            <p:cNvPr name="Freeform 5" id="5"/>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solidFill>
              <a:srgbClr val="000000"/>
            </a:solidFill>
          </p:spPr>
        </p:sp>
      </p:grpSp>
      <p:grpSp>
        <p:nvGrpSpPr>
          <p:cNvPr name="Group 6" id="6"/>
          <p:cNvGrpSpPr/>
          <p:nvPr/>
        </p:nvGrpSpPr>
        <p:grpSpPr>
          <a:xfrm rot="0">
            <a:off x="1097280" y="548640"/>
            <a:ext cx="16093440" cy="1828800"/>
            <a:chOff x="0" y="0"/>
            <a:chExt cx="21457920" cy="2438400"/>
          </a:xfrm>
        </p:grpSpPr>
        <p:sp>
          <p:nvSpPr>
            <p:cNvPr name="Freeform 7" id="7"/>
            <p:cNvSpPr/>
            <p:nvPr/>
          </p:nvSpPr>
          <p:spPr>
            <a:xfrm flipH="false" flipV="false" rot="0">
              <a:off x="0" y="0"/>
              <a:ext cx="21457920" cy="2438400"/>
            </a:xfrm>
            <a:custGeom>
              <a:avLst/>
              <a:gdLst/>
              <a:ahLst/>
              <a:cxnLst/>
              <a:rect r="r" b="b" t="t" l="l"/>
              <a:pathLst>
                <a:path h="2438400" w="21457920">
                  <a:moveTo>
                    <a:pt x="0" y="0"/>
                  </a:moveTo>
                  <a:lnTo>
                    <a:pt x="21457920" y="0"/>
                  </a:lnTo>
                  <a:lnTo>
                    <a:pt x="21457920" y="2438400"/>
                  </a:lnTo>
                  <a:lnTo>
                    <a:pt x="0" y="2438400"/>
                  </a:lnTo>
                  <a:close/>
                </a:path>
              </a:pathLst>
            </a:custGeom>
            <a:blipFill>
              <a:blip r:embed="rId2">
                <a:alphaModFix amt="0"/>
              </a:blip>
              <a:stretch>
                <a:fillRect l="0" t="-121468" r="0" b="-121468"/>
              </a:stretch>
            </a:blipFill>
          </p:spPr>
        </p:sp>
        <p:sp>
          <p:nvSpPr>
            <p:cNvPr name="TextBox 8" id="8"/>
            <p:cNvSpPr txBox="true"/>
            <p:nvPr/>
          </p:nvSpPr>
          <p:spPr>
            <a:xfrm>
              <a:off x="0" y="-28575"/>
              <a:ext cx="21457920" cy="2466975"/>
            </a:xfrm>
            <a:prstGeom prst="rect">
              <a:avLst/>
            </a:prstGeom>
          </p:spPr>
          <p:txBody>
            <a:bodyPr anchor="ctr" rtlCol="false" tIns="0" lIns="0" bIns="0" rIns="0"/>
            <a:lstStyle/>
            <a:p>
              <a:pPr algn="ctr">
                <a:lnSpc>
                  <a:spcPts val="12480"/>
                </a:lnSpc>
              </a:pPr>
              <a:r>
                <a:rPr lang="en-US" sz="10400" b="true">
                  <a:solidFill>
                    <a:srgbClr val="FFFFFF"/>
                  </a:solidFill>
                  <a:latin typeface="Arial Bold"/>
                  <a:ea typeface="Arial Bold"/>
                  <a:cs typeface="Arial Bold"/>
                  <a:sym typeface="Arial Bold"/>
                </a:rPr>
                <a:t>Thank You</a:t>
              </a:r>
            </a:p>
          </p:txBody>
        </p:sp>
      </p:grpSp>
      <p:grpSp>
        <p:nvGrpSpPr>
          <p:cNvPr name="Group 9" id="9"/>
          <p:cNvGrpSpPr/>
          <p:nvPr/>
        </p:nvGrpSpPr>
        <p:grpSpPr>
          <a:xfrm rot="0">
            <a:off x="4572000" y="2340864"/>
            <a:ext cx="9144000" cy="128016"/>
            <a:chOff x="0" y="0"/>
            <a:chExt cx="12192000" cy="170688"/>
          </a:xfrm>
        </p:grpSpPr>
        <p:sp>
          <p:nvSpPr>
            <p:cNvPr name="Freeform 10" id="10"/>
            <p:cNvSpPr/>
            <p:nvPr/>
          </p:nvSpPr>
          <p:spPr>
            <a:xfrm flipH="false" flipV="false" rot="0">
              <a:off x="0" y="0"/>
              <a:ext cx="12192000" cy="170688"/>
            </a:xfrm>
            <a:custGeom>
              <a:avLst/>
              <a:gdLst/>
              <a:ahLst/>
              <a:cxnLst/>
              <a:rect r="r" b="b" t="t" l="l"/>
              <a:pathLst>
                <a:path h="170688" w="12192000">
                  <a:moveTo>
                    <a:pt x="0" y="0"/>
                  </a:moveTo>
                  <a:lnTo>
                    <a:pt x="12192000" y="0"/>
                  </a:lnTo>
                  <a:lnTo>
                    <a:pt x="12192000" y="170688"/>
                  </a:lnTo>
                  <a:lnTo>
                    <a:pt x="0" y="170688"/>
                  </a:lnTo>
                  <a:close/>
                </a:path>
              </a:pathLst>
            </a:custGeom>
            <a:solidFill>
              <a:srgbClr val="D63C3C"/>
            </a:solidFill>
          </p:spPr>
        </p:sp>
      </p:grpSp>
      <p:grpSp>
        <p:nvGrpSpPr>
          <p:cNvPr name="Group 11" id="11"/>
          <p:cNvGrpSpPr/>
          <p:nvPr/>
        </p:nvGrpSpPr>
        <p:grpSpPr>
          <a:xfrm rot="0">
            <a:off x="901703" y="2639063"/>
            <a:ext cx="16484603" cy="3957323"/>
            <a:chOff x="0" y="0"/>
            <a:chExt cx="21979471" cy="5276431"/>
          </a:xfrm>
        </p:grpSpPr>
        <p:sp>
          <p:nvSpPr>
            <p:cNvPr name="Freeform 12" id="12"/>
            <p:cNvSpPr/>
            <p:nvPr/>
          </p:nvSpPr>
          <p:spPr>
            <a:xfrm flipH="false" flipV="false" rot="0">
              <a:off x="0" y="0"/>
              <a:ext cx="21979510" cy="5276469"/>
            </a:xfrm>
            <a:custGeom>
              <a:avLst/>
              <a:gdLst/>
              <a:ahLst/>
              <a:cxnLst/>
              <a:rect r="r" b="b" t="t" l="l"/>
              <a:pathLst>
                <a:path h="5276469" w="21979510">
                  <a:moveTo>
                    <a:pt x="0" y="0"/>
                  </a:moveTo>
                  <a:lnTo>
                    <a:pt x="21979510" y="0"/>
                  </a:lnTo>
                  <a:lnTo>
                    <a:pt x="21979510" y="5276469"/>
                  </a:lnTo>
                  <a:lnTo>
                    <a:pt x="0" y="5276469"/>
                  </a:lnTo>
                  <a:close/>
                </a:path>
              </a:pathLst>
            </a:custGeom>
            <a:solidFill>
              <a:srgbClr val="0F0F11"/>
            </a:solidFill>
            <a:ln w="25400" cap="sq">
              <a:solidFill>
                <a:srgbClr val="C94545"/>
              </a:solidFill>
              <a:prstDash val="solid"/>
              <a:miter/>
            </a:ln>
          </p:spPr>
        </p:sp>
      </p:grpSp>
      <p:grpSp>
        <p:nvGrpSpPr>
          <p:cNvPr name="Group 13" id="13"/>
          <p:cNvGrpSpPr/>
          <p:nvPr/>
        </p:nvGrpSpPr>
        <p:grpSpPr>
          <a:xfrm rot="0">
            <a:off x="1188720" y="2779776"/>
            <a:ext cx="15910560" cy="640080"/>
            <a:chOff x="0" y="0"/>
            <a:chExt cx="21214080" cy="853440"/>
          </a:xfrm>
        </p:grpSpPr>
        <p:sp>
          <p:nvSpPr>
            <p:cNvPr name="Freeform 14" id="14"/>
            <p:cNvSpPr/>
            <p:nvPr/>
          </p:nvSpPr>
          <p:spPr>
            <a:xfrm flipH="false" flipV="false" rot="0">
              <a:off x="0" y="0"/>
              <a:ext cx="21214080" cy="853440"/>
            </a:xfrm>
            <a:custGeom>
              <a:avLst/>
              <a:gdLst/>
              <a:ahLst/>
              <a:cxnLst/>
              <a:rect r="r" b="b" t="t" l="l"/>
              <a:pathLst>
                <a:path h="853440" w="21214080">
                  <a:moveTo>
                    <a:pt x="0" y="0"/>
                  </a:moveTo>
                  <a:lnTo>
                    <a:pt x="21214080" y="0"/>
                  </a:lnTo>
                  <a:lnTo>
                    <a:pt x="21214080" y="853440"/>
                  </a:lnTo>
                  <a:lnTo>
                    <a:pt x="0" y="853440"/>
                  </a:lnTo>
                  <a:close/>
                </a:path>
              </a:pathLst>
            </a:custGeom>
            <a:blipFill>
              <a:blip r:embed="rId2">
                <a:alphaModFix amt="0"/>
              </a:blip>
              <a:stretch>
                <a:fillRect l="0" t="-434342" r="0" b="-434342"/>
              </a:stretch>
            </a:blipFill>
          </p:spPr>
        </p:sp>
        <p:sp>
          <p:nvSpPr>
            <p:cNvPr name="TextBox 15" id="15"/>
            <p:cNvSpPr txBox="true"/>
            <p:nvPr/>
          </p:nvSpPr>
          <p:spPr>
            <a:xfrm>
              <a:off x="0" y="-19050"/>
              <a:ext cx="21214080" cy="872490"/>
            </a:xfrm>
            <a:prstGeom prst="rect">
              <a:avLst/>
            </a:prstGeom>
          </p:spPr>
          <p:txBody>
            <a:bodyPr anchor="ctr" rtlCol="false" tIns="0" lIns="0" bIns="0" rIns="0"/>
            <a:lstStyle/>
            <a:p>
              <a:pPr algn="l">
                <a:lnSpc>
                  <a:spcPts val="3359"/>
                </a:lnSpc>
              </a:pPr>
              <a:r>
                <a:rPr lang="en-US" sz="2799" b="true">
                  <a:solidFill>
                    <a:srgbClr val="FF5757"/>
                  </a:solidFill>
                  <a:latin typeface="Arial Bold"/>
                  <a:ea typeface="Arial Bold"/>
                  <a:cs typeface="Arial Bold"/>
                  <a:sym typeface="Arial Bold"/>
                </a:rPr>
                <a:t>What We Built</a:t>
              </a:r>
            </a:p>
          </p:txBody>
        </p:sp>
      </p:grpSp>
      <p:grpSp>
        <p:nvGrpSpPr>
          <p:cNvPr name="Group 16" id="16"/>
          <p:cNvGrpSpPr/>
          <p:nvPr/>
        </p:nvGrpSpPr>
        <p:grpSpPr>
          <a:xfrm rot="0">
            <a:off x="1188720" y="3438144"/>
            <a:ext cx="15910560" cy="3017520"/>
            <a:chOff x="0" y="0"/>
            <a:chExt cx="21214080" cy="4023360"/>
          </a:xfrm>
        </p:grpSpPr>
        <p:sp>
          <p:nvSpPr>
            <p:cNvPr name="Freeform 17" id="17"/>
            <p:cNvSpPr/>
            <p:nvPr/>
          </p:nvSpPr>
          <p:spPr>
            <a:xfrm flipH="false" flipV="false" rot="0">
              <a:off x="0" y="0"/>
              <a:ext cx="21214080" cy="4023360"/>
            </a:xfrm>
            <a:custGeom>
              <a:avLst/>
              <a:gdLst/>
              <a:ahLst/>
              <a:cxnLst/>
              <a:rect r="r" b="b" t="t" l="l"/>
              <a:pathLst>
                <a:path h="4023360" w="21214080">
                  <a:moveTo>
                    <a:pt x="0" y="0"/>
                  </a:moveTo>
                  <a:lnTo>
                    <a:pt x="21214080" y="0"/>
                  </a:lnTo>
                  <a:lnTo>
                    <a:pt x="21214080" y="4023360"/>
                  </a:lnTo>
                  <a:lnTo>
                    <a:pt x="0" y="4023360"/>
                  </a:lnTo>
                  <a:close/>
                </a:path>
              </a:pathLst>
            </a:custGeom>
            <a:blipFill>
              <a:blip r:embed="rId2">
                <a:alphaModFix amt="0"/>
              </a:blip>
              <a:stretch>
                <a:fillRect l="0" t="-52739" r="0" b="-52739"/>
              </a:stretch>
            </a:blipFill>
          </p:spPr>
        </p:sp>
        <p:sp>
          <p:nvSpPr>
            <p:cNvPr name="TextBox 18" id="18"/>
            <p:cNvSpPr txBox="true"/>
            <p:nvPr/>
          </p:nvSpPr>
          <p:spPr>
            <a:xfrm>
              <a:off x="0" y="-47625"/>
              <a:ext cx="21214080" cy="4070985"/>
            </a:xfrm>
            <a:prstGeom prst="rect">
              <a:avLst/>
            </a:prstGeom>
          </p:spPr>
          <p:txBody>
            <a:bodyPr anchor="ctr" rtlCol="false" tIns="0" lIns="0" bIns="0" rIns="0"/>
            <a:lstStyle/>
            <a:p>
              <a:pPr algn="l">
                <a:lnSpc>
                  <a:spcPts val="2639"/>
                </a:lnSpc>
              </a:pPr>
              <a:r>
                <a:rPr lang="en-US" sz="2199">
                  <a:solidFill>
                    <a:srgbClr val="E6E6E6"/>
                  </a:solidFill>
                  <a:latin typeface="Calibri (MS)"/>
                  <a:ea typeface="Calibri (MS)"/>
                  <a:cs typeface="Calibri (MS)"/>
                  <a:sym typeface="Calibri (MS)"/>
                </a:rPr>
                <a:t>LitMind is a complete literary intelligence system that brings together classical NLP (spaCy, CoreNLP) and modern LLMs (Gemini API) to make book analysis genuinely useful. It automatically identifies characters and their relationships, detects the protagonist, summarizes the content, classifies genre, evaluates writing style, and recommends similar books — all from a single PDF upload.</a:t>
              </a:r>
            </a:p>
            <a:p>
              <a:pPr algn="l">
                <a:lnSpc>
                  <a:spcPts val="2639"/>
                </a:lnSpc>
              </a:pPr>
            </a:p>
            <a:p>
              <a:pPr algn="l">
                <a:lnSpc>
                  <a:spcPts val="2639"/>
                </a:lnSpc>
              </a:pPr>
              <a:r>
                <a:rPr lang="en-US" sz="2199">
                  <a:solidFill>
                    <a:srgbClr val="E6E6E6"/>
                  </a:solidFill>
                  <a:latin typeface="Calibri (MS)"/>
                  <a:ea typeface="Calibri (MS)"/>
                  <a:cs typeface="Calibri (MS)"/>
                  <a:sym typeface="Calibri (MS)"/>
                </a:rPr>
                <a:t>We achieved 93.4% F1 on character extraction, which we're fairly proud of. The system is built to be modular — each analysis component can be improved or replaced independently as better models become available.</a:t>
              </a:r>
            </a:p>
          </p:txBody>
        </p:sp>
      </p:grpSp>
      <p:grpSp>
        <p:nvGrpSpPr>
          <p:cNvPr name="Group 19" id="19"/>
          <p:cNvGrpSpPr/>
          <p:nvPr/>
        </p:nvGrpSpPr>
        <p:grpSpPr>
          <a:xfrm rot="0">
            <a:off x="895350" y="6784086"/>
            <a:ext cx="5158740" cy="1720596"/>
            <a:chOff x="0" y="0"/>
            <a:chExt cx="6878320" cy="2294128"/>
          </a:xfrm>
        </p:grpSpPr>
        <p:sp>
          <p:nvSpPr>
            <p:cNvPr name="Freeform 20" id="20"/>
            <p:cNvSpPr/>
            <p:nvPr/>
          </p:nvSpPr>
          <p:spPr>
            <a:xfrm flipH="false" flipV="false" rot="0">
              <a:off x="0" y="0"/>
              <a:ext cx="6878320" cy="2294128"/>
            </a:xfrm>
            <a:custGeom>
              <a:avLst/>
              <a:gdLst/>
              <a:ahLst/>
              <a:cxnLst/>
              <a:rect r="r" b="b" t="t" l="l"/>
              <a:pathLst>
                <a:path h="2294128" w="6878320">
                  <a:moveTo>
                    <a:pt x="0" y="0"/>
                  </a:moveTo>
                  <a:lnTo>
                    <a:pt x="6878320" y="0"/>
                  </a:lnTo>
                  <a:lnTo>
                    <a:pt x="6878320" y="2294128"/>
                  </a:lnTo>
                  <a:lnTo>
                    <a:pt x="0" y="2294128"/>
                  </a:lnTo>
                  <a:close/>
                </a:path>
              </a:pathLst>
            </a:custGeom>
            <a:solidFill>
              <a:srgbClr val="0F0F11"/>
            </a:solidFill>
            <a:ln w="38100" cap="sq">
              <a:solidFill>
                <a:srgbClr val="FF5757"/>
              </a:solidFill>
              <a:prstDash val="solid"/>
              <a:miter/>
            </a:ln>
          </p:spPr>
        </p:sp>
      </p:grpSp>
      <p:grpSp>
        <p:nvGrpSpPr>
          <p:cNvPr name="Group 21" id="21"/>
          <p:cNvGrpSpPr/>
          <p:nvPr/>
        </p:nvGrpSpPr>
        <p:grpSpPr>
          <a:xfrm rot="0">
            <a:off x="1097280" y="6858000"/>
            <a:ext cx="4754880" cy="804672"/>
            <a:chOff x="0" y="0"/>
            <a:chExt cx="6339840" cy="1072896"/>
          </a:xfrm>
        </p:grpSpPr>
        <p:sp>
          <p:nvSpPr>
            <p:cNvPr name="Freeform 22" id="22"/>
            <p:cNvSpPr/>
            <p:nvPr/>
          </p:nvSpPr>
          <p:spPr>
            <a:xfrm flipH="false" flipV="false" rot="0">
              <a:off x="0" y="0"/>
              <a:ext cx="6339840" cy="1072896"/>
            </a:xfrm>
            <a:custGeom>
              <a:avLst/>
              <a:gdLst/>
              <a:ahLst/>
              <a:cxnLst/>
              <a:rect r="r" b="b" t="t" l="l"/>
              <a:pathLst>
                <a:path h="1072896" w="6339840">
                  <a:moveTo>
                    <a:pt x="0" y="0"/>
                  </a:moveTo>
                  <a:lnTo>
                    <a:pt x="6339840" y="0"/>
                  </a:lnTo>
                  <a:lnTo>
                    <a:pt x="6339840" y="1072896"/>
                  </a:lnTo>
                  <a:lnTo>
                    <a:pt x="0" y="1072896"/>
                  </a:lnTo>
                  <a:close/>
                </a:path>
              </a:pathLst>
            </a:custGeom>
            <a:blipFill>
              <a:blip r:embed="rId2">
                <a:alphaModFix amt="0"/>
              </a:blip>
              <a:stretch>
                <a:fillRect l="0" t="-65138" r="0" b="-65138"/>
              </a:stretch>
            </a:blipFill>
          </p:spPr>
        </p:sp>
        <p:sp>
          <p:nvSpPr>
            <p:cNvPr name="TextBox 23" id="23"/>
            <p:cNvSpPr txBox="true"/>
            <p:nvPr/>
          </p:nvSpPr>
          <p:spPr>
            <a:xfrm>
              <a:off x="0" y="-38100"/>
              <a:ext cx="6339840" cy="1110996"/>
            </a:xfrm>
            <a:prstGeom prst="rect">
              <a:avLst/>
            </a:prstGeom>
          </p:spPr>
          <p:txBody>
            <a:bodyPr anchor="ctr" rtlCol="false" tIns="0" lIns="0" bIns="0" rIns="0"/>
            <a:lstStyle/>
            <a:p>
              <a:pPr algn="ctr">
                <a:lnSpc>
                  <a:spcPts val="6720"/>
                </a:lnSpc>
              </a:pPr>
              <a:r>
                <a:rPr lang="en-US" sz="5600" b="true">
                  <a:solidFill>
                    <a:srgbClr val="FF5757"/>
                  </a:solidFill>
                  <a:latin typeface="Arial Bold"/>
                  <a:ea typeface="Arial Bold"/>
                  <a:cs typeface="Arial Bold"/>
                  <a:sym typeface="Arial Bold"/>
                </a:rPr>
                <a:t>93.4%</a:t>
              </a:r>
            </a:p>
          </p:txBody>
        </p:sp>
      </p:grpSp>
      <p:grpSp>
        <p:nvGrpSpPr>
          <p:cNvPr name="Group 24" id="24"/>
          <p:cNvGrpSpPr/>
          <p:nvPr/>
        </p:nvGrpSpPr>
        <p:grpSpPr>
          <a:xfrm rot="0">
            <a:off x="1097280" y="7644384"/>
            <a:ext cx="4754880" cy="768096"/>
            <a:chOff x="0" y="0"/>
            <a:chExt cx="6339840" cy="1024128"/>
          </a:xfrm>
        </p:grpSpPr>
        <p:sp>
          <p:nvSpPr>
            <p:cNvPr name="Freeform 25" id="25"/>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2">
                <a:alphaModFix amt="0"/>
              </a:blip>
              <a:stretch>
                <a:fillRect l="0" t="-70621" r="0" b="-70621"/>
              </a:stretch>
            </a:blipFill>
          </p:spPr>
        </p:sp>
        <p:sp>
          <p:nvSpPr>
            <p:cNvPr name="TextBox 26" id="26"/>
            <p:cNvSpPr txBox="true"/>
            <p:nvPr/>
          </p:nvSpPr>
          <p:spPr>
            <a:xfrm>
              <a:off x="0" y="-38100"/>
              <a:ext cx="6339840" cy="1062228"/>
            </a:xfrm>
            <a:prstGeom prst="rect">
              <a:avLst/>
            </a:prstGeom>
          </p:spPr>
          <p:txBody>
            <a:bodyPr anchor="ctr" rtlCol="false" tIns="0" lIns="0" bIns="0" rIns="0"/>
            <a:lstStyle/>
            <a:p>
              <a:pPr algn="ctr">
                <a:lnSpc>
                  <a:spcPts val="2400"/>
                </a:lnSpc>
              </a:pPr>
              <a:r>
                <a:rPr lang="en-US" sz="2000">
                  <a:solidFill>
                    <a:srgbClr val="BDBDBD"/>
                  </a:solidFill>
                  <a:latin typeface="Calibri (MS)"/>
                  <a:ea typeface="Calibri (MS)"/>
                  <a:cs typeface="Calibri (MS)"/>
                  <a:sym typeface="Calibri (MS)"/>
                </a:rPr>
                <a:t>F1 Score</a:t>
              </a:r>
            </a:p>
            <a:p>
              <a:pPr algn="ctr">
                <a:lnSpc>
                  <a:spcPts val="2400"/>
                </a:lnSpc>
              </a:pPr>
              <a:r>
                <a:rPr lang="en-US" sz="2000">
                  <a:solidFill>
                    <a:srgbClr val="BDBDBD"/>
                  </a:solidFill>
                  <a:latin typeface="Calibri (MS)"/>
                  <a:ea typeface="Calibri (MS)"/>
                  <a:cs typeface="Calibri (MS)"/>
                  <a:sym typeface="Calibri (MS)"/>
                </a:rPr>
                <a:t>(best model)</a:t>
              </a:r>
            </a:p>
          </p:txBody>
        </p:sp>
      </p:grpSp>
      <p:grpSp>
        <p:nvGrpSpPr>
          <p:cNvPr name="Group 27" id="27"/>
          <p:cNvGrpSpPr/>
          <p:nvPr/>
        </p:nvGrpSpPr>
        <p:grpSpPr>
          <a:xfrm rot="0">
            <a:off x="6381750" y="6784086"/>
            <a:ext cx="5158740" cy="1720596"/>
            <a:chOff x="0" y="0"/>
            <a:chExt cx="6878320" cy="2294128"/>
          </a:xfrm>
        </p:grpSpPr>
        <p:sp>
          <p:nvSpPr>
            <p:cNvPr name="Freeform 28" id="28"/>
            <p:cNvSpPr/>
            <p:nvPr/>
          </p:nvSpPr>
          <p:spPr>
            <a:xfrm flipH="false" flipV="false" rot="0">
              <a:off x="0" y="0"/>
              <a:ext cx="6878320" cy="2294128"/>
            </a:xfrm>
            <a:custGeom>
              <a:avLst/>
              <a:gdLst/>
              <a:ahLst/>
              <a:cxnLst/>
              <a:rect r="r" b="b" t="t" l="l"/>
              <a:pathLst>
                <a:path h="2294128" w="6878320">
                  <a:moveTo>
                    <a:pt x="0" y="0"/>
                  </a:moveTo>
                  <a:lnTo>
                    <a:pt x="6878320" y="0"/>
                  </a:lnTo>
                  <a:lnTo>
                    <a:pt x="6878320" y="2294128"/>
                  </a:lnTo>
                  <a:lnTo>
                    <a:pt x="0" y="2294128"/>
                  </a:lnTo>
                  <a:close/>
                </a:path>
              </a:pathLst>
            </a:custGeom>
            <a:solidFill>
              <a:srgbClr val="0F0F11"/>
            </a:solidFill>
            <a:ln w="38100" cap="sq">
              <a:solidFill>
                <a:srgbClr val="C94545"/>
              </a:solidFill>
              <a:prstDash val="solid"/>
              <a:miter/>
            </a:ln>
          </p:spPr>
        </p:sp>
      </p:grpSp>
      <p:grpSp>
        <p:nvGrpSpPr>
          <p:cNvPr name="Group 29" id="29"/>
          <p:cNvGrpSpPr/>
          <p:nvPr/>
        </p:nvGrpSpPr>
        <p:grpSpPr>
          <a:xfrm rot="0">
            <a:off x="6583680" y="6858000"/>
            <a:ext cx="4754880" cy="804672"/>
            <a:chOff x="0" y="0"/>
            <a:chExt cx="6339840" cy="1072896"/>
          </a:xfrm>
        </p:grpSpPr>
        <p:sp>
          <p:nvSpPr>
            <p:cNvPr name="Freeform 30" id="30"/>
            <p:cNvSpPr/>
            <p:nvPr/>
          </p:nvSpPr>
          <p:spPr>
            <a:xfrm flipH="false" flipV="false" rot="0">
              <a:off x="0" y="0"/>
              <a:ext cx="6339840" cy="1072896"/>
            </a:xfrm>
            <a:custGeom>
              <a:avLst/>
              <a:gdLst/>
              <a:ahLst/>
              <a:cxnLst/>
              <a:rect r="r" b="b" t="t" l="l"/>
              <a:pathLst>
                <a:path h="1072896" w="6339840">
                  <a:moveTo>
                    <a:pt x="0" y="0"/>
                  </a:moveTo>
                  <a:lnTo>
                    <a:pt x="6339840" y="0"/>
                  </a:lnTo>
                  <a:lnTo>
                    <a:pt x="6339840" y="1072896"/>
                  </a:lnTo>
                  <a:lnTo>
                    <a:pt x="0" y="1072896"/>
                  </a:lnTo>
                  <a:close/>
                </a:path>
              </a:pathLst>
            </a:custGeom>
            <a:blipFill>
              <a:blip r:embed="rId2">
                <a:alphaModFix amt="0"/>
              </a:blip>
              <a:stretch>
                <a:fillRect l="0" t="-65138" r="0" b="-65138"/>
              </a:stretch>
            </a:blipFill>
          </p:spPr>
        </p:sp>
        <p:sp>
          <p:nvSpPr>
            <p:cNvPr name="TextBox 31" id="31"/>
            <p:cNvSpPr txBox="true"/>
            <p:nvPr/>
          </p:nvSpPr>
          <p:spPr>
            <a:xfrm>
              <a:off x="0" y="-38100"/>
              <a:ext cx="6339840" cy="1110996"/>
            </a:xfrm>
            <a:prstGeom prst="rect">
              <a:avLst/>
            </a:prstGeom>
          </p:spPr>
          <p:txBody>
            <a:bodyPr anchor="ctr" rtlCol="false" tIns="0" lIns="0" bIns="0" rIns="0"/>
            <a:lstStyle/>
            <a:p>
              <a:pPr algn="ctr">
                <a:lnSpc>
                  <a:spcPts val="6720"/>
                </a:lnSpc>
              </a:pPr>
              <a:r>
                <a:rPr lang="en-US" sz="5600" b="true">
                  <a:solidFill>
                    <a:srgbClr val="FF5757"/>
                  </a:solidFill>
                  <a:latin typeface="Arial Bold"/>
                  <a:ea typeface="Arial Bold"/>
                  <a:cs typeface="Arial Bold"/>
                  <a:sym typeface="Arial Bold"/>
                </a:rPr>
                <a:t>6+</a:t>
              </a:r>
            </a:p>
          </p:txBody>
        </p:sp>
      </p:grpSp>
      <p:grpSp>
        <p:nvGrpSpPr>
          <p:cNvPr name="Group 32" id="32"/>
          <p:cNvGrpSpPr/>
          <p:nvPr/>
        </p:nvGrpSpPr>
        <p:grpSpPr>
          <a:xfrm rot="0">
            <a:off x="6583680" y="7644384"/>
            <a:ext cx="4754880" cy="768096"/>
            <a:chOff x="0" y="0"/>
            <a:chExt cx="6339840" cy="1024128"/>
          </a:xfrm>
        </p:grpSpPr>
        <p:sp>
          <p:nvSpPr>
            <p:cNvPr name="Freeform 33" id="33"/>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2">
                <a:alphaModFix amt="0"/>
              </a:blip>
              <a:stretch>
                <a:fillRect l="0" t="-70621" r="0" b="-70621"/>
              </a:stretch>
            </a:blipFill>
          </p:spPr>
        </p:sp>
        <p:sp>
          <p:nvSpPr>
            <p:cNvPr name="TextBox 34" id="34"/>
            <p:cNvSpPr txBox="true"/>
            <p:nvPr/>
          </p:nvSpPr>
          <p:spPr>
            <a:xfrm>
              <a:off x="0" y="-38100"/>
              <a:ext cx="6339840" cy="1062228"/>
            </a:xfrm>
            <a:prstGeom prst="rect">
              <a:avLst/>
            </a:prstGeom>
          </p:spPr>
          <p:txBody>
            <a:bodyPr anchor="ctr" rtlCol="false" tIns="0" lIns="0" bIns="0" rIns="0"/>
            <a:lstStyle/>
            <a:p>
              <a:pPr algn="ctr">
                <a:lnSpc>
                  <a:spcPts val="2400"/>
                </a:lnSpc>
              </a:pPr>
              <a:r>
                <a:rPr lang="en-US" sz="2000">
                  <a:solidFill>
                    <a:srgbClr val="BDBDBD"/>
                  </a:solidFill>
                  <a:latin typeface="Calibri (MS)"/>
                  <a:ea typeface="Calibri (MS)"/>
                  <a:cs typeface="Calibri (MS)"/>
                  <a:sym typeface="Calibri (MS)"/>
                </a:rPr>
                <a:t>analysis</a:t>
              </a:r>
            </a:p>
            <a:p>
              <a:pPr algn="ctr">
                <a:lnSpc>
                  <a:spcPts val="2400"/>
                </a:lnSpc>
              </a:pPr>
              <a:r>
                <a:rPr lang="en-US" sz="2000">
                  <a:solidFill>
                    <a:srgbClr val="BDBDBD"/>
                  </a:solidFill>
                  <a:latin typeface="Calibri (MS)"/>
                  <a:ea typeface="Calibri (MS)"/>
                  <a:cs typeface="Calibri (MS)"/>
                  <a:sym typeface="Calibri (MS)"/>
                </a:rPr>
                <a:t>modules</a:t>
              </a:r>
            </a:p>
          </p:txBody>
        </p:sp>
      </p:grpSp>
      <p:grpSp>
        <p:nvGrpSpPr>
          <p:cNvPr name="Group 35" id="35"/>
          <p:cNvGrpSpPr/>
          <p:nvPr/>
        </p:nvGrpSpPr>
        <p:grpSpPr>
          <a:xfrm rot="0">
            <a:off x="11868150" y="6784086"/>
            <a:ext cx="5158740" cy="1720596"/>
            <a:chOff x="0" y="0"/>
            <a:chExt cx="6878320" cy="2294128"/>
          </a:xfrm>
        </p:grpSpPr>
        <p:sp>
          <p:nvSpPr>
            <p:cNvPr name="Freeform 36" id="36"/>
            <p:cNvSpPr/>
            <p:nvPr/>
          </p:nvSpPr>
          <p:spPr>
            <a:xfrm flipH="false" flipV="false" rot="0">
              <a:off x="0" y="0"/>
              <a:ext cx="6878320" cy="2294128"/>
            </a:xfrm>
            <a:custGeom>
              <a:avLst/>
              <a:gdLst/>
              <a:ahLst/>
              <a:cxnLst/>
              <a:rect r="r" b="b" t="t" l="l"/>
              <a:pathLst>
                <a:path h="2294128" w="6878320">
                  <a:moveTo>
                    <a:pt x="0" y="0"/>
                  </a:moveTo>
                  <a:lnTo>
                    <a:pt x="6878320" y="0"/>
                  </a:lnTo>
                  <a:lnTo>
                    <a:pt x="6878320" y="2294128"/>
                  </a:lnTo>
                  <a:lnTo>
                    <a:pt x="0" y="2294128"/>
                  </a:lnTo>
                  <a:close/>
                </a:path>
              </a:pathLst>
            </a:custGeom>
            <a:solidFill>
              <a:srgbClr val="0F0F11"/>
            </a:solidFill>
            <a:ln w="38100" cap="sq">
              <a:solidFill>
                <a:srgbClr val="8F2A2A"/>
              </a:solidFill>
              <a:prstDash val="solid"/>
              <a:miter/>
            </a:ln>
          </p:spPr>
        </p:sp>
      </p:grpSp>
      <p:grpSp>
        <p:nvGrpSpPr>
          <p:cNvPr name="Group 37" id="37"/>
          <p:cNvGrpSpPr/>
          <p:nvPr/>
        </p:nvGrpSpPr>
        <p:grpSpPr>
          <a:xfrm rot="0">
            <a:off x="12070080" y="6858000"/>
            <a:ext cx="4754880" cy="804672"/>
            <a:chOff x="0" y="0"/>
            <a:chExt cx="6339840" cy="1072896"/>
          </a:xfrm>
        </p:grpSpPr>
        <p:sp>
          <p:nvSpPr>
            <p:cNvPr name="Freeform 38" id="38"/>
            <p:cNvSpPr/>
            <p:nvPr/>
          </p:nvSpPr>
          <p:spPr>
            <a:xfrm flipH="false" flipV="false" rot="0">
              <a:off x="0" y="0"/>
              <a:ext cx="6339840" cy="1072896"/>
            </a:xfrm>
            <a:custGeom>
              <a:avLst/>
              <a:gdLst/>
              <a:ahLst/>
              <a:cxnLst/>
              <a:rect r="r" b="b" t="t" l="l"/>
              <a:pathLst>
                <a:path h="1072896" w="6339840">
                  <a:moveTo>
                    <a:pt x="0" y="0"/>
                  </a:moveTo>
                  <a:lnTo>
                    <a:pt x="6339840" y="0"/>
                  </a:lnTo>
                  <a:lnTo>
                    <a:pt x="6339840" y="1072896"/>
                  </a:lnTo>
                  <a:lnTo>
                    <a:pt x="0" y="1072896"/>
                  </a:lnTo>
                  <a:close/>
                </a:path>
              </a:pathLst>
            </a:custGeom>
            <a:blipFill>
              <a:blip r:embed="rId2">
                <a:alphaModFix amt="0"/>
              </a:blip>
              <a:stretch>
                <a:fillRect l="0" t="-65138" r="0" b="-65138"/>
              </a:stretch>
            </a:blipFill>
          </p:spPr>
        </p:sp>
        <p:sp>
          <p:nvSpPr>
            <p:cNvPr name="TextBox 39" id="39"/>
            <p:cNvSpPr txBox="true"/>
            <p:nvPr/>
          </p:nvSpPr>
          <p:spPr>
            <a:xfrm>
              <a:off x="0" y="-38100"/>
              <a:ext cx="6339840" cy="1110996"/>
            </a:xfrm>
            <a:prstGeom prst="rect">
              <a:avLst/>
            </a:prstGeom>
          </p:spPr>
          <p:txBody>
            <a:bodyPr anchor="ctr" rtlCol="false" tIns="0" lIns="0" bIns="0" rIns="0"/>
            <a:lstStyle/>
            <a:p>
              <a:pPr algn="ctr">
                <a:lnSpc>
                  <a:spcPts val="6720"/>
                </a:lnSpc>
              </a:pPr>
              <a:r>
                <a:rPr lang="en-US" sz="5600" b="true">
                  <a:solidFill>
                    <a:srgbClr val="FF8A8A"/>
                  </a:solidFill>
                  <a:latin typeface="Arial Bold"/>
                  <a:ea typeface="Arial Bold"/>
                  <a:cs typeface="Arial Bold"/>
                  <a:sym typeface="Arial Bold"/>
                </a:rPr>
                <a:t>30</a:t>
              </a:r>
            </a:p>
          </p:txBody>
        </p:sp>
      </p:grpSp>
      <p:grpSp>
        <p:nvGrpSpPr>
          <p:cNvPr name="Group 40" id="40"/>
          <p:cNvGrpSpPr/>
          <p:nvPr/>
        </p:nvGrpSpPr>
        <p:grpSpPr>
          <a:xfrm rot="0">
            <a:off x="12070080" y="7644384"/>
            <a:ext cx="4754880" cy="768096"/>
            <a:chOff x="0" y="0"/>
            <a:chExt cx="6339840" cy="1024128"/>
          </a:xfrm>
        </p:grpSpPr>
        <p:sp>
          <p:nvSpPr>
            <p:cNvPr name="Freeform 41" id="41"/>
            <p:cNvSpPr/>
            <p:nvPr/>
          </p:nvSpPr>
          <p:spPr>
            <a:xfrm flipH="false" flipV="false" rot="0">
              <a:off x="0" y="0"/>
              <a:ext cx="6339840" cy="1024128"/>
            </a:xfrm>
            <a:custGeom>
              <a:avLst/>
              <a:gdLst/>
              <a:ahLst/>
              <a:cxnLst/>
              <a:rect r="r" b="b" t="t" l="l"/>
              <a:pathLst>
                <a:path h="1024128" w="6339840">
                  <a:moveTo>
                    <a:pt x="0" y="0"/>
                  </a:moveTo>
                  <a:lnTo>
                    <a:pt x="6339840" y="0"/>
                  </a:lnTo>
                  <a:lnTo>
                    <a:pt x="6339840" y="1024128"/>
                  </a:lnTo>
                  <a:lnTo>
                    <a:pt x="0" y="1024128"/>
                  </a:lnTo>
                  <a:close/>
                </a:path>
              </a:pathLst>
            </a:custGeom>
            <a:blipFill>
              <a:blip r:embed="rId2">
                <a:alphaModFix amt="0"/>
              </a:blip>
              <a:stretch>
                <a:fillRect l="0" t="-70621" r="0" b="-70621"/>
              </a:stretch>
            </a:blipFill>
          </p:spPr>
        </p:sp>
        <p:sp>
          <p:nvSpPr>
            <p:cNvPr name="TextBox 42" id="42"/>
            <p:cNvSpPr txBox="true"/>
            <p:nvPr/>
          </p:nvSpPr>
          <p:spPr>
            <a:xfrm>
              <a:off x="0" y="-38100"/>
              <a:ext cx="6339840" cy="1062228"/>
            </a:xfrm>
            <a:prstGeom prst="rect">
              <a:avLst/>
            </a:prstGeom>
          </p:spPr>
          <p:txBody>
            <a:bodyPr anchor="ctr" rtlCol="false" tIns="0" lIns="0" bIns="0" rIns="0"/>
            <a:lstStyle/>
            <a:p>
              <a:pPr algn="ctr">
                <a:lnSpc>
                  <a:spcPts val="2400"/>
                </a:lnSpc>
              </a:pPr>
              <a:r>
                <a:rPr lang="en-US" sz="2000">
                  <a:solidFill>
                    <a:srgbClr val="BDBDBD"/>
                  </a:solidFill>
                  <a:latin typeface="Calibri (MS)"/>
                  <a:ea typeface="Calibri (MS)"/>
                  <a:cs typeface="Calibri (MS)"/>
                  <a:sym typeface="Calibri (MS)"/>
                </a:rPr>
                <a:t>books tested</a:t>
              </a:r>
            </a:p>
            <a:p>
              <a:pPr algn="ctr">
                <a:lnSpc>
                  <a:spcPts val="2400"/>
                </a:lnSpc>
              </a:pPr>
              <a:r>
                <a:rPr lang="en-US" sz="2000">
                  <a:solidFill>
                    <a:srgbClr val="BDBDBD"/>
                  </a:solidFill>
                  <a:latin typeface="Calibri (MS)"/>
                  <a:ea typeface="Calibri (MS)"/>
                  <a:cs typeface="Calibri (MS)"/>
                  <a:sym typeface="Calibri (MS)"/>
                </a:rPr>
                <a:t>in evaluation</a:t>
              </a:r>
            </a:p>
          </p:txBody>
        </p:sp>
      </p:grpSp>
      <p:grpSp>
        <p:nvGrpSpPr>
          <p:cNvPr name="Group 43" id="43"/>
          <p:cNvGrpSpPr/>
          <p:nvPr/>
        </p:nvGrpSpPr>
        <p:grpSpPr>
          <a:xfrm rot="0">
            <a:off x="1097280" y="8668512"/>
            <a:ext cx="16093440" cy="548640"/>
            <a:chOff x="0" y="0"/>
            <a:chExt cx="21457920" cy="731520"/>
          </a:xfrm>
        </p:grpSpPr>
        <p:sp>
          <p:nvSpPr>
            <p:cNvPr name="Freeform 44" id="44"/>
            <p:cNvSpPr/>
            <p:nvPr/>
          </p:nvSpPr>
          <p:spPr>
            <a:xfrm flipH="false" flipV="false" rot="0">
              <a:off x="0" y="0"/>
              <a:ext cx="21457920" cy="731520"/>
            </a:xfrm>
            <a:custGeom>
              <a:avLst/>
              <a:gdLst/>
              <a:ahLst/>
              <a:cxnLst/>
              <a:rect r="r" b="b" t="t" l="l"/>
              <a:pathLst>
                <a:path h="731520" w="21457920">
                  <a:moveTo>
                    <a:pt x="0" y="0"/>
                  </a:moveTo>
                  <a:lnTo>
                    <a:pt x="21457920" y="0"/>
                  </a:lnTo>
                  <a:lnTo>
                    <a:pt x="21457920" y="731520"/>
                  </a:lnTo>
                  <a:lnTo>
                    <a:pt x="0" y="731520"/>
                  </a:lnTo>
                  <a:close/>
                </a:path>
              </a:pathLst>
            </a:custGeom>
            <a:blipFill>
              <a:blip r:embed="rId2">
                <a:alphaModFix amt="0"/>
              </a:blip>
              <a:stretch>
                <a:fillRect l="0" t="-521561" r="0" b="-521561"/>
              </a:stretch>
            </a:blipFill>
          </p:spPr>
        </p:sp>
        <p:sp>
          <p:nvSpPr>
            <p:cNvPr name="TextBox 45" id="45"/>
            <p:cNvSpPr txBox="true"/>
            <p:nvPr/>
          </p:nvSpPr>
          <p:spPr>
            <a:xfrm>
              <a:off x="0" y="-38100"/>
              <a:ext cx="21457920" cy="769620"/>
            </a:xfrm>
            <a:prstGeom prst="rect">
              <a:avLst/>
            </a:prstGeom>
          </p:spPr>
          <p:txBody>
            <a:bodyPr anchor="ctr" rtlCol="false" tIns="0" lIns="0" bIns="0" rIns="0"/>
            <a:lstStyle/>
            <a:p>
              <a:pPr algn="ctr">
                <a:lnSpc>
                  <a:spcPts val="2879"/>
                </a:lnSpc>
              </a:pPr>
              <a:r>
                <a:rPr lang="en-US" sz="2400" i="true">
                  <a:solidFill>
                    <a:srgbClr val="BDBDBD"/>
                  </a:solidFill>
                  <a:latin typeface="Calibri (MS) Italics"/>
                  <a:ea typeface="Calibri (MS) Italics"/>
                  <a:cs typeface="Calibri (MS) Italics"/>
                  <a:sym typeface="Calibri (MS) Italics"/>
                </a:rPr>
                <a:t>Questions? We're happy to walk through any part of the system in detail.</a:t>
              </a:r>
            </a:p>
          </p:txBody>
        </p:sp>
      </p:grpSp>
      <p:grpSp>
        <p:nvGrpSpPr>
          <p:cNvPr name="Group 46" id="46"/>
          <p:cNvGrpSpPr/>
          <p:nvPr/>
        </p:nvGrpSpPr>
        <p:grpSpPr>
          <a:xfrm rot="0">
            <a:off x="1097280" y="9326880"/>
            <a:ext cx="16093440" cy="457200"/>
            <a:chOff x="0" y="0"/>
            <a:chExt cx="21457920" cy="609600"/>
          </a:xfrm>
        </p:grpSpPr>
        <p:sp>
          <p:nvSpPr>
            <p:cNvPr name="Freeform 47" id="47"/>
            <p:cNvSpPr/>
            <p:nvPr/>
          </p:nvSpPr>
          <p:spPr>
            <a:xfrm flipH="false" flipV="false" rot="0">
              <a:off x="0" y="0"/>
              <a:ext cx="21457920" cy="609600"/>
            </a:xfrm>
            <a:custGeom>
              <a:avLst/>
              <a:gdLst/>
              <a:ahLst/>
              <a:cxnLst/>
              <a:rect r="r" b="b" t="t" l="l"/>
              <a:pathLst>
                <a:path h="609600" w="21457920">
                  <a:moveTo>
                    <a:pt x="0" y="0"/>
                  </a:moveTo>
                  <a:lnTo>
                    <a:pt x="21457920" y="0"/>
                  </a:lnTo>
                  <a:lnTo>
                    <a:pt x="21457920" y="609600"/>
                  </a:lnTo>
                  <a:lnTo>
                    <a:pt x="0" y="609600"/>
                  </a:lnTo>
                  <a:close/>
                </a:path>
              </a:pathLst>
            </a:custGeom>
            <a:blipFill>
              <a:blip r:embed="rId2">
                <a:alphaModFix amt="0"/>
              </a:blip>
              <a:stretch>
                <a:fillRect l="0" t="-635873" r="0" b="-635873"/>
              </a:stretch>
            </a:blipFill>
          </p:spPr>
        </p:sp>
        <p:sp>
          <p:nvSpPr>
            <p:cNvPr name="TextBox 48" id="48"/>
            <p:cNvSpPr txBox="true"/>
            <p:nvPr/>
          </p:nvSpPr>
          <p:spPr>
            <a:xfrm>
              <a:off x="0" y="-38100"/>
              <a:ext cx="21457920" cy="647700"/>
            </a:xfrm>
            <a:prstGeom prst="rect">
              <a:avLst/>
            </a:prstGeom>
          </p:spPr>
          <p:txBody>
            <a:bodyPr anchor="ctr" rtlCol="false" tIns="0" lIns="0" bIns="0" rIns="0"/>
            <a:lstStyle/>
            <a:p>
              <a:pPr algn="ctr">
                <a:lnSpc>
                  <a:spcPts val="2400"/>
                </a:lnSpc>
              </a:pPr>
              <a:r>
                <a:rPr lang="en-US" sz="2000">
                  <a:solidFill>
                    <a:srgbClr val="A0A0A0"/>
                  </a:solidFill>
                  <a:latin typeface="Calibri (MS)"/>
                  <a:ea typeface="Calibri (MS)"/>
                  <a:cs typeface="Calibri (MS)"/>
                  <a:sym typeface="Calibri (MS)"/>
                </a:rPr>
                <a:t>Dr. Sreemoyee Biswas  |  Computer Science &amp; Engineering  |  2024–25</a:t>
              </a:r>
            </a:p>
          </p:txBody>
        </p:sp>
      </p:grpSp>
      <p:sp>
        <p:nvSpPr>
          <p:cNvPr name="TextBox 49" id="49"/>
          <p:cNvSpPr txBox="true"/>
          <p:nvPr/>
        </p:nvSpPr>
        <p:spPr>
          <a:xfrm rot="0">
            <a:off x="17465040" y="9801225"/>
            <a:ext cx="1417120" cy="537134"/>
          </a:xfrm>
          <a:prstGeom prst="rect">
            <a:avLst/>
          </a:prstGeom>
        </p:spPr>
        <p:txBody>
          <a:bodyPr anchor="t" rtlCol="false" tIns="0" lIns="0" bIns="0" rIns="0">
            <a:spAutoFit/>
          </a:bodyPr>
          <a:lstStyle/>
          <a:p>
            <a:pPr algn="l">
              <a:lnSpc>
                <a:spcPts val="1919"/>
              </a:lnSpc>
            </a:pPr>
            <a:r>
              <a:rPr lang="en-US" sz="1599">
                <a:solidFill>
                  <a:srgbClr val="A0A0A0"/>
                </a:solidFill>
                <a:latin typeface="Calibri (MS)"/>
                <a:ea typeface="Calibri (MS)"/>
                <a:cs typeface="Calibri (MS)"/>
                <a:sym typeface="Calibri (M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DAHZUXTETCY</dc:identifier>
  <dcterms:modified xsi:type="dcterms:W3CDTF">2011-08-01T06:04:30Z</dcterms:modified>
  <cp:revision>1</cp:revision>
  <dc:title>LITMIND.ppt.pptx</dc:title>
</cp:coreProperties>
</file>